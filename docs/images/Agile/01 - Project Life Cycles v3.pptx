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  <p:sldMasterId id="2147483652" r:id="rId2"/>
  </p:sldMasterIdLst>
  <p:notesMasterIdLst>
    <p:notesMasterId r:id="rId51"/>
  </p:notesMasterIdLst>
  <p:handoutMasterIdLst>
    <p:handoutMasterId r:id="rId52"/>
  </p:handoutMasterIdLst>
  <p:sldIdLst>
    <p:sldId id="256" r:id="rId3"/>
    <p:sldId id="368" r:id="rId4"/>
    <p:sldId id="259" r:id="rId5"/>
    <p:sldId id="260" r:id="rId6"/>
    <p:sldId id="261" r:id="rId7"/>
    <p:sldId id="378" r:id="rId8"/>
    <p:sldId id="263" r:id="rId9"/>
    <p:sldId id="264" r:id="rId10"/>
    <p:sldId id="265" r:id="rId11"/>
    <p:sldId id="357" r:id="rId12"/>
    <p:sldId id="356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388" r:id="rId25"/>
    <p:sldId id="389" r:id="rId26"/>
    <p:sldId id="382" r:id="rId27"/>
    <p:sldId id="278" r:id="rId28"/>
    <p:sldId id="383" r:id="rId29"/>
    <p:sldId id="280" r:id="rId30"/>
    <p:sldId id="384" r:id="rId31"/>
    <p:sldId id="374" r:id="rId32"/>
    <p:sldId id="319" r:id="rId33"/>
    <p:sldId id="320" r:id="rId34"/>
    <p:sldId id="385" r:id="rId35"/>
    <p:sldId id="375" r:id="rId36"/>
    <p:sldId id="327" r:id="rId37"/>
    <p:sldId id="330" r:id="rId38"/>
    <p:sldId id="333" r:id="rId39"/>
    <p:sldId id="334" r:id="rId40"/>
    <p:sldId id="339" r:id="rId41"/>
    <p:sldId id="345" r:id="rId42"/>
    <p:sldId id="354" r:id="rId43"/>
    <p:sldId id="376" r:id="rId44"/>
    <p:sldId id="377" r:id="rId45"/>
    <p:sldId id="352" r:id="rId46"/>
    <p:sldId id="353" r:id="rId47"/>
    <p:sldId id="386" r:id="rId48"/>
    <p:sldId id="387" r:id="rId49"/>
    <p:sldId id="372" r:id="rId5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38D0A7-9C6A-4530-89A2-D5A86AEAF76A}">
  <a:tblStyle styleId="{2D38D0A7-9C6A-4530-89A2-D5A86AEAF7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73" autoAdjust="0"/>
  </p:normalViewPr>
  <p:slideViewPr>
    <p:cSldViewPr snapToGrid="0">
      <p:cViewPr varScale="1">
        <p:scale>
          <a:sx n="111" d="100"/>
          <a:sy n="111" d="100"/>
        </p:scale>
        <p:origin x="102" y="6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9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77F83-48D6-4B57-AFE9-DB42DA315791}" type="doc">
      <dgm:prSet loTypeId="urn:microsoft.com/office/officeart/2005/8/layout/cycle6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95D2880-5AA9-422B-9AFD-6FB0D28F591A}">
      <dgm:prSet phldrT="[Text]" custT="1"/>
      <dgm:spPr/>
      <dgm:t>
        <a:bodyPr/>
        <a:lstStyle/>
        <a:p>
          <a:r>
            <a:rPr lang="en-US" sz="1800" dirty="0"/>
            <a:t>Behavioural</a:t>
          </a:r>
          <a:endParaRPr lang="en-US" sz="1200" dirty="0"/>
        </a:p>
      </dgm:t>
    </dgm:pt>
    <dgm:pt modelId="{6D5E6A2E-3123-4707-B510-4286EF5BC8CB}" type="parTrans" cxnId="{7FDC0CF8-B3F5-461A-BB0A-B6C746FA788E}">
      <dgm:prSet/>
      <dgm:spPr/>
      <dgm:t>
        <a:bodyPr/>
        <a:lstStyle/>
        <a:p>
          <a:endParaRPr lang="en-US"/>
        </a:p>
      </dgm:t>
    </dgm:pt>
    <dgm:pt modelId="{40C6DFB3-6C2D-4590-A41C-61C82017E560}" type="sibTrans" cxnId="{7FDC0CF8-B3F5-461A-BB0A-B6C746FA788E}">
      <dgm:prSet/>
      <dgm:spPr/>
      <dgm:t>
        <a:bodyPr/>
        <a:lstStyle/>
        <a:p>
          <a:endParaRPr lang="en-US"/>
        </a:p>
      </dgm:t>
    </dgm:pt>
    <dgm:pt modelId="{0235CC9A-D074-4498-B1B0-AC6B4DC6A2DA}">
      <dgm:prSet phldrT="[Text]" custT="1"/>
      <dgm:spPr/>
      <dgm:t>
        <a:bodyPr/>
        <a:lstStyle/>
        <a:p>
          <a:r>
            <a:rPr lang="en-US" sz="1600" dirty="0"/>
            <a:t>Functional</a:t>
          </a:r>
          <a:endParaRPr lang="en-US" sz="1000" dirty="0"/>
        </a:p>
      </dgm:t>
    </dgm:pt>
    <dgm:pt modelId="{C1D686A8-389D-4592-AEE8-6733C7CD2B5B}" type="parTrans" cxnId="{97EEAF7D-9327-4BD0-A1C3-6F244E78C919}">
      <dgm:prSet/>
      <dgm:spPr/>
      <dgm:t>
        <a:bodyPr/>
        <a:lstStyle/>
        <a:p>
          <a:endParaRPr lang="en-US"/>
        </a:p>
      </dgm:t>
    </dgm:pt>
    <dgm:pt modelId="{F2714E4F-BF12-45C4-986F-B242BD0DA266}" type="sibTrans" cxnId="{97EEAF7D-9327-4BD0-A1C3-6F244E78C919}">
      <dgm:prSet/>
      <dgm:spPr/>
      <dgm:t>
        <a:bodyPr/>
        <a:lstStyle/>
        <a:p>
          <a:endParaRPr lang="en-US"/>
        </a:p>
      </dgm:t>
    </dgm:pt>
    <dgm:pt modelId="{7C61292A-543F-450C-9E01-E69EC983440A}">
      <dgm:prSet phldrT="[Text]" custT="1"/>
      <dgm:spPr/>
      <dgm:t>
        <a:bodyPr/>
        <a:lstStyle/>
        <a:p>
          <a:r>
            <a:rPr lang="en-US" sz="1600" dirty="0"/>
            <a:t>Customer</a:t>
          </a:r>
          <a:endParaRPr lang="en-US" sz="1000" dirty="0"/>
        </a:p>
      </dgm:t>
    </dgm:pt>
    <dgm:pt modelId="{EF5B57BA-6604-4BC3-969F-14356396724D}" type="parTrans" cxnId="{C479A058-1687-49AB-880D-CAD4C57BFE35}">
      <dgm:prSet/>
      <dgm:spPr/>
      <dgm:t>
        <a:bodyPr/>
        <a:lstStyle/>
        <a:p>
          <a:endParaRPr lang="en-US"/>
        </a:p>
      </dgm:t>
    </dgm:pt>
    <dgm:pt modelId="{72C435C8-9DB8-416E-A2B9-AC2E43348F37}" type="sibTrans" cxnId="{C479A058-1687-49AB-880D-CAD4C57BFE35}">
      <dgm:prSet/>
      <dgm:spPr/>
      <dgm:t>
        <a:bodyPr/>
        <a:lstStyle/>
        <a:p>
          <a:endParaRPr lang="en-US"/>
        </a:p>
      </dgm:t>
    </dgm:pt>
    <dgm:pt modelId="{E4948194-8E88-4CFF-BA98-0BF13AF2DB9E}">
      <dgm:prSet phldrT="[Text]" custT="1"/>
      <dgm:spPr/>
      <dgm:t>
        <a:bodyPr/>
        <a:lstStyle/>
        <a:p>
          <a:r>
            <a:rPr lang="en-US" sz="1600" dirty="0"/>
            <a:t>Structural</a:t>
          </a:r>
          <a:endParaRPr lang="en-US" sz="1000" dirty="0"/>
        </a:p>
      </dgm:t>
    </dgm:pt>
    <dgm:pt modelId="{DBF8ED0D-A20E-469F-802A-2A12C5769FD9}" type="parTrans" cxnId="{3EAFBC5D-7895-49E2-A3FD-6F7148CE8132}">
      <dgm:prSet/>
      <dgm:spPr/>
      <dgm:t>
        <a:bodyPr/>
        <a:lstStyle/>
        <a:p>
          <a:endParaRPr lang="en-US"/>
        </a:p>
      </dgm:t>
    </dgm:pt>
    <dgm:pt modelId="{F7DBE8CF-6FD7-4C33-95C6-55ED14DEBF4A}" type="sibTrans" cxnId="{3EAFBC5D-7895-49E2-A3FD-6F7148CE8132}">
      <dgm:prSet/>
      <dgm:spPr/>
      <dgm:t>
        <a:bodyPr/>
        <a:lstStyle/>
        <a:p>
          <a:endParaRPr lang="en-US"/>
        </a:p>
      </dgm:t>
    </dgm:pt>
    <dgm:pt modelId="{BCDF98E2-F2B2-4809-8B84-18059F451840}">
      <dgm:prSet custT="1"/>
      <dgm:spPr/>
      <dgm:t>
        <a:bodyPr/>
        <a:lstStyle/>
        <a:p>
          <a:r>
            <a:rPr lang="en-US" sz="1600" dirty="0"/>
            <a:t>Design</a:t>
          </a:r>
          <a:endParaRPr lang="en-US" sz="1100" dirty="0"/>
        </a:p>
      </dgm:t>
    </dgm:pt>
    <dgm:pt modelId="{024BF7FB-F90E-4EDD-886F-291ABE6FE491}" type="sibTrans" cxnId="{457D1D30-DA59-4DC5-8FC7-8D86782C095E}">
      <dgm:prSet/>
      <dgm:spPr/>
      <dgm:t>
        <a:bodyPr/>
        <a:lstStyle/>
        <a:p>
          <a:endParaRPr lang="en-US"/>
        </a:p>
      </dgm:t>
    </dgm:pt>
    <dgm:pt modelId="{DCBC4FB0-1CA5-4AF9-A39C-80EF5CABB086}" type="parTrans" cxnId="{457D1D30-DA59-4DC5-8FC7-8D86782C095E}">
      <dgm:prSet/>
      <dgm:spPr/>
      <dgm:t>
        <a:bodyPr/>
        <a:lstStyle/>
        <a:p>
          <a:endParaRPr lang="en-US"/>
        </a:p>
      </dgm:t>
    </dgm:pt>
    <dgm:pt modelId="{95CCB01E-4380-49E2-98C8-2D6EFBC52981}">
      <dgm:prSet phldrT="[Text]" custT="1"/>
      <dgm:spPr/>
      <dgm:t>
        <a:bodyPr/>
        <a:lstStyle/>
        <a:p>
          <a:r>
            <a:rPr lang="en-US" sz="1600" dirty="0"/>
            <a:t>Architectural</a:t>
          </a:r>
          <a:endParaRPr lang="en-US" sz="1100" dirty="0"/>
        </a:p>
      </dgm:t>
    </dgm:pt>
    <dgm:pt modelId="{8E7B9CD3-5448-4BA3-B0A4-183624B7994E}" type="parTrans" cxnId="{CFBB6F79-B82E-4164-A9F7-3584E14F9BDF}">
      <dgm:prSet/>
      <dgm:spPr/>
      <dgm:t>
        <a:bodyPr/>
        <a:lstStyle/>
        <a:p>
          <a:endParaRPr lang="en-US"/>
        </a:p>
      </dgm:t>
    </dgm:pt>
    <dgm:pt modelId="{F2486C53-661E-45E4-98AA-634C72FFD892}" type="sibTrans" cxnId="{CFBB6F79-B82E-4164-A9F7-3584E14F9BDF}">
      <dgm:prSet/>
      <dgm:spPr/>
      <dgm:t>
        <a:bodyPr/>
        <a:lstStyle/>
        <a:p>
          <a:endParaRPr lang="en-US"/>
        </a:p>
      </dgm:t>
    </dgm:pt>
    <dgm:pt modelId="{348D6CC4-A125-40BA-BEAD-4628DE9A952B}">
      <dgm:prSet custT="1"/>
      <dgm:spPr/>
      <dgm:t>
        <a:bodyPr/>
        <a:lstStyle/>
        <a:p>
          <a:r>
            <a:rPr lang="en-US" sz="1600" dirty="0"/>
            <a:t>Performance</a:t>
          </a:r>
          <a:endParaRPr lang="en-US" sz="1000" dirty="0"/>
        </a:p>
      </dgm:t>
    </dgm:pt>
    <dgm:pt modelId="{10D324BA-D2BF-42CE-8686-E560E699629E}" type="parTrans" cxnId="{6DEEA477-D318-45E7-B17F-6A2743D773EB}">
      <dgm:prSet/>
      <dgm:spPr/>
      <dgm:t>
        <a:bodyPr/>
        <a:lstStyle/>
        <a:p>
          <a:endParaRPr lang="en-US"/>
        </a:p>
      </dgm:t>
    </dgm:pt>
    <dgm:pt modelId="{7DEB68EB-8C78-4441-836A-161A291A9D2F}" type="sibTrans" cxnId="{6DEEA477-D318-45E7-B17F-6A2743D773EB}">
      <dgm:prSet/>
      <dgm:spPr/>
      <dgm:t>
        <a:bodyPr/>
        <a:lstStyle/>
        <a:p>
          <a:endParaRPr lang="en-US"/>
        </a:p>
      </dgm:t>
    </dgm:pt>
    <dgm:pt modelId="{782E1DC5-A588-4811-851B-D0A021B58FCF}">
      <dgm:prSet custT="1"/>
      <dgm:spPr/>
      <dgm:t>
        <a:bodyPr/>
        <a:lstStyle/>
        <a:p>
          <a:r>
            <a:rPr lang="en-US" sz="1600" dirty="0"/>
            <a:t>Derived</a:t>
          </a:r>
          <a:endParaRPr lang="en-US" sz="1100" dirty="0"/>
        </a:p>
      </dgm:t>
    </dgm:pt>
    <dgm:pt modelId="{67559B5F-5418-40A8-9BC3-16CB22F6528A}" type="parTrans" cxnId="{DD676ADA-798B-4B9A-9B9F-F508C55B671E}">
      <dgm:prSet/>
      <dgm:spPr/>
      <dgm:t>
        <a:bodyPr/>
        <a:lstStyle/>
        <a:p>
          <a:endParaRPr lang="en-US"/>
        </a:p>
      </dgm:t>
    </dgm:pt>
    <dgm:pt modelId="{8EF98E53-1588-4CF9-A111-FE9BDE1E083D}" type="sibTrans" cxnId="{DD676ADA-798B-4B9A-9B9F-F508C55B671E}">
      <dgm:prSet/>
      <dgm:spPr/>
      <dgm:t>
        <a:bodyPr/>
        <a:lstStyle/>
        <a:p>
          <a:endParaRPr lang="en-US"/>
        </a:p>
      </dgm:t>
    </dgm:pt>
    <dgm:pt modelId="{F14928AE-512F-42F0-91A7-81D06BBD7E89}">
      <dgm:prSet custT="1"/>
      <dgm:spPr/>
      <dgm:t>
        <a:bodyPr/>
        <a:lstStyle/>
        <a:p>
          <a:r>
            <a:rPr lang="en-US" sz="1600" dirty="0"/>
            <a:t>Allocated</a:t>
          </a:r>
          <a:endParaRPr lang="en-US" sz="1100" dirty="0"/>
        </a:p>
      </dgm:t>
    </dgm:pt>
    <dgm:pt modelId="{CD291510-4454-4A0C-A2A6-005F6F4D8C35}" type="parTrans" cxnId="{96E05D14-17BA-40F9-AC42-DB05F2DF47F2}">
      <dgm:prSet/>
      <dgm:spPr/>
      <dgm:t>
        <a:bodyPr/>
        <a:lstStyle/>
        <a:p>
          <a:endParaRPr lang="en-US"/>
        </a:p>
      </dgm:t>
    </dgm:pt>
    <dgm:pt modelId="{AA837614-1D0C-43BA-8E58-52DD60C17A99}" type="sibTrans" cxnId="{96E05D14-17BA-40F9-AC42-DB05F2DF47F2}">
      <dgm:prSet/>
      <dgm:spPr/>
      <dgm:t>
        <a:bodyPr/>
        <a:lstStyle/>
        <a:p>
          <a:endParaRPr lang="en-US"/>
        </a:p>
      </dgm:t>
    </dgm:pt>
    <dgm:pt modelId="{A306DBC3-1285-4718-B796-A87CAD537E60}" type="pres">
      <dgm:prSet presAssocID="{6AF77F83-48D6-4B57-AFE9-DB42DA315791}" presName="cycle" presStyleCnt="0">
        <dgm:presLayoutVars>
          <dgm:dir/>
          <dgm:resizeHandles val="exact"/>
        </dgm:presLayoutVars>
      </dgm:prSet>
      <dgm:spPr/>
    </dgm:pt>
    <dgm:pt modelId="{43D48DC2-562E-4321-95F9-736E504E22C6}" type="pres">
      <dgm:prSet presAssocID="{7C61292A-543F-450C-9E01-E69EC983440A}" presName="node" presStyleLbl="node1" presStyleIdx="0" presStyleCnt="9" custScaleX="145599">
        <dgm:presLayoutVars>
          <dgm:bulletEnabled val="1"/>
        </dgm:presLayoutVars>
      </dgm:prSet>
      <dgm:spPr/>
    </dgm:pt>
    <dgm:pt modelId="{81212504-3632-4FB2-A598-1FD358B06DE8}" type="pres">
      <dgm:prSet presAssocID="{7C61292A-543F-450C-9E01-E69EC983440A}" presName="spNode" presStyleCnt="0"/>
      <dgm:spPr/>
    </dgm:pt>
    <dgm:pt modelId="{D9A9D2A7-3B58-4BEC-B83A-3D21E70AD92E}" type="pres">
      <dgm:prSet presAssocID="{72C435C8-9DB8-416E-A2B9-AC2E43348F37}" presName="sibTrans" presStyleLbl="sibTrans1D1" presStyleIdx="0" presStyleCnt="9"/>
      <dgm:spPr/>
    </dgm:pt>
    <dgm:pt modelId="{BB8B38D4-FDF1-40F5-9983-2311E1A51F12}" type="pres">
      <dgm:prSet presAssocID="{95CCB01E-4380-49E2-98C8-2D6EFBC52981}" presName="node" presStyleLbl="node1" presStyleIdx="1" presStyleCnt="9" custScaleX="163312" custRadScaleRad="101577" custRadScaleInc="32462">
        <dgm:presLayoutVars>
          <dgm:bulletEnabled val="1"/>
        </dgm:presLayoutVars>
      </dgm:prSet>
      <dgm:spPr/>
    </dgm:pt>
    <dgm:pt modelId="{89410B26-D5CF-45AB-9E59-42132B17EB72}" type="pres">
      <dgm:prSet presAssocID="{95CCB01E-4380-49E2-98C8-2D6EFBC52981}" presName="spNode" presStyleCnt="0"/>
      <dgm:spPr/>
    </dgm:pt>
    <dgm:pt modelId="{5C585C88-A9BA-4C8E-9045-9DE591CC4C09}" type="pres">
      <dgm:prSet presAssocID="{F2486C53-661E-45E4-98AA-634C72FFD892}" presName="sibTrans" presStyleLbl="sibTrans1D1" presStyleIdx="1" presStyleCnt="9"/>
      <dgm:spPr/>
    </dgm:pt>
    <dgm:pt modelId="{54168E26-1409-402E-AB16-EE2A53EFE106}" type="pres">
      <dgm:prSet presAssocID="{E4948194-8E88-4CFF-BA98-0BF13AF2DB9E}" presName="node" presStyleLbl="node1" presStyleIdx="2" presStyleCnt="9" custScaleX="167595">
        <dgm:presLayoutVars>
          <dgm:bulletEnabled val="1"/>
        </dgm:presLayoutVars>
      </dgm:prSet>
      <dgm:spPr/>
    </dgm:pt>
    <dgm:pt modelId="{495CF5C7-9459-4A8A-94C4-38300784BCDE}" type="pres">
      <dgm:prSet presAssocID="{E4948194-8E88-4CFF-BA98-0BF13AF2DB9E}" presName="spNode" presStyleCnt="0"/>
      <dgm:spPr/>
    </dgm:pt>
    <dgm:pt modelId="{279C2B8F-0645-40BB-9A27-1B1F27F2AF47}" type="pres">
      <dgm:prSet presAssocID="{F7DBE8CF-6FD7-4C33-95C6-55ED14DEBF4A}" presName="sibTrans" presStyleLbl="sibTrans1D1" presStyleIdx="2" presStyleCnt="9"/>
      <dgm:spPr/>
    </dgm:pt>
    <dgm:pt modelId="{55610930-89D4-4807-986A-39E6C9CD54FE}" type="pres">
      <dgm:prSet presAssocID="{895D2880-5AA9-422B-9AFD-6FB0D28F591A}" presName="node" presStyleLbl="node1" presStyleIdx="3" presStyleCnt="9" custScaleX="154086">
        <dgm:presLayoutVars>
          <dgm:bulletEnabled val="1"/>
        </dgm:presLayoutVars>
      </dgm:prSet>
      <dgm:spPr/>
    </dgm:pt>
    <dgm:pt modelId="{F5D0EB0F-F786-4141-A623-EB9ADF117A3B}" type="pres">
      <dgm:prSet presAssocID="{895D2880-5AA9-422B-9AFD-6FB0D28F591A}" presName="spNode" presStyleCnt="0"/>
      <dgm:spPr/>
    </dgm:pt>
    <dgm:pt modelId="{06FADD3D-FF02-4A3C-A4C6-B6A66298E42B}" type="pres">
      <dgm:prSet presAssocID="{40C6DFB3-6C2D-4590-A41C-61C82017E560}" presName="sibTrans" presStyleLbl="sibTrans1D1" presStyleIdx="3" presStyleCnt="9"/>
      <dgm:spPr/>
    </dgm:pt>
    <dgm:pt modelId="{C1FD213D-BF8B-48F5-8EF2-1874E69ED33F}" type="pres">
      <dgm:prSet presAssocID="{0235CC9A-D074-4498-B1B0-AC6B4DC6A2DA}" presName="node" presStyleLbl="node1" presStyleIdx="4" presStyleCnt="9" custScaleX="156294" custRadScaleRad="105714" custRadScaleInc="-40019">
        <dgm:presLayoutVars>
          <dgm:bulletEnabled val="1"/>
        </dgm:presLayoutVars>
      </dgm:prSet>
      <dgm:spPr/>
    </dgm:pt>
    <dgm:pt modelId="{97211AAA-5BB0-4D35-A5FB-A4A59029AE6E}" type="pres">
      <dgm:prSet presAssocID="{0235CC9A-D074-4498-B1B0-AC6B4DC6A2DA}" presName="spNode" presStyleCnt="0"/>
      <dgm:spPr/>
    </dgm:pt>
    <dgm:pt modelId="{8DCB2D6F-FD1D-47AD-B379-AEBB6776CA36}" type="pres">
      <dgm:prSet presAssocID="{F2714E4F-BF12-45C4-986F-B242BD0DA266}" presName="sibTrans" presStyleLbl="sibTrans1D1" presStyleIdx="4" presStyleCnt="9"/>
      <dgm:spPr/>
    </dgm:pt>
    <dgm:pt modelId="{7380AF48-4F8D-44A0-8F81-B6A5A48F1DE1}" type="pres">
      <dgm:prSet presAssocID="{348D6CC4-A125-40BA-BEAD-4628DE9A952B}" presName="node" presStyleLbl="node1" presStyleIdx="5" presStyleCnt="9" custScaleX="181228" custRadScaleRad="105189" custRadScaleInc="39253">
        <dgm:presLayoutVars>
          <dgm:bulletEnabled val="1"/>
        </dgm:presLayoutVars>
      </dgm:prSet>
      <dgm:spPr/>
    </dgm:pt>
    <dgm:pt modelId="{E683ACEE-281E-4C5E-8050-2F1CE9A88AB9}" type="pres">
      <dgm:prSet presAssocID="{348D6CC4-A125-40BA-BEAD-4628DE9A952B}" presName="spNode" presStyleCnt="0"/>
      <dgm:spPr/>
    </dgm:pt>
    <dgm:pt modelId="{2AAA9BE3-496B-4E6C-9CEE-6DFC2ED60549}" type="pres">
      <dgm:prSet presAssocID="{7DEB68EB-8C78-4441-836A-161A291A9D2F}" presName="sibTrans" presStyleLbl="sibTrans1D1" presStyleIdx="5" presStyleCnt="9"/>
      <dgm:spPr/>
    </dgm:pt>
    <dgm:pt modelId="{30B5B2E3-733C-4E27-A39E-1B22CC918841}" type="pres">
      <dgm:prSet presAssocID="{BCDF98E2-F2B2-4809-8B84-18059F451840}" presName="node" presStyleLbl="node1" presStyleIdx="6" presStyleCnt="9" custScaleX="149429">
        <dgm:presLayoutVars>
          <dgm:bulletEnabled val="1"/>
        </dgm:presLayoutVars>
      </dgm:prSet>
      <dgm:spPr/>
    </dgm:pt>
    <dgm:pt modelId="{60E9367E-2509-4C7A-97B5-126825E15ECE}" type="pres">
      <dgm:prSet presAssocID="{BCDF98E2-F2B2-4809-8B84-18059F451840}" presName="spNode" presStyleCnt="0"/>
      <dgm:spPr/>
    </dgm:pt>
    <dgm:pt modelId="{1E509519-CDB6-4A1F-B739-46D7413F5FA0}" type="pres">
      <dgm:prSet presAssocID="{024BF7FB-F90E-4EDD-886F-291ABE6FE491}" presName="sibTrans" presStyleLbl="sibTrans1D1" presStyleIdx="6" presStyleCnt="9"/>
      <dgm:spPr/>
    </dgm:pt>
    <dgm:pt modelId="{8B1B3D2D-9C7D-44E3-AFC4-A5F7B57CBFE4}" type="pres">
      <dgm:prSet presAssocID="{782E1DC5-A588-4811-851B-D0A021B58FCF}" presName="node" presStyleLbl="node1" presStyleIdx="7" presStyleCnt="9" custScaleX="147732">
        <dgm:presLayoutVars>
          <dgm:bulletEnabled val="1"/>
        </dgm:presLayoutVars>
      </dgm:prSet>
      <dgm:spPr/>
    </dgm:pt>
    <dgm:pt modelId="{A72A5549-DE89-4A35-9418-204BD78B5FBA}" type="pres">
      <dgm:prSet presAssocID="{782E1DC5-A588-4811-851B-D0A021B58FCF}" presName="spNode" presStyleCnt="0"/>
      <dgm:spPr/>
    </dgm:pt>
    <dgm:pt modelId="{35AAA4F4-D8B0-499A-A02A-80674D383A9B}" type="pres">
      <dgm:prSet presAssocID="{8EF98E53-1588-4CF9-A111-FE9BDE1E083D}" presName="sibTrans" presStyleLbl="sibTrans1D1" presStyleIdx="7" presStyleCnt="9"/>
      <dgm:spPr/>
    </dgm:pt>
    <dgm:pt modelId="{5EF73D62-5D70-4F07-AC1E-57EF0AB4CC03}" type="pres">
      <dgm:prSet presAssocID="{F14928AE-512F-42F0-91A7-81D06BBD7E89}" presName="node" presStyleLbl="node1" presStyleIdx="8" presStyleCnt="9" custScaleX="169042" custRadScaleRad="103244" custRadScaleInc="-34863">
        <dgm:presLayoutVars>
          <dgm:bulletEnabled val="1"/>
        </dgm:presLayoutVars>
      </dgm:prSet>
      <dgm:spPr/>
    </dgm:pt>
    <dgm:pt modelId="{ED6AB0E5-F440-4849-B1EF-F1CB91D959B0}" type="pres">
      <dgm:prSet presAssocID="{F14928AE-512F-42F0-91A7-81D06BBD7E89}" presName="spNode" presStyleCnt="0"/>
      <dgm:spPr/>
    </dgm:pt>
    <dgm:pt modelId="{10439DE7-A03D-4B36-A616-0A3F262748B9}" type="pres">
      <dgm:prSet presAssocID="{AA837614-1D0C-43BA-8E58-52DD60C17A99}" presName="sibTrans" presStyleLbl="sibTrans1D1" presStyleIdx="8" presStyleCnt="9"/>
      <dgm:spPr/>
    </dgm:pt>
  </dgm:ptLst>
  <dgm:cxnLst>
    <dgm:cxn modelId="{D2897E0A-6ED1-4A23-A5E2-F3B77AB55D18}" type="presOf" srcId="{F14928AE-512F-42F0-91A7-81D06BBD7E89}" destId="{5EF73D62-5D70-4F07-AC1E-57EF0AB4CC03}" srcOrd="0" destOrd="0" presId="urn:microsoft.com/office/officeart/2005/8/layout/cycle6"/>
    <dgm:cxn modelId="{FF3B210B-5563-457D-BEEE-E33568F514CA}" type="presOf" srcId="{782E1DC5-A588-4811-851B-D0A021B58FCF}" destId="{8B1B3D2D-9C7D-44E3-AFC4-A5F7B57CBFE4}" srcOrd="0" destOrd="0" presId="urn:microsoft.com/office/officeart/2005/8/layout/cycle6"/>
    <dgm:cxn modelId="{96E05D14-17BA-40F9-AC42-DB05F2DF47F2}" srcId="{6AF77F83-48D6-4B57-AFE9-DB42DA315791}" destId="{F14928AE-512F-42F0-91A7-81D06BBD7E89}" srcOrd="8" destOrd="0" parTransId="{CD291510-4454-4A0C-A2A6-005F6F4D8C35}" sibTransId="{AA837614-1D0C-43BA-8E58-52DD60C17A99}"/>
    <dgm:cxn modelId="{4B51DB2A-A5EF-4E42-9021-399C7DE9CDCB}" type="presOf" srcId="{F2486C53-661E-45E4-98AA-634C72FFD892}" destId="{5C585C88-A9BA-4C8E-9045-9DE591CC4C09}" srcOrd="0" destOrd="0" presId="urn:microsoft.com/office/officeart/2005/8/layout/cycle6"/>
    <dgm:cxn modelId="{457D1D30-DA59-4DC5-8FC7-8D86782C095E}" srcId="{6AF77F83-48D6-4B57-AFE9-DB42DA315791}" destId="{BCDF98E2-F2B2-4809-8B84-18059F451840}" srcOrd="6" destOrd="0" parTransId="{DCBC4FB0-1CA5-4AF9-A39C-80EF5CABB086}" sibTransId="{024BF7FB-F90E-4EDD-886F-291ABE6FE491}"/>
    <dgm:cxn modelId="{F727AF37-C0B1-4765-B215-7D1DE507C7C7}" type="presOf" srcId="{95CCB01E-4380-49E2-98C8-2D6EFBC52981}" destId="{BB8B38D4-FDF1-40F5-9983-2311E1A51F12}" srcOrd="0" destOrd="0" presId="urn:microsoft.com/office/officeart/2005/8/layout/cycle6"/>
    <dgm:cxn modelId="{BB8BEA3D-FD17-464D-9C51-79B54539734D}" type="presOf" srcId="{024BF7FB-F90E-4EDD-886F-291ABE6FE491}" destId="{1E509519-CDB6-4A1F-B739-46D7413F5FA0}" srcOrd="0" destOrd="0" presId="urn:microsoft.com/office/officeart/2005/8/layout/cycle6"/>
    <dgm:cxn modelId="{39EE535B-713A-4AD1-BB9A-D44796187498}" type="presOf" srcId="{7DEB68EB-8C78-4441-836A-161A291A9D2F}" destId="{2AAA9BE3-496B-4E6C-9CEE-6DFC2ED60549}" srcOrd="0" destOrd="0" presId="urn:microsoft.com/office/officeart/2005/8/layout/cycle6"/>
    <dgm:cxn modelId="{3EAFBC5D-7895-49E2-A3FD-6F7148CE8132}" srcId="{6AF77F83-48D6-4B57-AFE9-DB42DA315791}" destId="{E4948194-8E88-4CFF-BA98-0BF13AF2DB9E}" srcOrd="2" destOrd="0" parTransId="{DBF8ED0D-A20E-469F-802A-2A12C5769FD9}" sibTransId="{F7DBE8CF-6FD7-4C33-95C6-55ED14DEBF4A}"/>
    <dgm:cxn modelId="{7C785C63-0322-4994-BEAB-DA0E0FCACEE4}" type="presOf" srcId="{AA837614-1D0C-43BA-8E58-52DD60C17A99}" destId="{10439DE7-A03D-4B36-A616-0A3F262748B9}" srcOrd="0" destOrd="0" presId="urn:microsoft.com/office/officeart/2005/8/layout/cycle6"/>
    <dgm:cxn modelId="{B45A684E-D680-4E42-8AB9-83B6B14D3988}" type="presOf" srcId="{BCDF98E2-F2B2-4809-8B84-18059F451840}" destId="{30B5B2E3-733C-4E27-A39E-1B22CC918841}" srcOrd="0" destOrd="0" presId="urn:microsoft.com/office/officeart/2005/8/layout/cycle6"/>
    <dgm:cxn modelId="{F7DA0470-E948-493F-8CDA-792ED1BA8EBA}" type="presOf" srcId="{0235CC9A-D074-4498-B1B0-AC6B4DC6A2DA}" destId="{C1FD213D-BF8B-48F5-8EF2-1874E69ED33F}" srcOrd="0" destOrd="0" presId="urn:microsoft.com/office/officeart/2005/8/layout/cycle6"/>
    <dgm:cxn modelId="{9B30E376-7AC5-4E79-9512-94AE9F01A136}" type="presOf" srcId="{40C6DFB3-6C2D-4590-A41C-61C82017E560}" destId="{06FADD3D-FF02-4A3C-A4C6-B6A66298E42B}" srcOrd="0" destOrd="0" presId="urn:microsoft.com/office/officeart/2005/8/layout/cycle6"/>
    <dgm:cxn modelId="{6DEEA477-D318-45E7-B17F-6A2743D773EB}" srcId="{6AF77F83-48D6-4B57-AFE9-DB42DA315791}" destId="{348D6CC4-A125-40BA-BEAD-4628DE9A952B}" srcOrd="5" destOrd="0" parTransId="{10D324BA-D2BF-42CE-8686-E560E699629E}" sibTransId="{7DEB68EB-8C78-4441-836A-161A291A9D2F}"/>
    <dgm:cxn modelId="{C479A058-1687-49AB-880D-CAD4C57BFE35}" srcId="{6AF77F83-48D6-4B57-AFE9-DB42DA315791}" destId="{7C61292A-543F-450C-9E01-E69EC983440A}" srcOrd="0" destOrd="0" parTransId="{EF5B57BA-6604-4BC3-969F-14356396724D}" sibTransId="{72C435C8-9DB8-416E-A2B9-AC2E43348F37}"/>
    <dgm:cxn modelId="{CFBB6F79-B82E-4164-A9F7-3584E14F9BDF}" srcId="{6AF77F83-48D6-4B57-AFE9-DB42DA315791}" destId="{95CCB01E-4380-49E2-98C8-2D6EFBC52981}" srcOrd="1" destOrd="0" parTransId="{8E7B9CD3-5448-4BA3-B0A4-183624B7994E}" sibTransId="{F2486C53-661E-45E4-98AA-634C72FFD892}"/>
    <dgm:cxn modelId="{97EEAF7D-9327-4BD0-A1C3-6F244E78C919}" srcId="{6AF77F83-48D6-4B57-AFE9-DB42DA315791}" destId="{0235CC9A-D074-4498-B1B0-AC6B4DC6A2DA}" srcOrd="4" destOrd="0" parTransId="{C1D686A8-389D-4592-AEE8-6733C7CD2B5B}" sibTransId="{F2714E4F-BF12-45C4-986F-B242BD0DA266}"/>
    <dgm:cxn modelId="{7D3CBC7E-AFCB-4B81-8066-69712B2E3698}" type="presOf" srcId="{8EF98E53-1588-4CF9-A111-FE9BDE1E083D}" destId="{35AAA4F4-D8B0-499A-A02A-80674D383A9B}" srcOrd="0" destOrd="0" presId="urn:microsoft.com/office/officeart/2005/8/layout/cycle6"/>
    <dgm:cxn modelId="{6B59E18D-B840-460B-9895-20053E851E8F}" type="presOf" srcId="{895D2880-5AA9-422B-9AFD-6FB0D28F591A}" destId="{55610930-89D4-4807-986A-39E6C9CD54FE}" srcOrd="0" destOrd="0" presId="urn:microsoft.com/office/officeart/2005/8/layout/cycle6"/>
    <dgm:cxn modelId="{37C84D91-7B95-481F-8112-F06E982A7B23}" type="presOf" srcId="{7C61292A-543F-450C-9E01-E69EC983440A}" destId="{43D48DC2-562E-4321-95F9-736E504E22C6}" srcOrd="0" destOrd="0" presId="urn:microsoft.com/office/officeart/2005/8/layout/cycle6"/>
    <dgm:cxn modelId="{EE5A9494-2D11-4BE7-8893-D476911BAB2E}" type="presOf" srcId="{E4948194-8E88-4CFF-BA98-0BF13AF2DB9E}" destId="{54168E26-1409-402E-AB16-EE2A53EFE106}" srcOrd="0" destOrd="0" presId="urn:microsoft.com/office/officeart/2005/8/layout/cycle6"/>
    <dgm:cxn modelId="{C87F5097-55E9-41FF-9B9B-666C86699D9A}" type="presOf" srcId="{348D6CC4-A125-40BA-BEAD-4628DE9A952B}" destId="{7380AF48-4F8D-44A0-8F81-B6A5A48F1DE1}" srcOrd="0" destOrd="0" presId="urn:microsoft.com/office/officeart/2005/8/layout/cycle6"/>
    <dgm:cxn modelId="{0CA585AC-051A-4624-AA83-667FBA2C9677}" type="presOf" srcId="{72C435C8-9DB8-416E-A2B9-AC2E43348F37}" destId="{D9A9D2A7-3B58-4BEC-B83A-3D21E70AD92E}" srcOrd="0" destOrd="0" presId="urn:microsoft.com/office/officeart/2005/8/layout/cycle6"/>
    <dgm:cxn modelId="{069824BA-3E01-4FBE-811D-CAFADF332570}" type="presOf" srcId="{6AF77F83-48D6-4B57-AFE9-DB42DA315791}" destId="{A306DBC3-1285-4718-B796-A87CAD537E60}" srcOrd="0" destOrd="0" presId="urn:microsoft.com/office/officeart/2005/8/layout/cycle6"/>
    <dgm:cxn modelId="{78280EC2-1596-4B52-ADEE-C210F050E398}" type="presOf" srcId="{F7DBE8CF-6FD7-4C33-95C6-55ED14DEBF4A}" destId="{279C2B8F-0645-40BB-9A27-1B1F27F2AF47}" srcOrd="0" destOrd="0" presId="urn:microsoft.com/office/officeart/2005/8/layout/cycle6"/>
    <dgm:cxn modelId="{DD676ADA-798B-4B9A-9B9F-F508C55B671E}" srcId="{6AF77F83-48D6-4B57-AFE9-DB42DA315791}" destId="{782E1DC5-A588-4811-851B-D0A021B58FCF}" srcOrd="7" destOrd="0" parTransId="{67559B5F-5418-40A8-9BC3-16CB22F6528A}" sibTransId="{8EF98E53-1588-4CF9-A111-FE9BDE1E083D}"/>
    <dgm:cxn modelId="{7FDC0CF8-B3F5-461A-BB0A-B6C746FA788E}" srcId="{6AF77F83-48D6-4B57-AFE9-DB42DA315791}" destId="{895D2880-5AA9-422B-9AFD-6FB0D28F591A}" srcOrd="3" destOrd="0" parTransId="{6D5E6A2E-3123-4707-B510-4286EF5BC8CB}" sibTransId="{40C6DFB3-6C2D-4590-A41C-61C82017E560}"/>
    <dgm:cxn modelId="{15E782FC-4405-4623-80C6-38ED0DCC968C}" type="presOf" srcId="{F2714E4F-BF12-45C4-986F-B242BD0DA266}" destId="{8DCB2D6F-FD1D-47AD-B379-AEBB6776CA36}" srcOrd="0" destOrd="0" presId="urn:microsoft.com/office/officeart/2005/8/layout/cycle6"/>
    <dgm:cxn modelId="{966BE6B1-677B-4838-B144-7FD26BC6DB5B}" type="presParOf" srcId="{A306DBC3-1285-4718-B796-A87CAD537E60}" destId="{43D48DC2-562E-4321-95F9-736E504E22C6}" srcOrd="0" destOrd="0" presId="urn:microsoft.com/office/officeart/2005/8/layout/cycle6"/>
    <dgm:cxn modelId="{C6D9D642-ECF8-4529-B674-758EA4BC691A}" type="presParOf" srcId="{A306DBC3-1285-4718-B796-A87CAD537E60}" destId="{81212504-3632-4FB2-A598-1FD358B06DE8}" srcOrd="1" destOrd="0" presId="urn:microsoft.com/office/officeart/2005/8/layout/cycle6"/>
    <dgm:cxn modelId="{B357C67F-A169-4ADF-8DD0-7BA759E2A749}" type="presParOf" srcId="{A306DBC3-1285-4718-B796-A87CAD537E60}" destId="{D9A9D2A7-3B58-4BEC-B83A-3D21E70AD92E}" srcOrd="2" destOrd="0" presId="urn:microsoft.com/office/officeart/2005/8/layout/cycle6"/>
    <dgm:cxn modelId="{E8E23319-8155-432E-8A0A-53D10F7E1AC6}" type="presParOf" srcId="{A306DBC3-1285-4718-B796-A87CAD537E60}" destId="{BB8B38D4-FDF1-40F5-9983-2311E1A51F12}" srcOrd="3" destOrd="0" presId="urn:microsoft.com/office/officeart/2005/8/layout/cycle6"/>
    <dgm:cxn modelId="{0E4B305C-9413-43D4-AA9A-0CA53CA43F2E}" type="presParOf" srcId="{A306DBC3-1285-4718-B796-A87CAD537E60}" destId="{89410B26-D5CF-45AB-9E59-42132B17EB72}" srcOrd="4" destOrd="0" presId="urn:microsoft.com/office/officeart/2005/8/layout/cycle6"/>
    <dgm:cxn modelId="{6D97935E-7751-4A4A-8887-86603799A9FB}" type="presParOf" srcId="{A306DBC3-1285-4718-B796-A87CAD537E60}" destId="{5C585C88-A9BA-4C8E-9045-9DE591CC4C09}" srcOrd="5" destOrd="0" presId="urn:microsoft.com/office/officeart/2005/8/layout/cycle6"/>
    <dgm:cxn modelId="{AC8A1649-FDF2-4BB0-A6CE-39B36D8D7A95}" type="presParOf" srcId="{A306DBC3-1285-4718-B796-A87CAD537E60}" destId="{54168E26-1409-402E-AB16-EE2A53EFE106}" srcOrd="6" destOrd="0" presId="urn:microsoft.com/office/officeart/2005/8/layout/cycle6"/>
    <dgm:cxn modelId="{89329479-7201-495A-B3FA-B3D92BB739A6}" type="presParOf" srcId="{A306DBC3-1285-4718-B796-A87CAD537E60}" destId="{495CF5C7-9459-4A8A-94C4-38300784BCDE}" srcOrd="7" destOrd="0" presId="urn:microsoft.com/office/officeart/2005/8/layout/cycle6"/>
    <dgm:cxn modelId="{08F463D5-94E2-4B6C-ABBF-49F6216C373B}" type="presParOf" srcId="{A306DBC3-1285-4718-B796-A87CAD537E60}" destId="{279C2B8F-0645-40BB-9A27-1B1F27F2AF47}" srcOrd="8" destOrd="0" presId="urn:microsoft.com/office/officeart/2005/8/layout/cycle6"/>
    <dgm:cxn modelId="{40B7AB36-6986-4A89-A088-67D4509EBB39}" type="presParOf" srcId="{A306DBC3-1285-4718-B796-A87CAD537E60}" destId="{55610930-89D4-4807-986A-39E6C9CD54FE}" srcOrd="9" destOrd="0" presId="urn:microsoft.com/office/officeart/2005/8/layout/cycle6"/>
    <dgm:cxn modelId="{B41931E3-CB93-49A8-B0D1-BF8F5B1F539E}" type="presParOf" srcId="{A306DBC3-1285-4718-B796-A87CAD537E60}" destId="{F5D0EB0F-F786-4141-A623-EB9ADF117A3B}" srcOrd="10" destOrd="0" presId="urn:microsoft.com/office/officeart/2005/8/layout/cycle6"/>
    <dgm:cxn modelId="{9DAEC07B-D10A-4933-9649-33F17D08C425}" type="presParOf" srcId="{A306DBC3-1285-4718-B796-A87CAD537E60}" destId="{06FADD3D-FF02-4A3C-A4C6-B6A66298E42B}" srcOrd="11" destOrd="0" presId="urn:microsoft.com/office/officeart/2005/8/layout/cycle6"/>
    <dgm:cxn modelId="{38610254-6417-42A8-BFF6-F09178DD0EDF}" type="presParOf" srcId="{A306DBC3-1285-4718-B796-A87CAD537E60}" destId="{C1FD213D-BF8B-48F5-8EF2-1874E69ED33F}" srcOrd="12" destOrd="0" presId="urn:microsoft.com/office/officeart/2005/8/layout/cycle6"/>
    <dgm:cxn modelId="{E2450DE4-82E9-4740-A95A-2AAAB691A48F}" type="presParOf" srcId="{A306DBC3-1285-4718-B796-A87CAD537E60}" destId="{97211AAA-5BB0-4D35-A5FB-A4A59029AE6E}" srcOrd="13" destOrd="0" presId="urn:microsoft.com/office/officeart/2005/8/layout/cycle6"/>
    <dgm:cxn modelId="{537C582C-9FFE-4DDD-8DBB-4ECE72F44B2F}" type="presParOf" srcId="{A306DBC3-1285-4718-B796-A87CAD537E60}" destId="{8DCB2D6F-FD1D-47AD-B379-AEBB6776CA36}" srcOrd="14" destOrd="0" presId="urn:microsoft.com/office/officeart/2005/8/layout/cycle6"/>
    <dgm:cxn modelId="{19A5F923-F47C-4F22-B268-02B1F2BF1FFE}" type="presParOf" srcId="{A306DBC3-1285-4718-B796-A87CAD537E60}" destId="{7380AF48-4F8D-44A0-8F81-B6A5A48F1DE1}" srcOrd="15" destOrd="0" presId="urn:microsoft.com/office/officeart/2005/8/layout/cycle6"/>
    <dgm:cxn modelId="{BC473C50-7C3F-480E-A422-6161F5CA1EAB}" type="presParOf" srcId="{A306DBC3-1285-4718-B796-A87CAD537E60}" destId="{E683ACEE-281E-4C5E-8050-2F1CE9A88AB9}" srcOrd="16" destOrd="0" presId="urn:microsoft.com/office/officeart/2005/8/layout/cycle6"/>
    <dgm:cxn modelId="{2C02F499-0C69-4F97-8C39-6B58EA9B7E8D}" type="presParOf" srcId="{A306DBC3-1285-4718-B796-A87CAD537E60}" destId="{2AAA9BE3-496B-4E6C-9CEE-6DFC2ED60549}" srcOrd="17" destOrd="0" presId="urn:microsoft.com/office/officeart/2005/8/layout/cycle6"/>
    <dgm:cxn modelId="{5385CD2D-1079-4004-A863-CFAB684BF030}" type="presParOf" srcId="{A306DBC3-1285-4718-B796-A87CAD537E60}" destId="{30B5B2E3-733C-4E27-A39E-1B22CC918841}" srcOrd="18" destOrd="0" presId="urn:microsoft.com/office/officeart/2005/8/layout/cycle6"/>
    <dgm:cxn modelId="{B8F17C0B-2A54-4842-AEC5-0AC5E87209EF}" type="presParOf" srcId="{A306DBC3-1285-4718-B796-A87CAD537E60}" destId="{60E9367E-2509-4C7A-97B5-126825E15ECE}" srcOrd="19" destOrd="0" presId="urn:microsoft.com/office/officeart/2005/8/layout/cycle6"/>
    <dgm:cxn modelId="{602158A8-2AA0-4CC6-9D8F-AE91220B9D9F}" type="presParOf" srcId="{A306DBC3-1285-4718-B796-A87CAD537E60}" destId="{1E509519-CDB6-4A1F-B739-46D7413F5FA0}" srcOrd="20" destOrd="0" presId="urn:microsoft.com/office/officeart/2005/8/layout/cycle6"/>
    <dgm:cxn modelId="{2A2F3D09-6D1C-45FA-8B3B-704EE3403884}" type="presParOf" srcId="{A306DBC3-1285-4718-B796-A87CAD537E60}" destId="{8B1B3D2D-9C7D-44E3-AFC4-A5F7B57CBFE4}" srcOrd="21" destOrd="0" presId="urn:microsoft.com/office/officeart/2005/8/layout/cycle6"/>
    <dgm:cxn modelId="{8DBE874C-0F06-42D3-BBE8-CB1341FB89A0}" type="presParOf" srcId="{A306DBC3-1285-4718-B796-A87CAD537E60}" destId="{A72A5549-DE89-4A35-9418-204BD78B5FBA}" srcOrd="22" destOrd="0" presId="urn:microsoft.com/office/officeart/2005/8/layout/cycle6"/>
    <dgm:cxn modelId="{81E1AA7C-753B-4D54-8073-EE1206E312B3}" type="presParOf" srcId="{A306DBC3-1285-4718-B796-A87CAD537E60}" destId="{35AAA4F4-D8B0-499A-A02A-80674D383A9B}" srcOrd="23" destOrd="0" presId="urn:microsoft.com/office/officeart/2005/8/layout/cycle6"/>
    <dgm:cxn modelId="{BC62ABA0-1BBE-4065-89B3-4AC297D400C8}" type="presParOf" srcId="{A306DBC3-1285-4718-B796-A87CAD537E60}" destId="{5EF73D62-5D70-4F07-AC1E-57EF0AB4CC03}" srcOrd="24" destOrd="0" presId="urn:microsoft.com/office/officeart/2005/8/layout/cycle6"/>
    <dgm:cxn modelId="{6FFF31E6-3C5A-4CAA-86A6-98A81C1C153C}" type="presParOf" srcId="{A306DBC3-1285-4718-B796-A87CAD537E60}" destId="{ED6AB0E5-F440-4849-B1EF-F1CB91D959B0}" srcOrd="25" destOrd="0" presId="urn:microsoft.com/office/officeart/2005/8/layout/cycle6"/>
    <dgm:cxn modelId="{C519DA9B-9FDA-4EB1-99F7-D17DEED5F6F7}" type="presParOf" srcId="{A306DBC3-1285-4718-B796-A87CAD537E60}" destId="{10439DE7-A03D-4B36-A616-0A3F262748B9}" srcOrd="26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48DC2-562E-4321-95F9-736E504E22C6}">
      <dsp:nvSpPr>
        <dsp:cNvPr id="0" name=""/>
        <dsp:cNvSpPr/>
      </dsp:nvSpPr>
      <dsp:spPr>
        <a:xfrm>
          <a:off x="3364012" y="4343"/>
          <a:ext cx="1472384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Customer</a:t>
          </a:r>
          <a:endParaRPr lang="en-US" sz="1000" kern="1200" dirty="0"/>
        </a:p>
      </dsp:txBody>
      <dsp:txXfrm>
        <a:off x="3396100" y="36431"/>
        <a:ext cx="1408208" cy="593142"/>
      </dsp:txXfrm>
    </dsp:sp>
    <dsp:sp modelId="{D9A9D2A7-3B58-4BEC-B83A-3D21E70AD92E}">
      <dsp:nvSpPr>
        <dsp:cNvPr id="0" name=""/>
        <dsp:cNvSpPr/>
      </dsp:nvSpPr>
      <dsp:spPr>
        <a:xfrm>
          <a:off x="1721613" y="372064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3121450" y="72430"/>
              </a:moveTo>
              <a:arcTo wR="2521441" hR="2521441" stAng="17025980" swAng="91986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B38D4-FDF1-40F5-9983-2311E1A51F12}">
      <dsp:nvSpPr>
        <dsp:cNvPr id="0" name=""/>
        <dsp:cNvSpPr/>
      </dsp:nvSpPr>
      <dsp:spPr>
        <a:xfrm>
          <a:off x="5064139" y="693631"/>
          <a:ext cx="1651508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Architectural</a:t>
          </a:r>
          <a:endParaRPr lang="en-US" sz="1100" kern="1200" dirty="0"/>
        </a:p>
      </dsp:txBody>
      <dsp:txXfrm>
        <a:off x="5096227" y="725719"/>
        <a:ext cx="1587332" cy="593142"/>
      </dsp:txXfrm>
    </dsp:sp>
    <dsp:sp modelId="{5C585C88-A9BA-4C8E-9045-9DE591CC4C09}">
      <dsp:nvSpPr>
        <dsp:cNvPr id="0" name=""/>
        <dsp:cNvSpPr/>
      </dsp:nvSpPr>
      <dsp:spPr>
        <a:xfrm>
          <a:off x="1543372" y="211671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4634715" y="1146035"/>
              </a:moveTo>
              <a:arcTo wR="2521441" hR="2521441" stAng="19616535" swAng="108293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168E26-1409-402E-AB16-EE2A53EFE106}">
      <dsp:nvSpPr>
        <dsp:cNvPr id="0" name=""/>
        <dsp:cNvSpPr/>
      </dsp:nvSpPr>
      <dsp:spPr>
        <a:xfrm>
          <a:off x="5735929" y="2087941"/>
          <a:ext cx="1694821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Structural</a:t>
          </a:r>
          <a:endParaRPr lang="en-US" sz="1000" kern="1200" dirty="0"/>
        </a:p>
      </dsp:txBody>
      <dsp:txXfrm>
        <a:off x="5768017" y="2120029"/>
        <a:ext cx="1630645" cy="593142"/>
      </dsp:txXfrm>
    </dsp:sp>
    <dsp:sp modelId="{279C2B8F-0645-40BB-9A27-1B1F27F2AF47}">
      <dsp:nvSpPr>
        <dsp:cNvPr id="0" name=""/>
        <dsp:cNvSpPr/>
      </dsp:nvSpPr>
      <dsp:spPr>
        <a:xfrm>
          <a:off x="1578763" y="333002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5040953" y="2422808"/>
              </a:moveTo>
              <a:arcTo wR="2521441" hR="2521441" stAng="21465489" swAng="142177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10930-89D4-4807-986A-39E6C9CD54FE}">
      <dsp:nvSpPr>
        <dsp:cNvPr id="0" name=""/>
        <dsp:cNvSpPr/>
      </dsp:nvSpPr>
      <dsp:spPr>
        <a:xfrm>
          <a:off x="5504732" y="3786505"/>
          <a:ext cx="1558209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Behavioural</a:t>
          </a:r>
          <a:endParaRPr lang="en-US" sz="1200" kern="1200" dirty="0"/>
        </a:p>
      </dsp:txBody>
      <dsp:txXfrm>
        <a:off x="5536820" y="3818593"/>
        <a:ext cx="1494033" cy="593142"/>
      </dsp:txXfrm>
    </dsp:sp>
    <dsp:sp modelId="{06FADD3D-FF02-4A3C-A4C6-B6A66298E42B}">
      <dsp:nvSpPr>
        <dsp:cNvPr id="0" name=""/>
        <dsp:cNvSpPr/>
      </dsp:nvSpPr>
      <dsp:spPr>
        <a:xfrm>
          <a:off x="1289461" y="777893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4765698" y="3670780"/>
              </a:moveTo>
              <a:arcTo wR="2521441" hR="2521441" stAng="1627086" swAng="729026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FD213D-BF8B-48F5-8EF2-1874E69ED33F}">
      <dsp:nvSpPr>
        <dsp:cNvPr id="0" name=""/>
        <dsp:cNvSpPr/>
      </dsp:nvSpPr>
      <dsp:spPr>
        <a:xfrm>
          <a:off x="4450573" y="4899508"/>
          <a:ext cx="1580538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Functional</a:t>
          </a:r>
          <a:endParaRPr lang="en-US" sz="1000" kern="1200" dirty="0"/>
        </a:p>
      </dsp:txBody>
      <dsp:txXfrm>
        <a:off x="4482661" y="4931596"/>
        <a:ext cx="1516362" cy="593142"/>
      </dsp:txXfrm>
    </dsp:sp>
    <dsp:sp modelId="{8DCB2D6F-FD1D-47AD-B379-AEBB6776CA36}">
      <dsp:nvSpPr>
        <dsp:cNvPr id="0" name=""/>
        <dsp:cNvSpPr/>
      </dsp:nvSpPr>
      <dsp:spPr>
        <a:xfrm>
          <a:off x="1600774" y="443178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2844197" y="5022140"/>
              </a:moveTo>
              <a:arcTo wR="2521441" hR="2521441" stAng="4958742" swAng="756295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0AF48-4F8D-44A0-8F81-B6A5A48F1DE1}">
      <dsp:nvSpPr>
        <dsp:cNvPr id="0" name=""/>
        <dsp:cNvSpPr/>
      </dsp:nvSpPr>
      <dsp:spPr>
        <a:xfrm>
          <a:off x="2053163" y="4899508"/>
          <a:ext cx="1832686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Performance</a:t>
          </a:r>
          <a:endParaRPr lang="en-US" sz="1000" kern="1200" dirty="0"/>
        </a:p>
      </dsp:txBody>
      <dsp:txXfrm>
        <a:off x="2085251" y="4931596"/>
        <a:ext cx="1768510" cy="593142"/>
      </dsp:txXfrm>
    </dsp:sp>
    <dsp:sp modelId="{2AAA9BE3-496B-4E6C-9CEE-6DFC2ED60549}">
      <dsp:nvSpPr>
        <dsp:cNvPr id="0" name=""/>
        <dsp:cNvSpPr/>
      </dsp:nvSpPr>
      <dsp:spPr>
        <a:xfrm>
          <a:off x="1856912" y="756257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587271" y="4139048"/>
              </a:moveTo>
              <a:arcTo wR="2521441" hR="2521441" stAng="8405593" swAng="734082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B5B2E3-733C-4E27-A39E-1B22CC918841}">
      <dsp:nvSpPr>
        <dsp:cNvPr id="0" name=""/>
        <dsp:cNvSpPr/>
      </dsp:nvSpPr>
      <dsp:spPr>
        <a:xfrm>
          <a:off x="1161014" y="3786505"/>
          <a:ext cx="1511115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Design</a:t>
          </a:r>
          <a:endParaRPr lang="en-US" sz="1100" kern="1200" dirty="0"/>
        </a:p>
      </dsp:txBody>
      <dsp:txXfrm>
        <a:off x="1193102" y="3818593"/>
        <a:ext cx="1446939" cy="593142"/>
      </dsp:txXfrm>
    </dsp:sp>
    <dsp:sp modelId="{1E509519-CDB6-4A1F-B739-46D7413F5FA0}">
      <dsp:nvSpPr>
        <dsp:cNvPr id="0" name=""/>
        <dsp:cNvSpPr/>
      </dsp:nvSpPr>
      <dsp:spPr>
        <a:xfrm>
          <a:off x="1578763" y="333002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174711" y="3443682"/>
              </a:moveTo>
              <a:arcTo wR="2521441" hR="2521441" stAng="9512741" swAng="142177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1B3D2D-9C7D-44E3-AFC4-A5F7B57CBFE4}">
      <dsp:nvSpPr>
        <dsp:cNvPr id="0" name=""/>
        <dsp:cNvSpPr/>
      </dsp:nvSpPr>
      <dsp:spPr>
        <a:xfrm>
          <a:off x="870092" y="2087941"/>
          <a:ext cx="1493954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Derived</a:t>
          </a:r>
          <a:endParaRPr lang="en-US" sz="1100" kern="1200" dirty="0"/>
        </a:p>
      </dsp:txBody>
      <dsp:txXfrm>
        <a:off x="902180" y="2120029"/>
        <a:ext cx="1429778" cy="593142"/>
      </dsp:txXfrm>
    </dsp:sp>
    <dsp:sp modelId="{35AAA4F4-D8B0-499A-A02A-80674D383A9B}">
      <dsp:nvSpPr>
        <dsp:cNvPr id="0" name=""/>
        <dsp:cNvSpPr/>
      </dsp:nvSpPr>
      <dsp:spPr>
        <a:xfrm>
          <a:off x="1644930" y="81539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54831" y="1998466"/>
              </a:moveTo>
              <a:arcTo wR="2521441" hR="2521441" stAng="11518241" swAng="1088336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F73D62-5D70-4F07-AC1E-57EF0AB4CC03}">
      <dsp:nvSpPr>
        <dsp:cNvPr id="0" name=""/>
        <dsp:cNvSpPr/>
      </dsp:nvSpPr>
      <dsp:spPr>
        <a:xfrm>
          <a:off x="1416041" y="673756"/>
          <a:ext cx="1709454" cy="6573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Allocated</a:t>
          </a:r>
          <a:endParaRPr lang="en-US" sz="1100" kern="1200" dirty="0"/>
        </a:p>
      </dsp:txBody>
      <dsp:txXfrm>
        <a:off x="1448129" y="705844"/>
        <a:ext cx="1645278" cy="593142"/>
      </dsp:txXfrm>
    </dsp:sp>
    <dsp:sp modelId="{10439DE7-A03D-4B36-A616-0A3F262748B9}">
      <dsp:nvSpPr>
        <dsp:cNvPr id="0" name=""/>
        <dsp:cNvSpPr/>
      </dsp:nvSpPr>
      <dsp:spPr>
        <a:xfrm>
          <a:off x="1296200" y="401728"/>
          <a:ext cx="5042883" cy="5042883"/>
        </a:xfrm>
        <a:custGeom>
          <a:avLst/>
          <a:gdLst/>
          <a:ahLst/>
          <a:cxnLst/>
          <a:rect l="0" t="0" r="0" b="0"/>
          <a:pathLst>
            <a:path>
              <a:moveTo>
                <a:pt x="1388686" y="268768"/>
              </a:moveTo>
              <a:arcTo wR="2521441" hR="2521441" stAng="14598270" swAng="97000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4BFDCF-6829-48EE-9BE4-FFAD955BD8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3D4C7-2986-4EC6-B6EA-2CD220A76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60321-7CE8-4252-9B8A-179B1300F4D2}" type="datetimeFigureOut">
              <a:rPr lang="en-NZ" smtClean="0"/>
              <a:t>18/02/2026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41EBA-191E-4C6C-B226-38455AA0B5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FA37B-0EF3-41F5-9F1B-E36BC28365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DED01-F88B-4193-8D99-3068293548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54980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edeed5b3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edeed5b3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dirty="0"/>
              <a:t>There is </a:t>
            </a:r>
            <a:r>
              <a:rPr lang="en-NZ" b="1" dirty="0"/>
              <a:t>no</a:t>
            </a:r>
            <a:r>
              <a:rPr lang="en-NZ" dirty="0"/>
              <a:t> </a:t>
            </a:r>
            <a:r>
              <a:rPr lang="en-NZ" i="1" dirty="0"/>
              <a:t>one-size-fits-all</a:t>
            </a:r>
            <a:r>
              <a:rPr lang="en-NZ" dirty="0"/>
              <a:t> solution.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dirty="0"/>
              <a:t>Projects are </a:t>
            </a:r>
            <a:r>
              <a:rPr lang="en-NZ" i="1" dirty="0"/>
              <a:t>almost </a:t>
            </a:r>
            <a:r>
              <a:rPr lang="en-NZ" b="1" dirty="0"/>
              <a:t>guaranteed </a:t>
            </a:r>
            <a:r>
              <a:rPr lang="en-NZ" dirty="0"/>
              <a:t>to </a:t>
            </a:r>
            <a:r>
              <a:rPr lang="en-NZ" i="1" dirty="0"/>
              <a:t>not </a:t>
            </a:r>
            <a:r>
              <a:rPr lang="en-NZ" dirty="0"/>
              <a:t>go according to the original plan.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N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" name="Google Shape;70;g6edeed5b3a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daf5e74d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daf5e74d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7daf5e74d5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e7c4b1be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e7c4b1be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7e7c4b1be3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daf5e74d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daf5e74d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7daf5e74d5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daf5e74d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7daf5e74d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daf5e74d5_0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daf5e74d5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daf5e74d5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7daf5e74d5_0_3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daf5e74d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daf5e74d5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dirty="0"/>
              <a:t>This document allows a project manager to use organisational resources for the project.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g7daf5e74d5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e7c4b1be3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e7c4b1be3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7e7c4b1be3_0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daf5e74d5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daf5e74d5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PM </a:t>
            </a:r>
            <a:endParaRPr dirty="0"/>
          </a:p>
        </p:txBody>
      </p:sp>
      <p:sp>
        <p:nvSpPr>
          <p:cNvPr id="144" name="Google Shape;144;g7daf5e74d5_0_2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f183d20c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6f183d20c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6f183d20c3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f183d20c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f183d20c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6f183d20c3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f183d20c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f183d20c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6f183d20c3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f183d20c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f183d20c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6f183d20c3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daf5e74d5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daf5e74d5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dirty="0"/>
              <a:t>The </a:t>
            </a:r>
            <a:r>
              <a:rPr lang="en-NZ" b="1" dirty="0"/>
              <a:t>project charter </a:t>
            </a:r>
            <a:r>
              <a:rPr lang="en-NZ" dirty="0"/>
              <a:t>and </a:t>
            </a:r>
            <a:r>
              <a:rPr lang="en-NZ" b="1" dirty="0"/>
              <a:t>stakeholder register</a:t>
            </a:r>
            <a:r>
              <a:rPr lang="en-NZ" dirty="0"/>
              <a:t> are used as inputs to the next steps.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g7daf5e74d5_0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19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f183d20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f183d20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6f183d20c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20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f183d20c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6f183d20c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6f183d20c3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21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6edeed5b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6edeed5b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6edeed5b3a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22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daf5e74d5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daf5e74d5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7daf5e74d5_0_3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25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daf5e74d5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7daf5e74d5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7daf5e74d5_0_3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26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6f183d20c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6f183d20c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6f183d20c3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NZ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6f183d20c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6f183d20c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6f183d20c3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28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7ea85b524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7ea85b524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g7ea85b524f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29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daf5e74d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daf5e74d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NZ" sz="1200" dirty="0"/>
              <a:t>It begins with the outputs of the initiation phase (charter, preliminary scope statement, and project manager). 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NZ" sz="1200" dirty="0"/>
              <a:t>The output of the planning phase serves as the input for the execution phase.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endParaRPr lang="en-US" sz="1200"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600" dirty="0"/>
              <a:t>Planning phase should not be executed before your initial planning is finished</a:t>
            </a:r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600" dirty="0"/>
              <a:t>You should not stop revising plans (even during execution)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endParaRPr lang="en-NZ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7daf5e74d5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322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6f183d20c3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6f183d20c3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6f183d20c3_0_3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31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6f183d20c3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6f183d20c3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g6f183d20c3_0_3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32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7ea85b524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7ea85b524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g7ea85b524f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1117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daf5e74d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daf5e74d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sz="1200" dirty="0"/>
              <a:t>Re-baselining and/or updates to existing project requirements may (and almost certainly </a:t>
            </a:r>
            <a:r>
              <a:rPr lang="en-NZ" sz="1200" i="1" dirty="0"/>
              <a:t>will</a:t>
            </a:r>
            <a:r>
              <a:rPr lang="en-NZ" sz="1200" dirty="0"/>
              <a:t>) occur.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7daf5e74d5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2198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6edeed5b3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6edeed5b3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6edeed5b3a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35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6edeed5b3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6edeed5b3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6edeed5b3a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36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6f183d20c3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6f183d20c3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g6f183d20c3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37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6f183d20c3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6f183d20c3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6f183d20c3_0_3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38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6f183d20c3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6f183d20c3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g6f183d20c3_0_4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39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7daf5e74d5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7daf5e74d5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g7daf5e74d5_0_2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40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7e7c4b1be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7e7c4b1be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g7e7c4b1be3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NZ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daf5e74d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daf5e74d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sz="1200" dirty="0"/>
              <a:t>Re-baselining and/or updates to existing project requirements may (and almost certainly </a:t>
            </a:r>
            <a:r>
              <a:rPr lang="en-NZ" sz="1200" i="1" dirty="0"/>
              <a:t>will</a:t>
            </a:r>
            <a:r>
              <a:rPr lang="en-NZ" sz="1200" dirty="0"/>
              <a:t>) occur.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7daf5e74d5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34200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7daf5e74d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7daf5e74d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g7daf5e74d5_0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44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7daf5e74d5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g7daf5e74d5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7d8056840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7d8056840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8" name="Google Shape;858;g7d80568407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365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/>
          <p:nvPr/>
        </p:nvSpPr>
        <p:spPr>
          <a:xfrm>
            <a:off x="7071074" y="6101763"/>
            <a:ext cx="2073000" cy="75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539552" y="2642230"/>
            <a:ext cx="5748000" cy="2195700"/>
          </a:xfrm>
          <a:prstGeom prst="rect">
            <a:avLst/>
          </a:prstGeom>
          <a:solidFill>
            <a:schemeClr val="lt1">
              <a:alpha val="69800"/>
            </a:schemeClr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539552" y="4802581"/>
            <a:ext cx="5748000" cy="7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-25170" y="6100273"/>
            <a:ext cx="7909500" cy="75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1364" y="6065763"/>
            <a:ext cx="1520111" cy="67560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-30234" y="6065012"/>
            <a:ext cx="9174300" cy="3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479" y="6316694"/>
            <a:ext cx="3377478" cy="27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3749" y="6318829"/>
            <a:ext cx="1201016" cy="268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72440" rtl="0">
              <a:spcBef>
                <a:spcPts val="750"/>
              </a:spcBef>
              <a:spcAft>
                <a:spcPts val="0"/>
              </a:spcAft>
              <a:buSzPts val="3840"/>
              <a:buChar char="▪"/>
              <a:defRPr sz="3200"/>
            </a:lvl1pPr>
            <a:lvl2pPr marL="91440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2pPr>
            <a:lvl3pPr marL="137160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3pPr>
            <a:lvl4pPr marL="182880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4pPr>
            <a:lvl5pPr marL="228600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628649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 type="title">
  <p:cSld name="5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365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/>
          <p:nvPr/>
        </p:nvSpPr>
        <p:spPr>
          <a:xfrm>
            <a:off x="7071074" y="6101763"/>
            <a:ext cx="2073000" cy="75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539552" y="2642230"/>
            <a:ext cx="5748000" cy="2195700"/>
          </a:xfrm>
          <a:prstGeom prst="rect">
            <a:avLst/>
          </a:prstGeom>
          <a:solidFill>
            <a:schemeClr val="lt1">
              <a:alpha val="69800"/>
            </a:schemeClr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539552" y="4802581"/>
            <a:ext cx="5748000" cy="7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-25170" y="6100273"/>
            <a:ext cx="7909500" cy="75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1364" y="6065763"/>
            <a:ext cx="1520111" cy="67560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-30234" y="6065012"/>
            <a:ext cx="9174300" cy="3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479" y="6316694"/>
            <a:ext cx="3377478" cy="27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3749" y="6318829"/>
            <a:ext cx="1201016" cy="268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7051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72440" rtl="0">
              <a:spcBef>
                <a:spcPts val="750"/>
              </a:spcBef>
              <a:spcAft>
                <a:spcPts val="0"/>
              </a:spcAft>
              <a:buSzPts val="3840"/>
              <a:buChar char="▪"/>
              <a:defRPr sz="3200"/>
            </a:lvl1pPr>
            <a:lvl2pPr marL="91440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2pPr>
            <a:lvl3pPr marL="137160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3pPr>
            <a:lvl4pPr marL="182880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4pPr>
            <a:lvl5pPr marL="228600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6727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628649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359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750793" y="0"/>
            <a:ext cx="324300" cy="28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5077" y="0"/>
            <a:ext cx="756000" cy="285600"/>
          </a:xfrm>
          <a:prstGeom prst="rect">
            <a:avLst/>
          </a:prstGeom>
          <a:solidFill>
            <a:schemeClr val="accent1">
              <a:alpha val="6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07200" y="921625"/>
            <a:ext cx="8511300" cy="5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47244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384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2687" y="6118116"/>
            <a:ext cx="1101566" cy="48958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9992" y="6078517"/>
            <a:ext cx="3111857" cy="56337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76200" y="6563375"/>
            <a:ext cx="23853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9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ZITPM5.248 Agile Projects</a:t>
            </a:r>
            <a:endParaRPr sz="9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626975" y="6563375"/>
            <a:ext cx="2269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9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9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750793" y="0"/>
            <a:ext cx="324300" cy="28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5077" y="0"/>
            <a:ext cx="756000" cy="285600"/>
          </a:xfrm>
          <a:prstGeom prst="rect">
            <a:avLst/>
          </a:prstGeom>
          <a:solidFill>
            <a:schemeClr val="accent1">
              <a:alpha val="6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07200" y="921625"/>
            <a:ext cx="8511300" cy="5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47244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384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2687" y="6118116"/>
            <a:ext cx="1101566" cy="48958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9992" y="6078517"/>
            <a:ext cx="3111857" cy="56337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76200" y="6563375"/>
            <a:ext cx="23853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ITPM5.240 Agile Projects</a:t>
            </a:r>
            <a:endParaRPr sz="9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626975" y="6563375"/>
            <a:ext cx="2269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Week 9 - 2020</a:t>
            </a:r>
            <a:endParaRPr sz="9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8193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managementdocs.com/project-initiation/" TargetMode="External"/><Relationship Id="rId7" Type="http://schemas.openxmlformats.org/officeDocument/2006/relationships/hyperlink" Target="https://www.projectmanagementdocs.com/project-closur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jectmanagementdocs.com/project-monitoring-and-controlling/" TargetMode="External"/><Relationship Id="rId5" Type="http://schemas.openxmlformats.org/officeDocument/2006/relationships/hyperlink" Target="https://www.projectmanagementdocs.com/project-execution/" TargetMode="External"/><Relationship Id="rId4" Type="http://schemas.openxmlformats.org/officeDocument/2006/relationships/hyperlink" Target="https://www.projectmanagementdocs.com/project-plannin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managementdocs.com/blog/project-vision-statement-crafting-a-clear-and-inspiring-vis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martsheet.com/blog/project-charter-templates-and-guidelines-every-business-need" TargetMode="External"/><Relationship Id="rId5" Type="http://schemas.openxmlformats.org/officeDocument/2006/relationships/hyperlink" Target="https://www.projectpractical.com/project-success-criteria/" TargetMode="External"/><Relationship Id="rId4" Type="http://schemas.openxmlformats.org/officeDocument/2006/relationships/hyperlink" Target="https://www.writingbeginner.com/how-to-write-a-mission-statement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poclearn.com/dz/devops-courses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ambdatest.com/blog/test-verification-vs-validation-in-website-testing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ctrTitle"/>
          </p:nvPr>
        </p:nvSpPr>
        <p:spPr>
          <a:xfrm>
            <a:off x="539552" y="2642230"/>
            <a:ext cx="5748000" cy="219570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Font typeface="Calibri"/>
              <a:buNone/>
            </a:pPr>
            <a:r>
              <a:rPr lang="en-NZ" dirty="0"/>
              <a:t>01 - Project Life Cycles</a:t>
            </a:r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539552" y="4802581"/>
            <a:ext cx="5748000" cy="7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NZ" dirty="0"/>
              <a:t>ITPM5.248 Agile Projects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14C6-2185-44AE-93B8-AAFE9BFE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1EEA5-0D13-46B2-9F23-C8587ADB9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life cycle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NZ" dirty="0"/>
              <a:t>Software life cycle process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NZ" dirty="0"/>
              <a:t>Stakeholder Register</a:t>
            </a:r>
            <a:endParaRPr lang="en-US" dirty="0"/>
          </a:p>
          <a:p>
            <a:endParaRPr lang="en-US" sz="2400" dirty="0"/>
          </a:p>
          <a:p>
            <a:r>
              <a:rPr lang="en-US" dirty="0"/>
              <a:t>Project Charter</a:t>
            </a:r>
          </a:p>
          <a:p>
            <a:endParaRPr lang="en-US" sz="2400" dirty="0"/>
          </a:p>
          <a:p>
            <a:r>
              <a:rPr lang="en-US" dirty="0"/>
              <a:t>Constraints and Requirements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36266-5348-413B-9640-F7A3F33C6A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80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Project Life Cycle – Steps </a:t>
            </a:r>
            <a:endParaRPr sz="4000" dirty="0"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39750" lvl="0" indent="-539750" algn="l" rtl="0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SzPts val="3840"/>
              <a:buFont typeface="+mj-lt"/>
              <a:buAutoNum type="arabicPeriod"/>
            </a:pPr>
            <a:r>
              <a:rPr lang="en-NZ" b="1" dirty="0"/>
              <a:t>Initiation</a:t>
            </a:r>
            <a:endParaRPr b="1" dirty="0"/>
          </a:p>
          <a:p>
            <a:pPr marL="539750" lvl="0" indent="-539750" algn="l" rtl="0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SzPts val="3840"/>
              <a:buFont typeface="+mj-lt"/>
              <a:buAutoNum type="arabicPeriod"/>
            </a:pPr>
            <a:r>
              <a:rPr lang="en-NZ" b="1" dirty="0"/>
              <a:t>Planning</a:t>
            </a:r>
            <a:endParaRPr b="1" dirty="0"/>
          </a:p>
          <a:p>
            <a:pPr marL="539750" lvl="0" indent="-539750" algn="l" rtl="0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SzPts val="3840"/>
              <a:buFont typeface="+mj-lt"/>
              <a:buAutoNum type="arabicPeriod"/>
            </a:pPr>
            <a:r>
              <a:rPr lang="en-NZ" b="1" dirty="0"/>
              <a:t>Execution</a:t>
            </a:r>
            <a:endParaRPr b="1" dirty="0"/>
          </a:p>
          <a:p>
            <a:pPr marL="539750" lvl="0" indent="-539750" algn="l" rtl="0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SzPts val="3840"/>
              <a:buFont typeface="+mj-lt"/>
              <a:buAutoNum type="arabicPeriod"/>
            </a:pPr>
            <a:r>
              <a:rPr lang="en-NZ" b="1" dirty="0"/>
              <a:t>Closure</a:t>
            </a:r>
            <a:endParaRPr b="1" dirty="0"/>
          </a:p>
          <a:p>
            <a:pPr marL="539750" lvl="0" indent="-295910" algn="l" rtl="0">
              <a:spcBef>
                <a:spcPts val="750"/>
              </a:spcBef>
              <a:spcAft>
                <a:spcPts val="0"/>
              </a:spcAft>
              <a:buSzPts val="3840"/>
              <a:buNone/>
            </a:pPr>
            <a:endParaRPr dirty="0"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412" cy="285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</a:t>
            </a:fld>
            <a:endParaRPr/>
          </a:p>
        </p:txBody>
      </p:sp>
      <p:pic>
        <p:nvPicPr>
          <p:cNvPr id="66" name="Google Shape;6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055" y="1353283"/>
            <a:ext cx="4488295" cy="43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764557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lvl="0"/>
            <a:r>
              <a:rPr lang="en-NZ" sz="4000" dirty="0"/>
              <a:t>Project Life Cycles – Introduction</a:t>
            </a:r>
            <a:endParaRPr sz="4000" dirty="0"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628650" y="1244125"/>
            <a:ext cx="7434695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The way you organise the work.</a:t>
            </a:r>
            <a:endParaRPr dirty="0"/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Can be </a:t>
            </a:r>
            <a:r>
              <a:rPr lang="en-NZ" i="1" dirty="0"/>
              <a:t>gated </a:t>
            </a:r>
            <a:r>
              <a:rPr lang="en-NZ" dirty="0"/>
              <a:t>or </a:t>
            </a:r>
            <a:r>
              <a:rPr lang="en-NZ" i="1" dirty="0"/>
              <a:t>iterative.</a:t>
            </a:r>
            <a:endParaRPr i="1" dirty="0"/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It’s important to be </a:t>
            </a:r>
            <a:r>
              <a:rPr lang="en-NZ" b="1" dirty="0"/>
              <a:t>pragmatic </a:t>
            </a:r>
            <a:r>
              <a:rPr lang="en-NZ" dirty="0"/>
              <a:t>about your approach.</a:t>
            </a:r>
            <a:endParaRPr dirty="0"/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Life cycle depends on </a:t>
            </a:r>
            <a:r>
              <a:rPr lang="en-NZ" i="1" dirty="0"/>
              <a:t>both </a:t>
            </a:r>
            <a:r>
              <a:rPr lang="en-NZ" dirty="0"/>
              <a:t>customer and organisational </a:t>
            </a:r>
            <a:r>
              <a:rPr lang="en-NZ" b="1" dirty="0"/>
              <a:t>risks. </a:t>
            </a:r>
            <a:endParaRPr dirty="0"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286950" y="224574"/>
            <a:ext cx="85701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Software Development Project – </a:t>
            </a:r>
            <a:br>
              <a:rPr lang="en-NZ" sz="4000" dirty="0"/>
            </a:br>
            <a:r>
              <a:rPr lang="en-NZ" sz="4000" dirty="0"/>
              <a:t>Typical Steps</a:t>
            </a:r>
            <a:endParaRPr sz="4000" dirty="0"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696550" y="1572290"/>
            <a:ext cx="8117400" cy="50611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Requirements</a:t>
            </a:r>
            <a:endParaRPr dirty="0"/>
          </a:p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Design</a:t>
            </a:r>
            <a:endParaRPr dirty="0"/>
          </a:p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Development</a:t>
            </a:r>
            <a:endParaRPr dirty="0"/>
          </a:p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Testing</a:t>
            </a:r>
            <a:endParaRPr dirty="0"/>
          </a:p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Deployment</a:t>
            </a:r>
            <a:endParaRPr dirty="0"/>
          </a:p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Maintenance</a:t>
            </a:r>
            <a:endParaRPr dirty="0"/>
          </a:p>
          <a:p>
            <a:pPr marL="539750" lvl="0" indent="-53975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Disposal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lang="en-NZ" sz="1000" b="1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000" b="1" dirty="0"/>
              <a:t>ISO/IEC/IEEE 12207:2017</a:t>
            </a:r>
            <a:r>
              <a:rPr lang="en-NZ" sz="2000" dirty="0"/>
              <a:t> Software Life Cycle Processes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000" dirty="0"/>
              <a:t>SWEBOK v4.0</a:t>
            </a:r>
            <a:endParaRPr sz="2000" dirty="0"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5</a:t>
            </a:fld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298145" y="1272332"/>
            <a:ext cx="2771183" cy="42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lang="en-NZ" sz="11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>
                <a:hlinkClick r:id="rId3"/>
              </a:rPr>
              <a:t>Initiation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>
                <a:hlinkClick r:id="rId4"/>
              </a:rPr>
              <a:t>Planning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>
                <a:hlinkClick r:id="rId5"/>
              </a:rPr>
              <a:t>Execution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lang="en-US" sz="10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 dirty="0"/>
              <a:t>(</a:t>
            </a:r>
            <a:r>
              <a:rPr lang="en-US" sz="1800" dirty="0">
                <a:hlinkClick r:id="rId6"/>
              </a:rPr>
              <a:t>include monitor &amp; control</a:t>
            </a:r>
            <a:r>
              <a:rPr lang="en-US" sz="1800" dirty="0"/>
              <a:t>)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>
                <a:hlinkClick r:id="rId7"/>
              </a:rPr>
              <a:t>Closure</a:t>
            </a:r>
            <a:endParaRPr dirty="0"/>
          </a:p>
        </p:txBody>
      </p:sp>
      <p:cxnSp>
        <p:nvCxnSpPr>
          <p:cNvPr id="84" name="Google Shape;84;p10"/>
          <p:cNvCxnSpPr/>
          <p:nvPr/>
        </p:nvCxnSpPr>
        <p:spPr>
          <a:xfrm>
            <a:off x="4812363" y="1827151"/>
            <a:ext cx="968400" cy="9900"/>
          </a:xfrm>
          <a:prstGeom prst="straightConnector1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0"/>
          <p:cNvCxnSpPr/>
          <p:nvPr/>
        </p:nvCxnSpPr>
        <p:spPr>
          <a:xfrm>
            <a:off x="3599238" y="2443476"/>
            <a:ext cx="2162100" cy="9900"/>
          </a:xfrm>
          <a:prstGeom prst="straightConnector1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0"/>
          <p:cNvCxnSpPr/>
          <p:nvPr/>
        </p:nvCxnSpPr>
        <p:spPr>
          <a:xfrm>
            <a:off x="4684624" y="2925057"/>
            <a:ext cx="1105500" cy="4794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0"/>
          <p:cNvCxnSpPr/>
          <p:nvPr/>
        </p:nvCxnSpPr>
        <p:spPr>
          <a:xfrm rot="10800000" flipH="1">
            <a:off x="4685163" y="3394532"/>
            <a:ext cx="1115400" cy="4110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0"/>
          <p:cNvCxnSpPr/>
          <p:nvPr/>
        </p:nvCxnSpPr>
        <p:spPr>
          <a:xfrm rot="10800000" flipH="1">
            <a:off x="4381349" y="4692762"/>
            <a:ext cx="1398900" cy="596700"/>
          </a:xfrm>
          <a:prstGeom prst="bentConnector3">
            <a:avLst>
              <a:gd name="adj1" fmla="val 60144"/>
            </a:avLst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0"/>
          <p:cNvCxnSpPr/>
          <p:nvPr/>
        </p:nvCxnSpPr>
        <p:spPr>
          <a:xfrm>
            <a:off x="4653213" y="4009537"/>
            <a:ext cx="1127700" cy="7026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0"/>
          <p:cNvCxnSpPr/>
          <p:nvPr/>
        </p:nvCxnSpPr>
        <p:spPr>
          <a:xfrm>
            <a:off x="3999649" y="4684662"/>
            <a:ext cx="1107300" cy="8100"/>
          </a:xfrm>
          <a:prstGeom prst="straightConnector1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title"/>
          </p:nvPr>
        </p:nvSpPr>
        <p:spPr>
          <a:xfrm>
            <a:off x="628650" y="209327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Software Life Cycle</a:t>
            </a:r>
            <a:br>
              <a:rPr lang="en-NZ" sz="4000" dirty="0"/>
            </a:br>
            <a:r>
              <a:rPr lang="en-NZ" sz="4000" dirty="0"/>
              <a:t>Step 1: Initiation </a:t>
            </a:r>
            <a:endParaRPr sz="4000" dirty="0"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6</a:t>
            </a:fld>
            <a:endParaRPr/>
          </a:p>
        </p:txBody>
      </p:sp>
      <p:pic>
        <p:nvPicPr>
          <p:cNvPr id="99" name="Google Shape;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5" y="1548798"/>
            <a:ext cx="8820450" cy="43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437533-95BF-48FD-B5BB-FDFE6B54EF8F}"/>
              </a:ext>
            </a:extLst>
          </p:cNvPr>
          <p:cNvSpPr/>
          <p:nvPr/>
        </p:nvSpPr>
        <p:spPr>
          <a:xfrm>
            <a:off x="1524000" y="1980045"/>
            <a:ext cx="1919591" cy="24168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6350B1B-4CF4-4EDF-A6D8-9CBA217269E4}"/>
              </a:ext>
            </a:extLst>
          </p:cNvPr>
          <p:cNvSpPr/>
          <p:nvPr/>
        </p:nvSpPr>
        <p:spPr>
          <a:xfrm rot="1538408">
            <a:off x="917723" y="1966746"/>
            <a:ext cx="609023" cy="5151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13E9E7-AF19-4DF1-9E7D-08554997AB2C}"/>
              </a:ext>
            </a:extLst>
          </p:cNvPr>
          <p:cNvSpPr txBox="1"/>
          <p:nvPr/>
        </p:nvSpPr>
        <p:spPr>
          <a:xfrm>
            <a:off x="323550" y="1618959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are here…</a:t>
            </a:r>
            <a:endParaRPr lang="en-NZ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Step 1. Project Initiation</a:t>
            </a:r>
            <a:endParaRPr sz="4000" dirty="0"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>
            <a:off x="628650" y="1102225"/>
            <a:ext cx="7711786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Definition</a:t>
            </a:r>
            <a:br>
              <a:rPr lang="en-NZ" b="1" dirty="0"/>
            </a:br>
            <a:r>
              <a:rPr lang="en-NZ" sz="2800" dirty="0"/>
              <a:t>To define the processes needed to start a new project. </a:t>
            </a:r>
            <a:endParaRPr lang="en-NZ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Purpose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sz="2800" dirty="0"/>
              <a:t>To determine what the project should accomplish.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Main Activities</a:t>
            </a:r>
            <a:endParaRPr b="1"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Identify the Stakeholders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Develop a Project Charter </a:t>
            </a:r>
            <a:endParaRPr sz="2800" dirty="0"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Identifying Stakeholders</a:t>
            </a:r>
            <a:endParaRPr sz="4000" dirty="0"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665307" y="850136"/>
            <a:ext cx="7813386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NZ" dirty="0"/>
              <a:t>A stakeholder can influence the success and failure of the project.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NZ" sz="1400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NZ" dirty="0"/>
              <a:t>A </a:t>
            </a:r>
            <a:r>
              <a:rPr lang="en-NZ" b="1" dirty="0"/>
              <a:t>Stakeholder Register</a:t>
            </a:r>
            <a:r>
              <a:rPr lang="en-NZ" dirty="0"/>
              <a:t> is used to record the stakeholder information, for example:</a:t>
            </a:r>
            <a:endParaRPr lang="en-NZ" sz="27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▪"/>
            </a:pPr>
            <a:r>
              <a:rPr lang="en-NZ" sz="2800" dirty="0"/>
              <a:t>Stakeholder type. </a:t>
            </a: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▪"/>
            </a:pPr>
            <a:r>
              <a:rPr lang="en-NZ" sz="2800" dirty="0"/>
              <a:t>Stakeholder expectations.  </a:t>
            </a: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▪"/>
            </a:pPr>
            <a:r>
              <a:rPr lang="en-NZ" sz="2800" dirty="0"/>
              <a:t>Project roles (Business Analyst, Tech Architect, Client PM).</a:t>
            </a:r>
            <a:endParaRPr sz="28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▪"/>
            </a:pPr>
            <a:r>
              <a:rPr lang="en-NZ" sz="2800" dirty="0"/>
              <a:t>Designation (Director, Business Lead, etc.).</a:t>
            </a:r>
            <a:endParaRPr sz="28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▪"/>
            </a:pPr>
            <a:r>
              <a:rPr lang="en-NZ" sz="2800" dirty="0"/>
              <a:t>Type of Communication (Weekly/Monthly).</a:t>
            </a:r>
            <a:endParaRPr sz="28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▪"/>
            </a:pPr>
            <a:r>
              <a:rPr lang="en-NZ" sz="2800" dirty="0"/>
              <a:t>Influence on the project.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Types of Stakeholders</a:t>
            </a:r>
            <a:endParaRPr sz="4000" dirty="0"/>
          </a:p>
        </p:txBody>
      </p:sp>
      <p:sp>
        <p:nvSpPr>
          <p:cNvPr id="122" name="Google Shape;122;p14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 </a:t>
            </a:r>
            <a:endParaRPr dirty="0"/>
          </a:p>
        </p:txBody>
      </p: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9</a:t>
            </a:fld>
            <a:endParaRPr/>
          </a:p>
        </p:txBody>
      </p:sp>
      <p:pic>
        <p:nvPicPr>
          <p:cNvPr id="124" name="Google Shape;12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943" y="1146737"/>
            <a:ext cx="7536872" cy="45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973A-8C41-45A7-8B14-F56036FD6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4000" dirty="0"/>
              <a:t>Stakeholder Register – Parts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5A19F-350E-4582-8115-33C6842C2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57727"/>
            <a:ext cx="7203786" cy="5214460"/>
          </a:xfrm>
        </p:spPr>
        <p:txBody>
          <a:bodyPr/>
          <a:lstStyle/>
          <a:p>
            <a:pPr marL="499110" indent="-514350">
              <a:buFont typeface="+mj-lt"/>
              <a:buAutoNum type="arabicPeriod"/>
            </a:pPr>
            <a:r>
              <a:rPr lang="en-NZ" b="1" dirty="0"/>
              <a:t>Stakeholder’s identification </a:t>
            </a:r>
          </a:p>
          <a:p>
            <a:pPr marL="0" indent="0">
              <a:buNone/>
            </a:pPr>
            <a:r>
              <a:rPr lang="en-NZ" sz="2800" dirty="0"/>
              <a:t>Group name, location, and contact details</a:t>
            </a:r>
            <a:endParaRPr lang="en-NZ" sz="2800" b="1" dirty="0"/>
          </a:p>
          <a:p>
            <a:pPr marL="0" indent="0">
              <a:buNone/>
            </a:pPr>
            <a:r>
              <a:rPr lang="en-NZ" b="1" dirty="0"/>
              <a:t>2. Stakeholder’s assessment information</a:t>
            </a:r>
          </a:p>
          <a:p>
            <a:pPr indent="-457200"/>
            <a:r>
              <a:rPr lang="en-NZ" sz="2800" dirty="0"/>
              <a:t>Role in the project</a:t>
            </a:r>
          </a:p>
          <a:p>
            <a:pPr indent="-457200"/>
            <a:r>
              <a:rPr lang="en-NZ" sz="2800" dirty="0"/>
              <a:t>Major requirements or expectations</a:t>
            </a:r>
            <a:endParaRPr lang="en-NZ" sz="2800" b="1" dirty="0"/>
          </a:p>
          <a:p>
            <a:pPr marL="0" indent="0">
              <a:buNone/>
            </a:pPr>
            <a:r>
              <a:rPr lang="en-NZ" b="1" dirty="0"/>
              <a:t>3. Stakeholder’s classification </a:t>
            </a:r>
          </a:p>
          <a:p>
            <a:pPr indent="-457200"/>
            <a:r>
              <a:rPr lang="en-NZ" sz="2800" dirty="0"/>
              <a:t>Internal or external</a:t>
            </a:r>
          </a:p>
          <a:p>
            <a:pPr indent="-457200"/>
            <a:r>
              <a:rPr lang="en-NZ" sz="2800" dirty="0"/>
              <a:t>Classified (based on their influence and impact on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255B0-E175-4E81-8342-84B1BD266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8723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A4C8-6570-4F35-BCFF-D1E2A1A5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875"/>
            <a:ext cx="8161720" cy="1118100"/>
          </a:xfrm>
        </p:spPr>
        <p:txBody>
          <a:bodyPr/>
          <a:lstStyle/>
          <a:p>
            <a:r>
              <a:rPr lang="en-NZ" sz="4000" dirty="0"/>
              <a:t>Stakeholder Register – 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BA606-7A5C-4E86-AA85-362576430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11</a:t>
            </a:fld>
            <a:endParaRPr lang="en-NZ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C41E9152-FEE9-4EAF-8D08-28AEAA458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691757"/>
              </p:ext>
            </p:extLst>
          </p:nvPr>
        </p:nvGraphicFramePr>
        <p:xfrm>
          <a:off x="491140" y="1277715"/>
          <a:ext cx="8161720" cy="397653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65960">
                  <a:extLst>
                    <a:ext uri="{9D8B030D-6E8A-4147-A177-3AD203B41FA5}">
                      <a16:colId xmlns:a16="http://schemas.microsoft.com/office/drawing/2014/main" val="4181911159"/>
                    </a:ext>
                  </a:extLst>
                </a:gridCol>
                <a:gridCol w="1209925">
                  <a:extLst>
                    <a:ext uri="{9D8B030D-6E8A-4147-A177-3AD203B41FA5}">
                      <a16:colId xmlns:a16="http://schemas.microsoft.com/office/drawing/2014/main" val="287899038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214866128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67627283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29076608"/>
                    </a:ext>
                  </a:extLst>
                </a:gridCol>
                <a:gridCol w="1684890">
                  <a:extLst>
                    <a:ext uri="{9D8B030D-6E8A-4147-A177-3AD203B41FA5}">
                      <a16:colId xmlns:a16="http://schemas.microsoft.com/office/drawing/2014/main" val="1308975244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4184959525"/>
                    </a:ext>
                  </a:extLst>
                </a:gridCol>
              </a:tblGrid>
              <a:tr h="489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Stakeholder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Power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(H/L)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(H/L)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671489"/>
                  </a:ext>
                </a:extLst>
              </a:tr>
              <a:tr h="90479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Eddie Murphy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Security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Finish implementing GDPR compliant checkouts by end of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Weekly via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230684"/>
                  </a:ext>
                </a:extLst>
              </a:tr>
              <a:tr h="64187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Lliza Shlesigner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Senior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Security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163"/>
                  </a:ext>
                </a:extLst>
              </a:tr>
              <a:tr h="68289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Bill Burr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5% revenue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962057"/>
                  </a:ext>
                </a:extLst>
              </a:tr>
              <a:tr h="48914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Dave Chapelle</a:t>
                      </a:r>
                    </a:p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35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081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Project Charter</a:t>
            </a:r>
            <a:endParaRPr sz="4000" dirty="0"/>
          </a:p>
        </p:txBody>
      </p:sp>
      <p:sp>
        <p:nvSpPr>
          <p:cNvPr id="131" name="Google Shape;131;p15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en-NZ" dirty="0"/>
              <a:t>Project Charters are used as the project’s </a:t>
            </a:r>
            <a:r>
              <a:rPr lang="en-NZ" b="1" dirty="0">
                <a:hlinkClick r:id="rId3"/>
              </a:rPr>
              <a:t>vision</a:t>
            </a:r>
            <a:r>
              <a:rPr lang="en-NZ" dirty="0"/>
              <a:t>, </a:t>
            </a:r>
            <a:r>
              <a:rPr lang="en-NZ" b="1" dirty="0">
                <a:hlinkClick r:id="rId4"/>
              </a:rPr>
              <a:t>mission</a:t>
            </a:r>
            <a:r>
              <a:rPr lang="en-NZ" b="1" dirty="0"/>
              <a:t> </a:t>
            </a:r>
            <a:r>
              <a:rPr lang="en-NZ" dirty="0"/>
              <a:t>and </a:t>
            </a:r>
            <a:r>
              <a:rPr lang="en-NZ" b="1" dirty="0">
                <a:hlinkClick r:id="rId5"/>
              </a:rPr>
              <a:t>success criteria</a:t>
            </a:r>
            <a:r>
              <a:rPr lang="en-NZ" dirty="0"/>
              <a:t>. </a:t>
            </a:r>
            <a:endParaRPr lang="en-NZ" sz="3840" dirty="0"/>
          </a:p>
          <a:p>
            <a:pPr fontAlgn="base"/>
            <a:r>
              <a:rPr lang="en-NZ" dirty="0"/>
              <a:t>Generally, a project charter will include:</a:t>
            </a:r>
            <a:endParaRPr lang="en-NZ" sz="3840" dirty="0"/>
          </a:p>
          <a:p>
            <a:pPr lvl="1" fontAlgn="base"/>
            <a:r>
              <a:rPr lang="en-NZ" dirty="0"/>
              <a:t>Business value (Why?...the vision)</a:t>
            </a:r>
            <a:endParaRPr lang="en-NZ" sz="3240" dirty="0"/>
          </a:p>
          <a:p>
            <a:pPr lvl="1" fontAlgn="base"/>
            <a:r>
              <a:rPr lang="en-NZ" dirty="0"/>
              <a:t>High-level requirements (What and How? …mission)</a:t>
            </a:r>
            <a:endParaRPr lang="en-NZ" sz="3240" dirty="0"/>
          </a:p>
          <a:p>
            <a:pPr lvl="1" fontAlgn="base"/>
            <a:r>
              <a:rPr lang="en-NZ" dirty="0"/>
              <a:t>Stakeholders (Who?...mission)</a:t>
            </a:r>
            <a:endParaRPr lang="en-NZ" sz="3240" dirty="0"/>
          </a:p>
          <a:p>
            <a:pPr lvl="1" fontAlgn="base"/>
            <a:r>
              <a:rPr lang="en-NZ" dirty="0"/>
              <a:t>Constraints</a:t>
            </a:r>
            <a:endParaRPr lang="en-NZ" sz="3240" dirty="0"/>
          </a:p>
          <a:p>
            <a:pPr lvl="1" fontAlgn="base"/>
            <a:r>
              <a:rPr lang="en-NZ" dirty="0"/>
              <a:t>Risks </a:t>
            </a:r>
            <a:endParaRPr lang="en-NZ" sz="3240" dirty="0"/>
          </a:p>
          <a:p>
            <a:pPr lvl="1" fontAlgn="base"/>
            <a:r>
              <a:rPr lang="en-NZ" dirty="0"/>
              <a:t>Budgets</a:t>
            </a:r>
            <a:endParaRPr lang="en-NZ" sz="3240" dirty="0"/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12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2709D-FCC4-4E7B-B68E-F8370C3F07A0}"/>
              </a:ext>
            </a:extLst>
          </p:cNvPr>
          <p:cNvSpPr txBox="1"/>
          <p:nvPr/>
        </p:nvSpPr>
        <p:spPr>
          <a:xfrm>
            <a:off x="426396" y="5552290"/>
            <a:ext cx="61559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100" dirty="0">
                <a:hlinkClick r:id="rId6"/>
              </a:rPr>
              <a:t>https://www.smartsheet.com/blog/project-charter-templates-and-guidelines-every-business-need</a:t>
            </a:r>
            <a:r>
              <a:rPr lang="en-NZ" sz="1100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Create Project Charter</a:t>
            </a:r>
            <a:endParaRPr sz="4000" dirty="0"/>
          </a:p>
        </p:txBody>
      </p:sp>
      <p:sp>
        <p:nvSpPr>
          <p:cNvPr id="139" name="Google Shape;139;p16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371512" cy="51686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en-NZ" sz="2400" dirty="0"/>
              <a:t>Understand project goals and objectives</a:t>
            </a:r>
          </a:p>
          <a:p>
            <a:pPr lvl="1" fontAlgn="base"/>
            <a:r>
              <a:rPr lang="en-NZ" sz="2000" dirty="0"/>
              <a:t>Identify the project </a:t>
            </a:r>
            <a:r>
              <a:rPr lang="en-NZ" sz="2000" b="1" dirty="0"/>
              <a:t>vision </a:t>
            </a:r>
            <a:r>
              <a:rPr lang="en-NZ" sz="2000" dirty="0"/>
              <a:t>and determine the </a:t>
            </a:r>
            <a:r>
              <a:rPr lang="en-NZ" sz="2000" b="1" dirty="0"/>
              <a:t>scope </a:t>
            </a:r>
            <a:endParaRPr lang="en-NZ" sz="2400" dirty="0"/>
          </a:p>
          <a:p>
            <a:pPr fontAlgn="base"/>
            <a:r>
              <a:rPr lang="en-NZ" sz="2400" dirty="0"/>
              <a:t>Define project organization </a:t>
            </a:r>
          </a:p>
          <a:p>
            <a:pPr lvl="1" fontAlgn="base"/>
            <a:r>
              <a:rPr lang="en-NZ" sz="2000" dirty="0"/>
              <a:t>List all of the essential </a:t>
            </a:r>
            <a:r>
              <a:rPr lang="en-NZ" sz="2000" b="1" dirty="0"/>
              <a:t>roles </a:t>
            </a:r>
            <a:r>
              <a:rPr lang="en-NZ" sz="2000" dirty="0"/>
              <a:t>for the project: </a:t>
            </a:r>
            <a:endParaRPr lang="en-NZ" sz="2400" dirty="0"/>
          </a:p>
          <a:p>
            <a:pPr marL="0" indent="0">
              <a:buNone/>
            </a:pPr>
            <a:r>
              <a:rPr lang="en-NZ" sz="2400" i="1" dirty="0"/>
              <a:t>      e.g.:</a:t>
            </a:r>
            <a:r>
              <a:rPr lang="en-NZ" sz="2400" dirty="0"/>
              <a:t> customers, stakeholders &amp; development team.</a:t>
            </a:r>
          </a:p>
          <a:p>
            <a:pPr fontAlgn="base"/>
            <a:r>
              <a:rPr lang="en-NZ" sz="2400" dirty="0"/>
              <a:t>Create an implementation plan</a:t>
            </a:r>
          </a:p>
          <a:p>
            <a:pPr lvl="1" fontAlgn="base"/>
            <a:r>
              <a:rPr lang="en-NZ" sz="2000" dirty="0"/>
              <a:t>Outline major </a:t>
            </a:r>
            <a:r>
              <a:rPr lang="en-NZ" sz="2000" b="1" dirty="0"/>
              <a:t>milestones</a:t>
            </a:r>
            <a:r>
              <a:rPr lang="en-NZ" sz="2000" dirty="0"/>
              <a:t>, </a:t>
            </a:r>
            <a:r>
              <a:rPr lang="en-NZ" sz="2000" b="1" dirty="0"/>
              <a:t>dependencies </a:t>
            </a:r>
            <a:r>
              <a:rPr lang="en-NZ" sz="2000" dirty="0"/>
              <a:t>and </a:t>
            </a:r>
            <a:r>
              <a:rPr lang="en-NZ" sz="2000" b="1" dirty="0"/>
              <a:t>timeline </a:t>
            </a:r>
            <a:r>
              <a:rPr lang="en-NZ" sz="2000" dirty="0"/>
              <a:t>for </a:t>
            </a:r>
            <a:r>
              <a:rPr lang="en-NZ" sz="2000" i="1" dirty="0"/>
              <a:t>all </a:t>
            </a:r>
            <a:r>
              <a:rPr lang="en-NZ" sz="2000" dirty="0"/>
              <a:t>stakeholders.</a:t>
            </a:r>
            <a:endParaRPr lang="en-NZ" sz="2400" dirty="0"/>
          </a:p>
          <a:p>
            <a:pPr fontAlgn="base"/>
            <a:r>
              <a:rPr lang="en-NZ" sz="2400" dirty="0"/>
              <a:t>List potential problem areas</a:t>
            </a:r>
          </a:p>
          <a:p>
            <a:pPr lvl="1" fontAlgn="base"/>
            <a:r>
              <a:rPr lang="en-NZ" sz="2000" dirty="0"/>
              <a:t>Highlighting </a:t>
            </a:r>
            <a:r>
              <a:rPr lang="en-NZ" sz="2000" b="1" dirty="0"/>
              <a:t>risks </a:t>
            </a:r>
            <a:r>
              <a:rPr lang="en-NZ" sz="2000" dirty="0"/>
              <a:t>will help everyone think ahead, should the worst happen.</a:t>
            </a:r>
          </a:p>
          <a:p>
            <a:pPr fontAlgn="base"/>
            <a:r>
              <a:rPr lang="en-NZ" sz="2400" dirty="0"/>
              <a:t>Requirements</a:t>
            </a:r>
          </a:p>
          <a:p>
            <a:pPr lvl="1" fontAlgn="base"/>
            <a:r>
              <a:rPr lang="en-NZ" sz="1900" dirty="0"/>
              <a:t>Include software requirements review (e.g., elicitation, analysis, specification, and validation) (SWEBOK ch9 1-1)</a:t>
            </a:r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81918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lvl="0"/>
            <a:r>
              <a:rPr lang="en-NZ" sz="4000" dirty="0"/>
              <a:t>Iron Triangle (model of constraints)</a:t>
            </a:r>
            <a:endParaRPr sz="4000" dirty="0"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4195864" y="1872024"/>
            <a:ext cx="4624586" cy="41133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 </a:t>
            </a:r>
            <a:endParaRPr dirty="0"/>
          </a:p>
        </p:txBody>
      </p:sp>
      <p:sp>
        <p:nvSpPr>
          <p:cNvPr id="148" name="Google Shape;148;p17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14</a:t>
            </a:fld>
            <a:endParaRPr/>
          </a:p>
        </p:txBody>
      </p:sp>
      <p:sp>
        <p:nvSpPr>
          <p:cNvPr id="11" name="Google Shape;147;p17">
            <a:extLst>
              <a:ext uri="{FF2B5EF4-FFF2-40B4-BE49-F238E27FC236}">
                <a16:creationId xmlns:a16="http://schemas.microsoft.com/office/drawing/2014/main" id="{472D7F7B-495E-4321-B71A-E0D613D46BBE}"/>
              </a:ext>
            </a:extLst>
          </p:cNvPr>
          <p:cNvSpPr txBox="1">
            <a:spLocks/>
          </p:cNvSpPr>
          <p:nvPr/>
        </p:nvSpPr>
        <p:spPr>
          <a:xfrm>
            <a:off x="1075093" y="5415321"/>
            <a:ext cx="6531126" cy="46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7244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384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NZ" sz="2400" dirty="0">
                <a:solidFill>
                  <a:schemeClr val="bg1"/>
                </a:solidFill>
                <a:latin typeface="Arial" panose="020B0604020202020204" pitchFamily="34" charset="0"/>
              </a:rPr>
              <a:t>  Change in one side MUST affect another side)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C122BF-4F58-4F33-8F64-63B6A27EE3D7}"/>
              </a:ext>
            </a:extLst>
          </p:cNvPr>
          <p:cNvGrpSpPr/>
          <p:nvPr/>
        </p:nvGrpSpPr>
        <p:grpSpPr>
          <a:xfrm>
            <a:off x="1910092" y="1319307"/>
            <a:ext cx="4861128" cy="3531564"/>
            <a:chOff x="309519" y="1474950"/>
            <a:chExt cx="3295739" cy="2440427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4A1E6EE2-B6EB-499B-85E0-FA460FD92731}"/>
                </a:ext>
              </a:extLst>
            </p:cNvPr>
            <p:cNvSpPr/>
            <p:nvPr/>
          </p:nvSpPr>
          <p:spPr>
            <a:xfrm>
              <a:off x="912911" y="1826507"/>
              <a:ext cx="2040091" cy="18815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ladea" panose="02040503050406030204" pitchFamily="18" charset="0"/>
                </a:rPr>
                <a:t>Quality</a:t>
              </a:r>
              <a:endParaRPr lang="en-NZ" sz="2400" b="1" dirty="0">
                <a:latin typeface="Caladea" panose="020405030504060302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02D8D6-28C6-426B-A9A8-2E99A0BD9AC6}"/>
                </a:ext>
              </a:extLst>
            </p:cNvPr>
            <p:cNvSpPr txBox="1"/>
            <p:nvPr/>
          </p:nvSpPr>
          <p:spPr>
            <a:xfrm>
              <a:off x="1075093" y="1474950"/>
              <a:ext cx="2217292" cy="361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aladea" panose="02040503050406030204" pitchFamily="18" charset="0"/>
                </a:rPr>
                <a:t>Scope &amp; Resources</a:t>
              </a:r>
              <a:endParaRPr lang="en-NZ" sz="2800" b="1" dirty="0">
                <a:latin typeface="Caladea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504560-3298-4A44-B638-8DC38C559625}"/>
                </a:ext>
              </a:extLst>
            </p:cNvPr>
            <p:cNvSpPr txBox="1"/>
            <p:nvPr/>
          </p:nvSpPr>
          <p:spPr>
            <a:xfrm>
              <a:off x="309519" y="3553815"/>
              <a:ext cx="603392" cy="361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aladea" panose="02040503050406030204" pitchFamily="18" charset="0"/>
                </a:rPr>
                <a:t>Cost</a:t>
              </a:r>
              <a:endParaRPr lang="en-NZ" sz="2800" b="1" dirty="0">
                <a:latin typeface="Caladea" panose="020405030504060302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C81AD0-D5A4-44BE-931E-C5BABAA267C5}"/>
                </a:ext>
              </a:extLst>
            </p:cNvPr>
            <p:cNvSpPr txBox="1"/>
            <p:nvPr/>
          </p:nvSpPr>
          <p:spPr>
            <a:xfrm>
              <a:off x="2902967" y="3532124"/>
              <a:ext cx="702291" cy="361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aladea" panose="02040503050406030204" pitchFamily="18" charset="0"/>
                </a:rPr>
                <a:t>Time</a:t>
              </a:r>
              <a:endParaRPr lang="en-NZ" sz="2800" b="1" dirty="0">
                <a:latin typeface="Caladea" panose="02040503050406030204" pitchFamily="18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Drivers, Constraints &amp; Floats</a:t>
            </a:r>
            <a:endParaRPr sz="4000" dirty="0"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Find out your customer requirements: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wants (feature set)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when (release date) and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how good it needs to be (quality/defects)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List your environmental limitations: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Team (location, skills)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Processes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Budget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lang="en-NZ"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These limitations will dictate the scope/quality.</a:t>
            </a:r>
          </a:p>
        </p:txBody>
      </p:sp>
      <p:sp>
        <p:nvSpPr>
          <p:cNvPr id="160" name="Google Shape;160;p1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84201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Drivers, Constraints &amp; Floats (cont.)</a:t>
            </a:r>
            <a:endParaRPr sz="4000" dirty="0"/>
          </a:p>
        </p:txBody>
      </p:sp>
      <p:sp>
        <p:nvSpPr>
          <p:cNvPr id="167" name="Google Shape;167;p1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7379277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NZ" dirty="0"/>
              <a:t>From environmental limitations list start with this question:</a:t>
            </a:r>
            <a:endParaRPr lang="en-NZ" dirty="0">
              <a:highlight>
                <a:srgbClr val="FFFF00"/>
              </a:highlight>
            </a:endParaRPr>
          </a:p>
          <a:p>
            <a:pPr marL="0" lvl="0" indent="0">
              <a:buNone/>
            </a:pPr>
            <a:endParaRPr lang="en-NZ"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800" i="1" dirty="0"/>
              <a:t>What is most important for project success?</a:t>
            </a:r>
            <a:endParaRPr sz="2800" i="1"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This is the </a:t>
            </a:r>
            <a:r>
              <a:rPr lang="en-NZ" sz="2800" b="1" dirty="0"/>
              <a:t>driver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endParaRPr sz="1800" b="1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Prioritise the remaining items, and pick the top 2 or 3: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These are you real </a:t>
            </a:r>
            <a:r>
              <a:rPr lang="en-NZ" sz="2800" b="1" dirty="0"/>
              <a:t>constraints</a:t>
            </a:r>
            <a:endParaRPr sz="2800" b="1" dirty="0"/>
          </a:p>
          <a:p>
            <a:pPr lvl="0">
              <a:spcBef>
                <a:spcPts val="0"/>
              </a:spcBef>
            </a:pPr>
            <a:r>
              <a:rPr lang="en-NZ" sz="2800" dirty="0"/>
              <a:t>Your </a:t>
            </a:r>
            <a:r>
              <a:rPr lang="en-NZ" sz="2800" b="1" dirty="0"/>
              <a:t>floats </a:t>
            </a:r>
            <a:r>
              <a:rPr lang="en-NZ" sz="2800" dirty="0"/>
              <a:t>are the next few lower priority and more flexible items.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8267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Drivers, Constraints &amp; Floats (cont.)</a:t>
            </a:r>
            <a:endParaRPr sz="4000" dirty="0"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7686675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Ideally you should have:</a:t>
            </a:r>
            <a:endParaRPr i="1"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1 </a:t>
            </a:r>
            <a:r>
              <a:rPr lang="en-NZ" sz="2800" b="1" dirty="0"/>
              <a:t>driver</a:t>
            </a:r>
            <a:endParaRPr sz="2800" b="1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1</a:t>
            </a:r>
            <a:r>
              <a:rPr lang="en-NZ" sz="2800" b="1" dirty="0"/>
              <a:t> constraint</a:t>
            </a:r>
            <a:endParaRPr sz="2800" b="1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4</a:t>
            </a:r>
            <a:r>
              <a:rPr lang="en-NZ" sz="2800" b="1" dirty="0"/>
              <a:t> floats</a:t>
            </a:r>
            <a:endParaRPr sz="2800" b="1" dirty="0"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More </a:t>
            </a:r>
            <a:r>
              <a:rPr lang="en-NZ" b="1" dirty="0"/>
              <a:t>drivers </a:t>
            </a:r>
            <a:r>
              <a:rPr lang="en-NZ" dirty="0"/>
              <a:t>and </a:t>
            </a:r>
            <a:r>
              <a:rPr lang="en-NZ" b="1" dirty="0"/>
              <a:t>constraints </a:t>
            </a:r>
            <a:r>
              <a:rPr lang="en-NZ" dirty="0"/>
              <a:t>make the project </a:t>
            </a:r>
            <a:r>
              <a:rPr lang="en-NZ" b="1" dirty="0"/>
              <a:t>less </a:t>
            </a:r>
            <a:r>
              <a:rPr lang="en-NZ" dirty="0"/>
              <a:t>likely to succeed.</a:t>
            </a:r>
            <a:endParaRPr dirty="0"/>
          </a:p>
        </p:txBody>
      </p:sp>
      <p:sp>
        <p:nvSpPr>
          <p:cNvPr id="176" name="Google Shape;176;p2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Examples of Constraints</a:t>
            </a:r>
            <a:endParaRPr sz="4000" dirty="0"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Time &amp; Budget 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Interfaces to other systems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Physical Size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Laws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Pre-existing technology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User/Operator capabilities</a:t>
            </a:r>
            <a:endParaRPr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4000" dirty="0"/>
              <a:t>Other Project Initiation Processes</a:t>
            </a:r>
            <a:endParaRPr sz="4000" dirty="0"/>
          </a:p>
        </p:txBody>
      </p:sp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628650" y="89735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Assigning the project manager. 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endParaRPr sz="24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Determining the stakeholder needs expectations and high-level </a:t>
            </a:r>
            <a:r>
              <a:rPr lang="en-NZ" b="1" dirty="0"/>
              <a:t>requirements.</a:t>
            </a:r>
            <a:endParaRPr b="1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Define the project </a:t>
            </a:r>
            <a:r>
              <a:rPr lang="en-NZ" b="1" dirty="0"/>
              <a:t>success criteria.</a:t>
            </a:r>
            <a:endParaRPr b="1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Identify particular </a:t>
            </a:r>
            <a:r>
              <a:rPr lang="en-NZ" b="1" dirty="0"/>
              <a:t>budget </a:t>
            </a:r>
            <a:r>
              <a:rPr lang="en-NZ" dirty="0"/>
              <a:t>for particular stage.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Make sure that the project is </a:t>
            </a:r>
            <a:r>
              <a:rPr lang="en-NZ" b="1" dirty="0"/>
              <a:t>aligned </a:t>
            </a:r>
            <a:r>
              <a:rPr lang="en-NZ" dirty="0"/>
              <a:t>with the organisation's strategic goal.</a:t>
            </a:r>
            <a:endParaRPr dirty="0"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2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Requirements</a:t>
            </a:r>
            <a:endParaRPr sz="4000" dirty="0"/>
          </a:p>
        </p:txBody>
      </p:sp>
      <p:sp>
        <p:nvSpPr>
          <p:cNvPr id="199" name="Google Shape;199;p23"/>
          <p:cNvSpPr txBox="1">
            <a:spLocks noGrp="1"/>
          </p:cNvSpPr>
          <p:nvPr>
            <p:ph type="body" idx="1"/>
          </p:nvPr>
        </p:nvSpPr>
        <p:spPr>
          <a:xfrm>
            <a:off x="750793" y="1025050"/>
            <a:ext cx="7764557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State system </a:t>
            </a:r>
            <a:r>
              <a:rPr lang="en-NZ" b="1" dirty="0"/>
              <a:t>performance, </a:t>
            </a:r>
            <a:r>
              <a:rPr lang="en-NZ" dirty="0"/>
              <a:t>or “what‐is‐necessary”. 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Not </a:t>
            </a:r>
            <a:r>
              <a:rPr lang="en-NZ" b="1" i="1" dirty="0"/>
              <a:t>how</a:t>
            </a:r>
            <a:r>
              <a:rPr lang="en-NZ" dirty="0"/>
              <a:t> to perform a task, unless it’s  necessary for the proper functioning of the product.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Should be expressed in a </a:t>
            </a:r>
            <a:r>
              <a:rPr lang="en-NZ" b="1" dirty="0"/>
              <a:t>positive </a:t>
            </a:r>
            <a:r>
              <a:rPr lang="en-NZ" dirty="0"/>
              <a:t>way. 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Be a </a:t>
            </a:r>
            <a:r>
              <a:rPr lang="en-NZ" b="1" dirty="0"/>
              <a:t>complete sentence</a:t>
            </a:r>
            <a:r>
              <a:rPr lang="en-NZ" dirty="0"/>
              <a:t> (with a verb and a noun).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2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Requirements (cont.)</a:t>
            </a:r>
            <a:endParaRPr sz="4000" dirty="0"/>
          </a:p>
        </p:txBody>
      </p:sp>
      <p:sp>
        <p:nvSpPr>
          <p:cNvPr id="207" name="Google Shape;207;p24"/>
          <p:cNvSpPr txBox="1">
            <a:spLocks noGrp="1"/>
          </p:cNvSpPr>
          <p:nvPr>
            <p:ph type="body" idx="1"/>
          </p:nvPr>
        </p:nvSpPr>
        <p:spPr>
          <a:xfrm>
            <a:off x="730511" y="1034575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dirty="0"/>
              <a:t>A well-formed requirement is a statement that: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is </a:t>
            </a:r>
            <a:r>
              <a:rPr lang="en-NZ" sz="2800" b="1" dirty="0"/>
              <a:t>verifiable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endParaRPr sz="2800" b="1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b="1" dirty="0"/>
              <a:t>solves </a:t>
            </a:r>
            <a:r>
              <a:rPr lang="en-NZ" sz="2800" dirty="0"/>
              <a:t>a stakeholder </a:t>
            </a:r>
            <a:r>
              <a:rPr lang="en-NZ" sz="2800" b="1" dirty="0"/>
              <a:t>problems</a:t>
            </a:r>
            <a:r>
              <a:rPr lang="en-NZ" sz="2800" dirty="0"/>
              <a:t>/objectives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is </a:t>
            </a:r>
            <a:r>
              <a:rPr lang="en-NZ" sz="2800" b="1" dirty="0"/>
              <a:t>measurable </a:t>
            </a:r>
            <a:r>
              <a:rPr lang="en-NZ" sz="2800" dirty="0"/>
              <a:t>and bounded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defines </a:t>
            </a:r>
            <a:r>
              <a:rPr lang="en-NZ" sz="2800" b="1" dirty="0"/>
              <a:t>performance </a:t>
            </a:r>
            <a:r>
              <a:rPr lang="en-NZ" sz="2800" dirty="0"/>
              <a:t>of a system under </a:t>
            </a:r>
            <a:r>
              <a:rPr lang="en-NZ" sz="2800" i="1" dirty="0"/>
              <a:t>specific </a:t>
            </a:r>
            <a:r>
              <a:rPr lang="en-NZ" sz="2800" dirty="0"/>
              <a:t>conditions but does </a:t>
            </a:r>
            <a:r>
              <a:rPr lang="en-NZ" sz="2800" b="1" dirty="0"/>
              <a:t>not </a:t>
            </a:r>
            <a:r>
              <a:rPr lang="en-NZ" sz="2800" dirty="0"/>
              <a:t>define the capability of the </a:t>
            </a:r>
            <a:r>
              <a:rPr lang="en-NZ" sz="2800" i="1" dirty="0"/>
              <a:t>user</a:t>
            </a:r>
            <a:r>
              <a:rPr lang="en-NZ" sz="2800" dirty="0"/>
              <a:t>, </a:t>
            </a:r>
            <a:r>
              <a:rPr lang="en-NZ" sz="2800" i="1" dirty="0"/>
              <a:t>operator</a:t>
            </a:r>
            <a:r>
              <a:rPr lang="en-NZ" sz="2800" dirty="0"/>
              <a:t>, or </a:t>
            </a:r>
            <a:r>
              <a:rPr lang="en-NZ" sz="2800" i="1" dirty="0"/>
              <a:t>other stakeholder</a:t>
            </a:r>
            <a:r>
              <a:rPr lang="en-NZ" sz="2800" dirty="0"/>
              <a:t>.  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2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Requirements (cont.)</a:t>
            </a:r>
            <a:endParaRPr sz="4000"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7172325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According to </a:t>
            </a:r>
            <a:r>
              <a:rPr lang="en-NZ" b="1" dirty="0"/>
              <a:t>ISO/IEC/IEEE 29148:2018</a:t>
            </a:r>
            <a:r>
              <a:rPr lang="en-NZ" dirty="0"/>
              <a:t>, must be:</a:t>
            </a:r>
            <a:endParaRPr dirty="0"/>
          </a:p>
          <a:p>
            <a:pPr marL="457200" lvl="0" indent="-47244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necessary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implementation-free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unambiguous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consistent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singular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feasible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traceable</a:t>
            </a:r>
          </a:p>
          <a:p>
            <a:pPr marL="457200" lvl="0" indent="-472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Verifiable</a:t>
            </a:r>
          </a:p>
          <a:p>
            <a:pPr marL="3200400" lvl="0" indent="457200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  </a:t>
            </a:r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20D2-B0D6-487D-8860-28D6F581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3600" dirty="0"/>
              <a:t>SWEBOK - Software Requirements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83A49-9FCD-4B12-940F-560030EED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Formally, a software requirement has been defined as:</a:t>
            </a:r>
          </a:p>
          <a:p>
            <a:pPr lvl="1"/>
            <a:r>
              <a:rPr lang="en-NZ" dirty="0"/>
              <a:t>a condition or capability needed by a user to solve a problem or achieve an objective;</a:t>
            </a:r>
          </a:p>
          <a:p>
            <a:pPr lvl="1"/>
            <a:r>
              <a:rPr lang="en-NZ" dirty="0"/>
              <a:t>a condition or capability that must be met or possessed by a system or system component to satisfy a contract, standard, specification or other formally imposed document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1B375-E28A-4E15-9649-4994C8F20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23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86235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579A-4A03-4587-AA52-F0C0A985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3200" dirty="0"/>
              <a:t>SWEBOK - Software Requirements (cont.)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7E7B7-2C19-4B22-8DDF-8320A466C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2E7B1-5FE4-4DAC-94F4-FDEFB05725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24</a:t>
            </a:fld>
            <a:endParaRPr lang="en-NZ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BDB3C-B0C3-4EFF-B066-C91BC6467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779"/>
            <a:ext cx="9144000" cy="47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91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25</a:t>
            </a:fld>
            <a:endParaRPr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B35F6B-A5F5-4566-8A75-4D8794100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1295029"/>
              </p:ext>
            </p:extLst>
          </p:nvPr>
        </p:nvGraphicFramePr>
        <p:xfrm>
          <a:off x="421578" y="166982"/>
          <a:ext cx="8300843" cy="5556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72E73D-1D6D-4DF1-9B5F-3A35847C4BF9}"/>
              </a:ext>
            </a:extLst>
          </p:cNvPr>
          <p:cNvSpPr txBox="1"/>
          <p:nvPr/>
        </p:nvSpPr>
        <p:spPr>
          <a:xfrm>
            <a:off x="3232727" y="2616944"/>
            <a:ext cx="2663247" cy="10772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Requirement Types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Language of Requirements</a:t>
            </a:r>
            <a:endParaRPr sz="4000" dirty="0"/>
          </a:p>
        </p:txBody>
      </p:sp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303275" y="1044100"/>
            <a:ext cx="740245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Use </a:t>
            </a:r>
            <a:r>
              <a:rPr lang="en-NZ" i="1" dirty="0"/>
              <a:t>“</a:t>
            </a:r>
            <a:r>
              <a:rPr lang="en-NZ" b="1" i="1" dirty="0"/>
              <a:t>shall</a:t>
            </a:r>
            <a:r>
              <a:rPr lang="en-NZ" i="1" dirty="0"/>
              <a:t>”</a:t>
            </a:r>
            <a:r>
              <a:rPr lang="en-NZ" dirty="0"/>
              <a:t> for requirements.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Use “</a:t>
            </a:r>
            <a:r>
              <a:rPr lang="en-NZ" b="1" i="1" dirty="0"/>
              <a:t>should</a:t>
            </a:r>
            <a:r>
              <a:rPr lang="en-NZ" dirty="0"/>
              <a:t>” for recommendations/ preferences.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Use “</a:t>
            </a:r>
            <a:r>
              <a:rPr lang="en-NZ" b="1" i="1" dirty="0"/>
              <a:t>may</a:t>
            </a:r>
            <a:r>
              <a:rPr lang="en-NZ" dirty="0"/>
              <a:t>” for permissions/suggestions.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Use “</a:t>
            </a:r>
            <a:r>
              <a:rPr lang="en-NZ" b="1" i="1" dirty="0"/>
              <a:t>can</a:t>
            </a:r>
            <a:r>
              <a:rPr lang="en-NZ" dirty="0"/>
              <a:t>” for possibilities or capabilities.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Use of “</a:t>
            </a:r>
            <a:r>
              <a:rPr lang="en-NZ" b="1" i="1" dirty="0"/>
              <a:t>will</a:t>
            </a:r>
            <a:r>
              <a:rPr lang="en-NZ" dirty="0"/>
              <a:t>” should be avoided for legal reasons.</a:t>
            </a:r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27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>
            <a:spLocks noGrp="1"/>
          </p:cNvSpPr>
          <p:nvPr>
            <p:ph type="title"/>
          </p:nvPr>
        </p:nvSpPr>
        <p:spPr>
          <a:xfrm>
            <a:off x="628649" y="-15875"/>
            <a:ext cx="8353426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Language of Requirements – Avoid:</a:t>
            </a:r>
            <a:endParaRPr sz="4000" dirty="0"/>
          </a:p>
        </p:txBody>
      </p:sp>
      <p:sp>
        <p:nvSpPr>
          <p:cNvPr id="239" name="Google Shape;239;p28"/>
          <p:cNvSpPr txBox="1">
            <a:spLocks noGrp="1"/>
          </p:cNvSpPr>
          <p:nvPr>
            <p:ph type="body" idx="1"/>
          </p:nvPr>
        </p:nvSpPr>
        <p:spPr>
          <a:xfrm>
            <a:off x="-2011373" y="711200"/>
            <a:ext cx="4379023" cy="217078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8260" lvl="0" indent="0" algn="l" rtl="0">
              <a:spcBef>
                <a:spcPts val="750"/>
              </a:spcBef>
              <a:spcAft>
                <a:spcPts val="0"/>
              </a:spcAft>
              <a:buSzPts val="2840"/>
              <a:buNone/>
            </a:pPr>
            <a:endParaRPr dirty="0"/>
          </a:p>
          <a:p>
            <a:pPr marL="457200" lvl="0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▪"/>
            </a:pPr>
            <a:endParaRPr dirty="0"/>
          </a:p>
          <a:p>
            <a:pPr marL="457200" lvl="0" indent="-408940" algn="l" rtl="0">
              <a:spcBef>
                <a:spcPts val="0"/>
              </a:spcBef>
              <a:spcAft>
                <a:spcPts val="0"/>
              </a:spcAft>
              <a:buSzPts val="2840"/>
              <a:buFont typeface="Noto Sans Symbols"/>
              <a:buChar char="▪"/>
            </a:pPr>
            <a:endParaRPr dirty="0"/>
          </a:p>
        </p:txBody>
      </p:sp>
      <p:sp>
        <p:nvSpPr>
          <p:cNvPr id="240" name="Google Shape;240;p2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NZ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B30BE1-190A-4EF5-BFB6-8F0BDD220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98988"/>
              </p:ext>
            </p:extLst>
          </p:nvPr>
        </p:nvGraphicFramePr>
        <p:xfrm>
          <a:off x="991966" y="1082542"/>
          <a:ext cx="7440257" cy="44500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70798">
                  <a:extLst>
                    <a:ext uri="{9D8B030D-6E8A-4147-A177-3AD203B41FA5}">
                      <a16:colId xmlns:a16="http://schemas.microsoft.com/office/drawing/2014/main" val="3366753182"/>
                    </a:ext>
                  </a:extLst>
                </a:gridCol>
                <a:gridCol w="3869459">
                  <a:extLst>
                    <a:ext uri="{9D8B030D-6E8A-4147-A177-3AD203B41FA5}">
                      <a16:colId xmlns:a16="http://schemas.microsoft.com/office/drawing/2014/main" val="169261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61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Open-ended statements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shall be included but not limited to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53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Loopholes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relevant, necessary, appropriate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2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Ambiguity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 far as possible, optimise, minimise, maximise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47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Vagueness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typical, satisfactory, adequate, sufficient, enough, suitable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473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Subjectivity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rapid, quick, user‐friendly, easy, small, 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3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Superlatives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great, first rate, best possible, state of the 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0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sz="24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Negativity</a:t>
                      </a:r>
                      <a:endParaRPr lang="en-US" sz="24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sz="18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don’t specify what you don’t need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6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Examples of Requirements</a:t>
            </a:r>
            <a:endParaRPr sz="4000" dirty="0"/>
          </a:p>
        </p:txBody>
      </p:sp>
      <p:sp>
        <p:nvSpPr>
          <p:cNvPr id="247" name="Google Shape;247;p2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sz="2800" b="1" dirty="0">
                <a:solidFill>
                  <a:srgbClr val="FF0000"/>
                </a:solidFill>
              </a:rPr>
              <a:t>[Condition] [Subject] [Action] [Object] [Constraint]</a:t>
            </a:r>
            <a:endParaRPr sz="28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sz="2200" dirty="0"/>
              <a:t>When signal x is received </a:t>
            </a:r>
            <a:r>
              <a:rPr lang="en-NZ" sz="2200" b="1" dirty="0"/>
              <a:t>[Condition]</a:t>
            </a:r>
            <a:r>
              <a:rPr lang="en-NZ" sz="2200" dirty="0"/>
              <a:t>, the system </a:t>
            </a:r>
            <a:r>
              <a:rPr lang="en-NZ" sz="2200" b="1" dirty="0"/>
              <a:t>[Subject]</a:t>
            </a:r>
            <a:r>
              <a:rPr lang="en-NZ" sz="2200" dirty="0"/>
              <a:t> shall set </a:t>
            </a:r>
            <a:r>
              <a:rPr lang="en-NZ" sz="2200" b="1" dirty="0"/>
              <a:t>[Action]</a:t>
            </a:r>
            <a:r>
              <a:rPr lang="en-NZ" sz="2200" dirty="0"/>
              <a:t> the signal x received bit </a:t>
            </a:r>
            <a:r>
              <a:rPr lang="en-NZ" sz="2200" b="1" dirty="0"/>
              <a:t>[Object] </a:t>
            </a:r>
            <a:r>
              <a:rPr lang="en-NZ" sz="2200" dirty="0"/>
              <a:t>within 2 seconds </a:t>
            </a:r>
            <a:r>
              <a:rPr lang="en-NZ" sz="2200" b="1" dirty="0"/>
              <a:t>[Constraint]</a:t>
            </a:r>
            <a:r>
              <a:rPr lang="en-NZ" sz="2200" dirty="0"/>
              <a:t>.</a:t>
            </a:r>
            <a:endParaRPr sz="2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sz="2800" b="1" dirty="0">
                <a:solidFill>
                  <a:srgbClr val="FF0000"/>
                </a:solidFill>
              </a:rPr>
              <a:t>[Condition] [Action or Constraint] [Value]</a:t>
            </a:r>
            <a:endParaRPr sz="28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200" dirty="0"/>
              <a:t>At sea state 1 </a:t>
            </a:r>
            <a:r>
              <a:rPr lang="en-NZ" sz="2200" b="1" dirty="0"/>
              <a:t>[Condition]</a:t>
            </a:r>
            <a:r>
              <a:rPr lang="en-NZ" sz="2200" dirty="0"/>
              <a:t>, the Radar System shall detect targets at ranges out to </a:t>
            </a:r>
            <a:r>
              <a:rPr lang="en-NZ" sz="2200" b="1" dirty="0"/>
              <a:t>[Action or Constraint]</a:t>
            </a:r>
            <a:r>
              <a:rPr lang="en-NZ" sz="2200" dirty="0"/>
              <a:t> 100 nautical miles </a:t>
            </a:r>
            <a:r>
              <a:rPr lang="en-NZ" sz="2200" b="1" dirty="0"/>
              <a:t>[Value]</a:t>
            </a:r>
            <a:r>
              <a:rPr lang="en-NZ" sz="2200" dirty="0"/>
              <a:t>.</a:t>
            </a:r>
            <a:endParaRPr sz="2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sz="2800" b="1" dirty="0">
                <a:solidFill>
                  <a:srgbClr val="FF0000"/>
                </a:solidFill>
              </a:rPr>
              <a:t>[Subject] [Action] [Value]</a:t>
            </a:r>
            <a:endParaRPr sz="28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sz="2200" dirty="0"/>
              <a:t>The Invoice System </a:t>
            </a:r>
            <a:r>
              <a:rPr lang="en-NZ" sz="2200" b="1" dirty="0"/>
              <a:t>[Subject]</a:t>
            </a:r>
            <a:r>
              <a:rPr lang="en-NZ" sz="2200" dirty="0"/>
              <a:t>, shall display pending customer invoices </a:t>
            </a:r>
            <a:r>
              <a:rPr lang="en-NZ" sz="2200" b="1" dirty="0"/>
              <a:t>[Action]</a:t>
            </a:r>
            <a:r>
              <a:rPr lang="en-NZ" sz="2200" dirty="0"/>
              <a:t> in ascending order </a:t>
            </a:r>
            <a:r>
              <a:rPr lang="en-NZ" sz="2200" b="1" dirty="0"/>
              <a:t>[Value]</a:t>
            </a:r>
            <a:r>
              <a:rPr lang="en-NZ" sz="2200" dirty="0"/>
              <a:t> in which invoices are to be paid.</a:t>
            </a:r>
            <a:endParaRPr sz="2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248" name="Google Shape;248;p2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0"/>
          <p:cNvSpPr txBox="1">
            <a:spLocks noGrp="1"/>
          </p:cNvSpPr>
          <p:nvPr>
            <p:ph type="title"/>
          </p:nvPr>
        </p:nvSpPr>
        <p:spPr>
          <a:xfrm>
            <a:off x="628650" y="203469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Software Life Cycle  </a:t>
            </a:r>
            <a:br>
              <a:rPr lang="en-NZ" sz="4000" dirty="0"/>
            </a:br>
            <a:r>
              <a:rPr lang="en-NZ" sz="4000" dirty="0"/>
              <a:t>Step 2: Planning</a:t>
            </a:r>
            <a:endParaRPr sz="4000" dirty="0"/>
          </a:p>
        </p:txBody>
      </p:sp>
      <p:sp>
        <p:nvSpPr>
          <p:cNvPr id="587" name="Google Shape;587;p70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 </a:t>
            </a:r>
            <a:endParaRPr dirty="0"/>
          </a:p>
        </p:txBody>
      </p:sp>
      <p:sp>
        <p:nvSpPr>
          <p:cNvPr id="588" name="Google Shape;588;p7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29</a:t>
            </a:fld>
            <a:endParaRPr/>
          </a:p>
        </p:txBody>
      </p:sp>
      <p:pic>
        <p:nvPicPr>
          <p:cNvPr id="589" name="Google Shape;5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5" y="1434250"/>
            <a:ext cx="8820450" cy="39357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B213A4-3AFD-48CC-9B9C-C1A299E551E1}"/>
              </a:ext>
            </a:extLst>
          </p:cNvPr>
          <p:cNvSpPr/>
          <p:nvPr/>
        </p:nvSpPr>
        <p:spPr>
          <a:xfrm>
            <a:off x="3084946" y="1963017"/>
            <a:ext cx="2040180" cy="21042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AB90C4-EC4C-4114-B35A-DBA8080431B6}"/>
              </a:ext>
            </a:extLst>
          </p:cNvPr>
          <p:cNvSpPr/>
          <p:nvPr/>
        </p:nvSpPr>
        <p:spPr>
          <a:xfrm rot="1538408">
            <a:off x="2377288" y="1849697"/>
            <a:ext cx="862893" cy="5151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BFD95-573B-4F72-A825-727AED43157F}"/>
              </a:ext>
            </a:extLst>
          </p:cNvPr>
          <p:cNvSpPr txBox="1"/>
          <p:nvPr/>
        </p:nvSpPr>
        <p:spPr>
          <a:xfrm>
            <a:off x="1562206" y="1525038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are here…</a:t>
            </a:r>
            <a:endParaRPr lang="en-NZ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lvl="0"/>
            <a:r>
              <a:rPr lang="en-NZ" sz="4000" dirty="0"/>
              <a:t>2. Project Planning</a:t>
            </a:r>
            <a:endParaRPr sz="4000" dirty="0"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>
            <a:off x="628650" y="887082"/>
            <a:ext cx="7711786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Definition</a:t>
            </a:r>
            <a:br>
              <a:rPr lang="en-NZ" b="1" dirty="0"/>
            </a:br>
            <a:r>
              <a:rPr lang="en-NZ" dirty="0"/>
              <a:t>To enable tracking of process and increasing collaboration.  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Purpose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NZ" dirty="0"/>
              <a:t>To determines the scope of the project as well as the objective of the project.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Main Activities</a:t>
            </a:r>
            <a:endParaRPr b="1"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US" dirty="0"/>
              <a:t>System analysis and design. </a:t>
            </a:r>
            <a:endParaRPr dirty="0"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9630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/>
            <a:r>
              <a:rPr lang="en-NZ" sz="4000" dirty="0"/>
              <a:t>System Analysis Activities</a:t>
            </a:r>
            <a:endParaRPr sz="4000" dirty="0"/>
          </a:p>
        </p:txBody>
      </p:sp>
      <p:sp>
        <p:nvSpPr>
          <p:cNvPr id="571" name="Google Shape;571;p6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Define the system analysis strategy 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Identify analysis needs &amp; stakeholders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Define scope, objectives, fidelity</a:t>
            </a:r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Perform the analysis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Identify/validate contexts/assumptions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Review for quality/validity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Establish conclusions &amp; recommendations</a:t>
            </a:r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Manage the results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Maintain traceability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Establish baselines</a:t>
            </a:r>
            <a:endParaRPr dirty="0"/>
          </a:p>
        </p:txBody>
      </p:sp>
      <p:sp>
        <p:nvSpPr>
          <p:cNvPr id="572" name="Google Shape;572;p6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4000" dirty="0"/>
              <a:t>System Analysis Outcomes</a:t>
            </a:r>
            <a:endParaRPr sz="4000" dirty="0"/>
          </a:p>
        </p:txBody>
      </p:sp>
      <p:sp>
        <p:nvSpPr>
          <p:cNvPr id="579" name="Google Shape;579;p6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9740" algn="l" rtl="0">
              <a:spcBef>
                <a:spcPts val="750"/>
              </a:spcBef>
              <a:spcAft>
                <a:spcPts val="0"/>
              </a:spcAft>
              <a:buSzPts val="3640"/>
              <a:buChar char="▪"/>
            </a:pPr>
            <a:r>
              <a:rPr lang="en-NZ" sz="3000" dirty="0"/>
              <a:t>System </a:t>
            </a:r>
            <a:r>
              <a:rPr lang="en-NZ" sz="3000" i="1" dirty="0"/>
              <a:t>analyses</a:t>
            </a:r>
            <a:r>
              <a:rPr lang="en-NZ" sz="3000" dirty="0"/>
              <a:t> </a:t>
            </a:r>
            <a:r>
              <a:rPr lang="en-NZ" sz="3000" b="1" dirty="0"/>
              <a:t>needs </a:t>
            </a:r>
            <a:r>
              <a:rPr lang="en-NZ" sz="3000" dirty="0"/>
              <a:t>are identified. </a:t>
            </a:r>
          </a:p>
          <a:p>
            <a:pPr marL="457200" lvl="0" indent="-459740" algn="l" rtl="0">
              <a:spcBef>
                <a:spcPts val="750"/>
              </a:spcBef>
              <a:spcAft>
                <a:spcPts val="0"/>
              </a:spcAft>
              <a:buSzPts val="3640"/>
              <a:buChar char="▪"/>
            </a:pPr>
            <a:endParaRPr sz="3000" dirty="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dirty="0"/>
              <a:t>Assumptions and results are </a:t>
            </a:r>
            <a:r>
              <a:rPr lang="en-NZ" sz="3000" b="1" dirty="0"/>
              <a:t>validated</a:t>
            </a:r>
            <a:r>
              <a:rPr lang="en-NZ" sz="3000" dirty="0"/>
              <a:t>. </a:t>
            </a:r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endParaRPr sz="3000" dirty="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dirty="0"/>
              <a:t>Results are provided to help make </a:t>
            </a:r>
            <a:r>
              <a:rPr lang="en-NZ" sz="3000" b="1" dirty="0"/>
              <a:t>decisions</a:t>
            </a:r>
            <a:r>
              <a:rPr lang="en-NZ" sz="3000" dirty="0"/>
              <a:t>. </a:t>
            </a:r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endParaRPr sz="3000" dirty="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dirty="0"/>
              <a:t>Any </a:t>
            </a:r>
            <a:r>
              <a:rPr lang="en-NZ" sz="3000" b="1" dirty="0"/>
              <a:t>enabling systems </a:t>
            </a:r>
            <a:r>
              <a:rPr lang="en-NZ" sz="3000" dirty="0"/>
              <a:t>or </a:t>
            </a:r>
            <a:r>
              <a:rPr lang="en-NZ" sz="3000" b="1" dirty="0"/>
              <a:t>services </a:t>
            </a:r>
            <a:r>
              <a:rPr lang="en-NZ" sz="3000" dirty="0"/>
              <a:t>needed for the analysis are made available. </a:t>
            </a:r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endParaRPr sz="3000" dirty="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b="1" dirty="0"/>
              <a:t>Traceability </a:t>
            </a:r>
            <a:r>
              <a:rPr lang="en-NZ" sz="3000" dirty="0"/>
              <a:t>of the </a:t>
            </a:r>
            <a:r>
              <a:rPr lang="en-NZ" sz="3000" b="1" dirty="0"/>
              <a:t>results </a:t>
            </a:r>
            <a:r>
              <a:rPr lang="en-NZ" sz="3000" dirty="0"/>
              <a:t>is established.</a:t>
            </a:r>
            <a:endParaRPr sz="30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580" name="Google Shape;580;p6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0"/>
          <p:cNvSpPr txBox="1">
            <a:spLocks noGrp="1"/>
          </p:cNvSpPr>
          <p:nvPr>
            <p:ph type="title"/>
          </p:nvPr>
        </p:nvSpPr>
        <p:spPr>
          <a:xfrm>
            <a:off x="628650" y="158616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Software Life Cycle</a:t>
            </a:r>
            <a:br>
              <a:rPr lang="en-NZ" sz="4000" dirty="0"/>
            </a:br>
            <a:r>
              <a:rPr lang="en-NZ" sz="4000" dirty="0"/>
              <a:t>Step 3. Execution</a:t>
            </a:r>
            <a:endParaRPr sz="4000" dirty="0"/>
          </a:p>
        </p:txBody>
      </p:sp>
      <p:sp>
        <p:nvSpPr>
          <p:cNvPr id="587" name="Google Shape;587;p70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588" name="Google Shape;588;p7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33</a:t>
            </a:fld>
            <a:endParaRPr/>
          </a:p>
        </p:txBody>
      </p:sp>
      <p:pic>
        <p:nvPicPr>
          <p:cNvPr id="589" name="Google Shape;5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5" y="1434250"/>
            <a:ext cx="8820450" cy="393577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2EB1D7-A56B-4E40-B743-E5CEA3EF603C}"/>
              </a:ext>
            </a:extLst>
          </p:cNvPr>
          <p:cNvSpPr/>
          <p:nvPr/>
        </p:nvSpPr>
        <p:spPr>
          <a:xfrm>
            <a:off x="4821381" y="1970615"/>
            <a:ext cx="2004292" cy="24291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B1664FA-BEA1-40CF-81DA-AFC26028B8F2}"/>
              </a:ext>
            </a:extLst>
          </p:cNvPr>
          <p:cNvSpPr/>
          <p:nvPr/>
        </p:nvSpPr>
        <p:spPr>
          <a:xfrm rot="1538408">
            <a:off x="3472524" y="1943503"/>
            <a:ext cx="1427173" cy="2787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4E486-5992-4D34-A1E8-560C74C2D1E1}"/>
              </a:ext>
            </a:extLst>
          </p:cNvPr>
          <p:cNvSpPr txBox="1"/>
          <p:nvPr/>
        </p:nvSpPr>
        <p:spPr>
          <a:xfrm>
            <a:off x="2101970" y="1580048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are here…</a:t>
            </a:r>
            <a:endParaRPr lang="en-NZ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698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Step 3. Project Execution</a:t>
            </a:r>
            <a:endParaRPr sz="4000" dirty="0"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>
            <a:off x="628650" y="753732"/>
            <a:ext cx="7711786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NZ" b="1" dirty="0"/>
              <a:t>Definition</a:t>
            </a:r>
            <a:br>
              <a:rPr lang="en-NZ" b="1" dirty="0"/>
            </a:br>
            <a:r>
              <a:rPr lang="en-NZ" dirty="0"/>
              <a:t>Consists of those activities that are defined in project management plan (action time). 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Purpose</a:t>
            </a:r>
          </a:p>
          <a:p>
            <a:r>
              <a:rPr lang="en-NZ" sz="2800" dirty="0"/>
              <a:t>Managing stakeholder expectations.</a:t>
            </a:r>
          </a:p>
          <a:p>
            <a:r>
              <a:rPr lang="en-NZ" sz="2800" dirty="0"/>
              <a:t>Coordinating people and resources.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NZ" sz="1600" b="1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Main Activities</a:t>
            </a:r>
            <a:endParaRPr b="1"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US" sz="2800" dirty="0"/>
              <a:t>Observe development, test and validation.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US" sz="2800" dirty="0"/>
              <a:t> Make sure deployment are up-to-date. 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endParaRPr dirty="0"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2272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6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Development/Implementation</a:t>
            </a:r>
            <a:endParaRPr sz="4000" dirty="0"/>
          </a:p>
        </p:txBody>
      </p:sp>
      <p:sp>
        <p:nvSpPr>
          <p:cNvPr id="636" name="Google Shape;636;p76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To realise the software/system elements which satisfy the requirements.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Includes various methods of construction: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Newly built software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Re-use (with or without modification)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Acquisition (e.g. Open Source)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7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Testing – Integration </a:t>
            </a:r>
            <a:endParaRPr sz="4000" dirty="0"/>
          </a:p>
        </p:txBody>
      </p:sp>
      <p:sp>
        <p:nvSpPr>
          <p:cNvPr id="660" name="Google Shape;660;p7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Purpose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To synthesise a set of system elements into a realised system (product or service) that satisfies system/software requirements, architecture, and design. 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1" name="Google Shape;661;p7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36</a:t>
            </a:fld>
            <a:endParaRPr/>
          </a:p>
        </p:txBody>
      </p:sp>
      <p:pic>
        <p:nvPicPr>
          <p:cNvPr id="1026" name="Picture 2" descr="Web design, web development, mobile apps, SEO | Msquare Technologies">
            <a:extLst>
              <a:ext uri="{FF2B5EF4-FFF2-40B4-BE49-F238E27FC236}">
                <a16:creationId xmlns:a16="http://schemas.microsoft.com/office/drawing/2014/main" id="{7BF34F9D-3603-4C10-BBD4-541745F42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55366"/>
            <a:ext cx="4972050" cy="255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25C4C1-1ED1-41F3-89F6-592C957695D4}"/>
              </a:ext>
            </a:extLst>
          </p:cNvPr>
          <p:cNvSpPr/>
          <p:nvPr/>
        </p:nvSpPr>
        <p:spPr>
          <a:xfrm>
            <a:off x="85871" y="6312922"/>
            <a:ext cx="509587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S</a:t>
            </a:r>
            <a:r>
              <a:rPr lang="en-NZ" sz="800" dirty="0" err="1"/>
              <a:t>ource</a:t>
            </a:r>
            <a:r>
              <a:rPr lang="en-NZ" sz="800" dirty="0"/>
              <a:t>: </a:t>
            </a:r>
            <a:r>
              <a:rPr lang="en-NZ" sz="800" dirty="0">
                <a:hlinkClick r:id="rId4"/>
              </a:rPr>
              <a:t>https://www.spoclearn.com/dz/devops-courses</a:t>
            </a:r>
            <a:r>
              <a:rPr lang="en-NZ" sz="800" dirty="0"/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Testing – Verification  </a:t>
            </a:r>
            <a:endParaRPr sz="4000" dirty="0"/>
          </a:p>
        </p:txBody>
      </p:sp>
      <p:sp>
        <p:nvSpPr>
          <p:cNvPr id="684" name="Google Shape;684;p82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7820025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Purpose</a:t>
            </a:r>
            <a:endParaRPr dirty="0"/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sz="2800" dirty="0"/>
              <a:t>To provide objective evidence that a system or system element fulfils its specified requirements and characteristics. 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5" name="Google Shape;685;p8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E50FDB-23E5-4ACC-8BB1-0BC0D7C3C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119" y="2943225"/>
            <a:ext cx="4887044" cy="2719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97938F-6802-478F-B48C-7EA11829E2E2}"/>
              </a:ext>
            </a:extLst>
          </p:cNvPr>
          <p:cNvSpPr/>
          <p:nvPr/>
        </p:nvSpPr>
        <p:spPr>
          <a:xfrm>
            <a:off x="0" y="6241086"/>
            <a:ext cx="46474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/>
              <a:t>Image S</a:t>
            </a:r>
            <a:r>
              <a:rPr lang="en-NZ" sz="800" dirty="0" err="1"/>
              <a:t>ource</a:t>
            </a:r>
            <a:r>
              <a:rPr lang="en-NZ" sz="800" dirty="0"/>
              <a:t>: </a:t>
            </a:r>
            <a:r>
              <a:rPr lang="en-NZ" sz="800" dirty="0">
                <a:hlinkClick r:id="rId4"/>
              </a:rPr>
              <a:t>https://www.lambdatest.com/blog/test-verification-vs-validation-in-website-testing/</a:t>
            </a:r>
            <a:r>
              <a:rPr lang="en-NZ" sz="800" dirty="0"/>
              <a:t>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Testing – Verification Activities</a:t>
            </a:r>
            <a:endParaRPr sz="4000" dirty="0"/>
          </a:p>
        </p:txBody>
      </p:sp>
      <p:sp>
        <p:nvSpPr>
          <p:cNvPr id="692" name="Google Shape;692;p8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Define verification strategy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800" dirty="0"/>
              <a:t>Scope, properties, expectations, priority</a:t>
            </a:r>
            <a:endParaRPr sz="2800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Define &amp; execute verification procedures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lang="en-NZ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Manage results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800" dirty="0"/>
              <a:t>Anomalies &amp; follow-up actions</a:t>
            </a:r>
            <a:endParaRPr sz="2800"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800" dirty="0"/>
              <a:t>Incidents/problems, resolution tracking</a:t>
            </a:r>
            <a:endParaRPr sz="2800"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800" dirty="0"/>
              <a:t>Stakeholder agreement</a:t>
            </a:r>
            <a:endParaRPr sz="2800"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800" dirty="0"/>
              <a:t>Maintain traceability</a:t>
            </a:r>
            <a:endParaRPr sz="2800"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sz="2800" dirty="0"/>
              <a:t>Baseline data</a:t>
            </a:r>
            <a:endParaRPr sz="2800" dirty="0"/>
          </a:p>
        </p:txBody>
      </p:sp>
      <p:sp>
        <p:nvSpPr>
          <p:cNvPr id="693" name="Google Shape;693;p8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8"/>
          <p:cNvSpPr txBox="1">
            <a:spLocks noGrp="1"/>
          </p:cNvSpPr>
          <p:nvPr>
            <p:ph type="title"/>
          </p:nvPr>
        </p:nvSpPr>
        <p:spPr>
          <a:xfrm>
            <a:off x="628650" y="285600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br>
              <a:rPr lang="en-NZ" sz="4000" dirty="0"/>
            </a:br>
            <a:r>
              <a:rPr lang="en-NZ" sz="4000" dirty="0"/>
              <a:t>Deployment – Validation  </a:t>
            </a:r>
            <a:endParaRPr sz="4000" dirty="0"/>
          </a:p>
        </p:txBody>
      </p:sp>
      <p:sp>
        <p:nvSpPr>
          <p:cNvPr id="732" name="Google Shape;732;p88"/>
          <p:cNvSpPr txBox="1">
            <a:spLocks noGrp="1"/>
          </p:cNvSpPr>
          <p:nvPr>
            <p:ph type="body" idx="1"/>
          </p:nvPr>
        </p:nvSpPr>
        <p:spPr>
          <a:xfrm>
            <a:off x="750793" y="1631100"/>
            <a:ext cx="7629525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3500" dirty="0"/>
              <a:t>Purpose:</a:t>
            </a:r>
            <a:endParaRPr sz="3500" dirty="0"/>
          </a:p>
          <a:p>
            <a:pPr marL="457200" lvl="0" indent="-450850" algn="l" rtl="0">
              <a:spcBef>
                <a:spcPts val="750"/>
              </a:spcBef>
              <a:spcAft>
                <a:spcPts val="0"/>
              </a:spcAft>
              <a:buSzPts val="3500"/>
              <a:buChar char="▪"/>
            </a:pPr>
            <a:r>
              <a:rPr lang="en-NZ" sz="2800" dirty="0"/>
              <a:t>To provide objective evidence that the system, when in use, fulfils its business or mission objectives and stakeholder requirements, achieving its intended use in its intended operational environment.</a:t>
            </a:r>
            <a:endParaRPr sz="28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3500" dirty="0"/>
          </a:p>
        </p:txBody>
      </p:sp>
      <p:sp>
        <p:nvSpPr>
          <p:cNvPr id="733" name="Google Shape;733;p8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Project Review</a:t>
            </a:r>
            <a:endParaRPr sz="4000" dirty="0"/>
          </a:p>
        </p:txBody>
      </p:sp>
      <p:sp>
        <p:nvSpPr>
          <p:cNvPr id="780" name="Google Shape;780;p94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77724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dirty="0"/>
              <a:t>At the end of the execution phase, a review is done. It helps you to perform the following activities:</a:t>
            </a:r>
            <a:endParaRPr dirty="0"/>
          </a:p>
          <a:p>
            <a:pPr marL="457200" lvl="0" indent="-453390" algn="l" rtl="0">
              <a:spcBef>
                <a:spcPts val="750"/>
              </a:spcBef>
              <a:spcAft>
                <a:spcPts val="0"/>
              </a:spcAft>
              <a:buSzPts val="3540"/>
              <a:buChar char="▪"/>
            </a:pPr>
            <a:r>
              <a:rPr lang="en-NZ" sz="2800" dirty="0"/>
              <a:t>Document the result of your project management review</a:t>
            </a:r>
            <a:endParaRPr sz="2800" dirty="0"/>
          </a:p>
          <a:p>
            <a:pPr marL="457200" lvl="0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▪"/>
            </a:pPr>
            <a:r>
              <a:rPr lang="en-NZ" sz="2800" dirty="0"/>
              <a:t>Inform the sponsor about the progress of the project</a:t>
            </a:r>
            <a:endParaRPr sz="2800" dirty="0"/>
          </a:p>
          <a:p>
            <a:pPr marL="457200" lvl="0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▪"/>
            </a:pPr>
            <a:r>
              <a:rPr lang="en-NZ" sz="2800" dirty="0"/>
              <a:t>Identifying any risk or issues that impacted the project</a:t>
            </a:r>
            <a:endParaRPr sz="2800" dirty="0"/>
          </a:p>
          <a:p>
            <a:pPr marL="457200" lvl="0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▪"/>
            </a:pPr>
            <a:r>
              <a:rPr lang="en-NZ" sz="2800" dirty="0"/>
              <a:t>Shows deliverables to stakeholder produced during the project.</a:t>
            </a:r>
            <a:endParaRPr sz="2800" dirty="0"/>
          </a:p>
        </p:txBody>
      </p:sp>
      <p:sp>
        <p:nvSpPr>
          <p:cNvPr id="781" name="Google Shape;781;p9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3"/>
          <p:cNvSpPr txBox="1">
            <a:spLocks noGrp="1"/>
          </p:cNvSpPr>
          <p:nvPr>
            <p:ph type="title"/>
          </p:nvPr>
        </p:nvSpPr>
        <p:spPr>
          <a:xfrm>
            <a:off x="628650" y="105800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Software Life Cycle</a:t>
            </a:r>
            <a:br>
              <a:rPr lang="en-NZ" sz="4000" dirty="0"/>
            </a:br>
            <a:r>
              <a:rPr lang="en-NZ" sz="4000" dirty="0"/>
              <a:t>Step 4: Closure</a:t>
            </a:r>
          </a:p>
        </p:txBody>
      </p:sp>
      <p:sp>
        <p:nvSpPr>
          <p:cNvPr id="852" name="Google Shape;852;p10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853" name="Google Shape;853;p10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NZ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41</a:t>
            </a:fld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854" name="Google Shape;85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5" y="1434250"/>
            <a:ext cx="8820450" cy="39357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0BC1A4-69C4-47C3-BFEF-2720B5117EF1}"/>
              </a:ext>
            </a:extLst>
          </p:cNvPr>
          <p:cNvSpPr/>
          <p:nvPr/>
        </p:nvSpPr>
        <p:spPr>
          <a:xfrm>
            <a:off x="6687127" y="1982401"/>
            <a:ext cx="1736437" cy="23956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D5FF41C-7340-436A-858A-7E4A7AEA9847}"/>
              </a:ext>
            </a:extLst>
          </p:cNvPr>
          <p:cNvSpPr/>
          <p:nvPr/>
        </p:nvSpPr>
        <p:spPr>
          <a:xfrm rot="1538408">
            <a:off x="6161479" y="1873132"/>
            <a:ext cx="584421" cy="5151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9944F-A5B5-435D-AA6C-E0D3476583FF}"/>
              </a:ext>
            </a:extLst>
          </p:cNvPr>
          <p:cNvSpPr txBox="1"/>
          <p:nvPr/>
        </p:nvSpPr>
        <p:spPr>
          <a:xfrm>
            <a:off x="5763436" y="1569448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are here…</a:t>
            </a:r>
            <a:endParaRPr lang="en-NZ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Step 4. Project Closure</a:t>
            </a:r>
            <a:endParaRPr sz="4000" dirty="0"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>
            <a:off x="628650" y="958350"/>
            <a:ext cx="7711786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NZ" b="1" dirty="0"/>
              <a:t>Definition</a:t>
            </a:r>
            <a:br>
              <a:rPr lang="en-NZ" b="1" dirty="0"/>
            </a:br>
            <a:r>
              <a:rPr lang="en-NZ" dirty="0"/>
              <a:t>The controlled shut down of the project once complete. </a:t>
            </a: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Purpose</a:t>
            </a:r>
          </a:p>
          <a:p>
            <a:pPr indent="-457200">
              <a:buClr>
                <a:schemeClr val="dk1"/>
              </a:buClr>
              <a:buSzPts val="1100"/>
            </a:pPr>
            <a:r>
              <a:rPr lang="en-NZ" dirty="0"/>
              <a:t>To formally close a project and authorize the handoff from project to operations</a:t>
            </a:r>
          </a:p>
          <a:p>
            <a:pPr indent="-457200">
              <a:buClr>
                <a:schemeClr val="dk1"/>
              </a:buClr>
              <a:buSzPts val="1100"/>
            </a:pPr>
            <a:endParaRPr lang="en-NZ" b="1"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b="1" dirty="0"/>
              <a:t>Main Activities</a:t>
            </a:r>
            <a:endParaRPr b="1" dirty="0"/>
          </a:p>
          <a:p>
            <a:pPr lvl="0"/>
            <a:r>
              <a:rPr lang="en-US" dirty="0"/>
              <a:t>Maintenance &amp; Disposal.</a:t>
            </a:r>
            <a:endParaRPr dirty="0"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0307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1B01-C675-4D8B-9274-4D42DD7B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4000" dirty="0"/>
              <a:t>Maintenance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1E3B4-7D47-4B03-BB56-04DB14EDD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100" y="958350"/>
            <a:ext cx="8191800" cy="4941300"/>
          </a:xfrm>
        </p:spPr>
        <p:txBody>
          <a:bodyPr/>
          <a:lstStyle/>
          <a:p>
            <a:pPr fontAlgn="base"/>
            <a:r>
              <a:rPr lang="en-NZ" sz="3600" dirty="0"/>
              <a:t>Define a maintenance strategy</a:t>
            </a:r>
          </a:p>
          <a:p>
            <a:pPr lvl="1" fontAlgn="base"/>
            <a:r>
              <a:rPr lang="en-NZ" sz="2800" dirty="0"/>
              <a:t>Forecast product/environmental evolution.</a:t>
            </a:r>
          </a:p>
          <a:p>
            <a:pPr fontAlgn="base"/>
            <a:r>
              <a:rPr lang="en-NZ" sz="3600" dirty="0"/>
              <a:t>Perform maintenance</a:t>
            </a:r>
          </a:p>
          <a:p>
            <a:pPr lvl="1" fontAlgn="base"/>
            <a:r>
              <a:rPr lang="en-NZ" sz="2800" dirty="0"/>
              <a:t>Review requirements</a:t>
            </a:r>
            <a:endParaRPr lang="en-NZ" sz="3200" dirty="0"/>
          </a:p>
          <a:p>
            <a:pPr lvl="1" fontAlgn="base"/>
            <a:r>
              <a:rPr lang="en-NZ" sz="2800" dirty="0"/>
              <a:t>Correct failures, flaws, errors or replace/upgrade</a:t>
            </a:r>
            <a:r>
              <a:rPr lang="en-NZ" sz="2400" dirty="0"/>
              <a:t>.</a:t>
            </a:r>
          </a:p>
          <a:p>
            <a:pPr fontAlgn="base"/>
            <a:r>
              <a:rPr lang="en-NZ" sz="3600" dirty="0"/>
              <a:t>Perform logistical support</a:t>
            </a:r>
          </a:p>
          <a:p>
            <a:pPr lvl="1" fontAlgn="base"/>
            <a:r>
              <a:rPr lang="en-NZ" sz="2800" dirty="0"/>
              <a:t>Monitor changes in supporting infrastructure.</a:t>
            </a:r>
          </a:p>
          <a:p>
            <a:pPr fontAlgn="base"/>
            <a:r>
              <a:rPr lang="en-NZ" sz="3600" dirty="0"/>
              <a:t>Manage results</a:t>
            </a:r>
          </a:p>
          <a:p>
            <a:pPr lvl="1" fontAlgn="base"/>
            <a:r>
              <a:rPr lang="en-NZ" sz="2800" dirty="0"/>
              <a:t>Record and track incidents, actions &amp; trends.</a:t>
            </a:r>
          </a:p>
          <a:p>
            <a:pPr lvl="1" fontAlgn="base"/>
            <a:r>
              <a:rPr lang="en-NZ" sz="2800" dirty="0"/>
              <a:t>Ensure customer satisfaction.</a:t>
            </a:r>
          </a:p>
          <a:p>
            <a:endParaRPr lang="en-NZ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36E8-C563-4878-9603-70477DF59E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43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61509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US" sz="4000" dirty="0"/>
              <a:t>D</a:t>
            </a:r>
            <a:r>
              <a:rPr lang="en-NZ" sz="4000" dirty="0" err="1"/>
              <a:t>isposal</a:t>
            </a:r>
            <a:r>
              <a:rPr lang="en-NZ" sz="4000" dirty="0"/>
              <a:t> Activities </a:t>
            </a:r>
            <a:endParaRPr sz="4000" dirty="0"/>
          </a:p>
        </p:txBody>
      </p:sp>
      <p:sp>
        <p:nvSpPr>
          <p:cNvPr id="836" name="Google Shape;836;p101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77724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Z" dirty="0"/>
              <a:t>There are three main closure elements to be closed:</a:t>
            </a:r>
            <a:endParaRPr dirty="0"/>
          </a:p>
          <a:p>
            <a:pPr marL="571500" lvl="0" indent="-514350" algn="l" rtl="0">
              <a:spcBef>
                <a:spcPts val="750"/>
              </a:spcBef>
              <a:spcAft>
                <a:spcPts val="0"/>
              </a:spcAft>
              <a:buSzPts val="2700"/>
              <a:buFont typeface="+mj-lt"/>
              <a:buAutoNum type="arabicPeriod"/>
            </a:pPr>
            <a:r>
              <a:rPr lang="en-NZ" sz="2800" b="1" dirty="0"/>
              <a:t>Product</a:t>
            </a:r>
            <a:endParaRPr sz="2800" b="1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−"/>
            </a:pPr>
            <a:r>
              <a:rPr lang="en-NZ" dirty="0"/>
              <a:t>The customer accepts the final deliverables.</a:t>
            </a: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−"/>
            </a:pPr>
            <a:endParaRPr dirty="0"/>
          </a:p>
          <a:p>
            <a:pPr marL="571500" lvl="0" indent="-514350" algn="l" rtl="0">
              <a:spcBef>
                <a:spcPts val="0"/>
              </a:spcBef>
              <a:spcAft>
                <a:spcPts val="0"/>
              </a:spcAft>
              <a:buSzPts val="2700"/>
              <a:buFont typeface="+mj-lt"/>
              <a:buAutoNum type="arabicPeriod"/>
            </a:pPr>
            <a:r>
              <a:rPr lang="en-NZ" sz="2800" b="1" dirty="0"/>
              <a:t>Project</a:t>
            </a:r>
            <a:endParaRPr sz="2800" b="1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−"/>
            </a:pPr>
            <a:r>
              <a:rPr lang="en-NZ" dirty="0"/>
              <a:t>Formally closing out administrative procedures, updating project documents and archiving.</a:t>
            </a: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−"/>
            </a:pPr>
            <a:endParaRPr dirty="0"/>
          </a:p>
          <a:p>
            <a:pPr marL="571500" lvl="0" indent="-514350" algn="l" rtl="0">
              <a:spcBef>
                <a:spcPts val="0"/>
              </a:spcBef>
              <a:spcAft>
                <a:spcPts val="0"/>
              </a:spcAft>
              <a:buSzPts val="2700"/>
              <a:buFont typeface="+mj-lt"/>
              <a:buAutoNum type="arabicPeriod"/>
            </a:pPr>
            <a:r>
              <a:rPr lang="en-NZ" sz="2800" b="1" dirty="0"/>
              <a:t>Resources</a:t>
            </a:r>
            <a:endParaRPr sz="2800" b="1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−"/>
            </a:pPr>
            <a:r>
              <a:rPr lang="en-NZ" dirty="0"/>
              <a:t>Financial matters are concluded, resources assigned to the project are released.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700" dirty="0"/>
          </a:p>
        </p:txBody>
      </p:sp>
      <p:sp>
        <p:nvSpPr>
          <p:cNvPr id="837" name="Google Shape;837;p10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Project Life Cycles – Review </a:t>
            </a:r>
            <a:endParaRPr sz="4000" dirty="0"/>
          </a:p>
        </p:txBody>
      </p:sp>
      <p:sp>
        <p:nvSpPr>
          <p:cNvPr id="843" name="Google Shape;843;p102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39750" lvl="0" indent="-514350" algn="l" rtl="0">
              <a:spcBef>
                <a:spcPts val="750"/>
              </a:spcBef>
              <a:spcAft>
                <a:spcPts val="0"/>
              </a:spcAft>
              <a:buSzPts val="3440"/>
              <a:buFont typeface="+mj-lt"/>
              <a:buAutoNum type="arabicPeriod"/>
            </a:pPr>
            <a:r>
              <a:rPr lang="en-NZ" b="1" dirty="0"/>
              <a:t>Initiation</a:t>
            </a:r>
            <a:endParaRPr b="1" dirty="0"/>
          </a:p>
          <a:p>
            <a:pPr marL="895350" lvl="1" indent="-527050" algn="l" rtl="0">
              <a:spcBef>
                <a:spcPts val="375"/>
              </a:spcBef>
              <a:spcAft>
                <a:spcPts val="0"/>
              </a:spcAft>
              <a:buSzPts val="2840"/>
              <a:buChar char="−"/>
            </a:pPr>
            <a:r>
              <a:rPr lang="en-NZ" sz="2800" dirty="0"/>
              <a:t>Requirements</a:t>
            </a:r>
            <a:endParaRPr sz="2300" dirty="0"/>
          </a:p>
          <a:p>
            <a:pPr marL="539750" lvl="0" indent="-514350" algn="l" rtl="0">
              <a:spcBef>
                <a:spcPts val="750"/>
              </a:spcBef>
              <a:spcAft>
                <a:spcPts val="0"/>
              </a:spcAft>
              <a:buSzPts val="3440"/>
              <a:buFont typeface="+mj-lt"/>
              <a:buAutoNum type="arabicPeriod"/>
            </a:pPr>
            <a:r>
              <a:rPr lang="en-NZ" b="1" dirty="0"/>
              <a:t>Planning</a:t>
            </a:r>
            <a:endParaRPr b="1" dirty="0"/>
          </a:p>
          <a:p>
            <a:pPr marL="895350" lvl="1" indent="-527050" algn="l" rtl="0">
              <a:spcBef>
                <a:spcPts val="375"/>
              </a:spcBef>
              <a:spcAft>
                <a:spcPts val="0"/>
              </a:spcAft>
              <a:buSzPts val="2840"/>
              <a:buChar char="−"/>
            </a:pPr>
            <a:r>
              <a:rPr lang="en-NZ" sz="2800" dirty="0"/>
              <a:t>Design</a:t>
            </a:r>
            <a:endParaRPr sz="2300" dirty="0"/>
          </a:p>
          <a:p>
            <a:pPr marL="539750" lvl="0" indent="-514350" algn="l" rtl="0">
              <a:spcBef>
                <a:spcPts val="750"/>
              </a:spcBef>
              <a:spcAft>
                <a:spcPts val="0"/>
              </a:spcAft>
              <a:buSzPts val="3440"/>
              <a:buFont typeface="+mj-lt"/>
              <a:buAutoNum type="arabicPeriod"/>
            </a:pPr>
            <a:r>
              <a:rPr lang="en-NZ" b="1" dirty="0"/>
              <a:t>Execution</a:t>
            </a:r>
            <a:endParaRPr b="1" dirty="0"/>
          </a:p>
          <a:p>
            <a:pPr marL="895350" lvl="1" indent="-527050" algn="l" rtl="0">
              <a:spcBef>
                <a:spcPts val="375"/>
              </a:spcBef>
              <a:spcAft>
                <a:spcPts val="0"/>
              </a:spcAft>
              <a:buSzPts val="2840"/>
              <a:buChar char="−"/>
            </a:pPr>
            <a:r>
              <a:rPr lang="en-NZ" sz="2800" dirty="0"/>
              <a:t>Development</a:t>
            </a:r>
            <a:endParaRPr sz="2800" dirty="0"/>
          </a:p>
          <a:p>
            <a:pPr marL="895350" lvl="1" indent="-527050" algn="l" rtl="0">
              <a:spcBef>
                <a:spcPts val="375"/>
              </a:spcBef>
              <a:spcAft>
                <a:spcPts val="0"/>
              </a:spcAft>
              <a:buSzPts val="2840"/>
              <a:buChar char="−"/>
            </a:pPr>
            <a:r>
              <a:rPr lang="en-NZ" sz="2800" dirty="0"/>
              <a:t>Testing</a:t>
            </a:r>
            <a:endParaRPr sz="2800" dirty="0"/>
          </a:p>
          <a:p>
            <a:pPr marL="895350" lvl="1" indent="-527050" algn="l" rtl="0">
              <a:spcBef>
                <a:spcPts val="375"/>
              </a:spcBef>
              <a:spcAft>
                <a:spcPts val="0"/>
              </a:spcAft>
              <a:buSzPts val="2840"/>
              <a:buChar char="−"/>
            </a:pPr>
            <a:r>
              <a:rPr lang="en-NZ" sz="2800" dirty="0"/>
              <a:t>Deployment</a:t>
            </a:r>
            <a:endParaRPr sz="2800" dirty="0"/>
          </a:p>
          <a:p>
            <a:pPr marL="539750" lvl="0" indent="-514350" algn="l" rtl="0">
              <a:spcBef>
                <a:spcPts val="750"/>
              </a:spcBef>
              <a:spcAft>
                <a:spcPts val="0"/>
              </a:spcAft>
              <a:buSzPts val="3440"/>
              <a:buFont typeface="+mj-lt"/>
              <a:buAutoNum type="arabicPeriod"/>
            </a:pPr>
            <a:r>
              <a:rPr lang="en-NZ" b="1" dirty="0"/>
              <a:t>Closure</a:t>
            </a:r>
            <a:endParaRPr b="1" dirty="0"/>
          </a:p>
          <a:p>
            <a:pPr marL="895350" lvl="1" indent="-527050" algn="l" rtl="0">
              <a:spcBef>
                <a:spcPts val="375"/>
              </a:spcBef>
              <a:spcAft>
                <a:spcPts val="0"/>
              </a:spcAft>
              <a:buSzPts val="2840"/>
              <a:buChar char="−"/>
            </a:pPr>
            <a:r>
              <a:rPr lang="en-NZ" sz="2800" dirty="0"/>
              <a:t>Maintenance / Disposal</a:t>
            </a:r>
            <a:endParaRPr sz="2800" dirty="0"/>
          </a:p>
          <a:p>
            <a:pPr marL="539750" lvl="0" indent="-295910" algn="l" rtl="0">
              <a:spcBef>
                <a:spcPts val="750"/>
              </a:spcBef>
              <a:spcAft>
                <a:spcPts val="0"/>
              </a:spcAft>
              <a:buSzPts val="3840"/>
              <a:buNone/>
            </a:pPr>
            <a:endParaRPr sz="2800" dirty="0"/>
          </a:p>
        </p:txBody>
      </p:sp>
      <p:sp>
        <p:nvSpPr>
          <p:cNvPr id="844" name="Google Shape;844;p10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45</a:t>
            </a:fld>
            <a:endParaRPr/>
          </a:p>
        </p:txBody>
      </p:sp>
      <p:pic>
        <p:nvPicPr>
          <p:cNvPr id="845" name="Google Shape;84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32475"/>
            <a:ext cx="4173347" cy="41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AD370-C520-4582-BC4F-C76060B1C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100" y="1596550"/>
            <a:ext cx="8191800" cy="4941300"/>
          </a:xfrm>
        </p:spPr>
        <p:txBody>
          <a:bodyPr/>
          <a:lstStyle/>
          <a:p>
            <a:pPr fontAlgn="base"/>
            <a:r>
              <a:rPr lang="en-NZ" i="1" dirty="0"/>
              <a:t>Lightweight </a:t>
            </a:r>
            <a:r>
              <a:rPr lang="en-NZ" dirty="0" err="1"/>
              <a:t>markup</a:t>
            </a:r>
            <a:r>
              <a:rPr lang="en-NZ" dirty="0"/>
              <a:t> language used in the Python community for Technical Documentation.</a:t>
            </a:r>
          </a:p>
          <a:p>
            <a:pPr fontAlgn="base"/>
            <a:endParaRPr lang="en-NZ" dirty="0"/>
          </a:p>
          <a:p>
            <a:pPr fontAlgn="base"/>
            <a:r>
              <a:rPr lang="en-NZ" dirty="0"/>
              <a:t>Designed to be </a:t>
            </a:r>
            <a:r>
              <a:rPr lang="en-NZ" b="1" dirty="0"/>
              <a:t>processable </a:t>
            </a:r>
            <a:r>
              <a:rPr lang="en-NZ" dirty="0"/>
              <a:t>by documentation generation tools and easily </a:t>
            </a:r>
            <a:r>
              <a:rPr lang="en-NZ" b="1" dirty="0"/>
              <a:t>human-readable</a:t>
            </a:r>
            <a:r>
              <a:rPr lang="en-NZ" dirty="0"/>
              <a:t>.</a:t>
            </a:r>
          </a:p>
          <a:p>
            <a:pPr fontAlgn="base"/>
            <a:endParaRPr lang="en-NZ" dirty="0"/>
          </a:p>
          <a:p>
            <a:pPr fontAlgn="base"/>
            <a:r>
              <a:rPr lang="en-NZ" dirty="0"/>
              <a:t>Markdown is based on conventions for indicating formatting in </a:t>
            </a:r>
            <a:r>
              <a:rPr lang="en-NZ" b="1" dirty="0"/>
              <a:t>plain text</a:t>
            </a:r>
            <a:r>
              <a:rPr lang="en-NZ" dirty="0"/>
              <a:t> </a:t>
            </a:r>
            <a:r>
              <a:rPr lang="en-NZ" i="1" dirty="0"/>
              <a:t>email </a:t>
            </a:r>
            <a:r>
              <a:rPr lang="en-NZ" dirty="0"/>
              <a:t>and </a:t>
            </a:r>
            <a:r>
              <a:rPr lang="en-NZ" i="1" dirty="0" err="1"/>
              <a:t>usenet</a:t>
            </a:r>
            <a:r>
              <a:rPr lang="en-NZ" i="1" dirty="0"/>
              <a:t> </a:t>
            </a:r>
            <a:r>
              <a:rPr lang="en-NZ" dirty="0"/>
              <a:t>posts.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672B7-33A8-42DC-80E2-A54B558972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46</a:t>
            </a:fld>
            <a:endParaRPr lang="en-NZ"/>
          </a:p>
        </p:txBody>
      </p:sp>
      <p:pic>
        <p:nvPicPr>
          <p:cNvPr id="1026" name="Picture 2" descr="https://lh6.googleusercontent.com/KNFy2eZJrTSytSuRbAAifRSDdv1YhrS6Sw3zStZMMI6rzYSXA0bhKrHvLL6NsHZflAo73UuxGY75FVU0NmImZAlET0mNkMTLnVCq9gZCd7jMmedNMTGzxwluSnX8RMJJEA99w8kcGl4">
            <a:extLst>
              <a:ext uri="{FF2B5EF4-FFF2-40B4-BE49-F238E27FC236}">
                <a16:creationId xmlns:a16="http://schemas.microsoft.com/office/drawing/2014/main" id="{75EB7B49-02A1-4E3F-BE7B-DEE89E768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-15875"/>
            <a:ext cx="565785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4079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813-0A6A-4B20-96A9-B5B82630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01600"/>
            <a:ext cx="7886700" cy="1118100"/>
          </a:xfrm>
        </p:spPr>
        <p:txBody>
          <a:bodyPr/>
          <a:lstStyle/>
          <a:p>
            <a:r>
              <a:rPr lang="en-NZ" dirty="0"/>
              <a:t>Markdown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1783F-2779-4B52-AD38-81B3103F8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180" y="1283926"/>
            <a:ext cx="8055270" cy="4701473"/>
          </a:xfrm>
        </p:spPr>
        <p:txBody>
          <a:bodyPr/>
          <a:lstStyle/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C3F29-7FE8-4877-BA21-BE888C9B55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47</a:t>
            </a:fld>
            <a:endParaRPr lang="en-NZ"/>
          </a:p>
        </p:txBody>
      </p:sp>
      <p:pic>
        <p:nvPicPr>
          <p:cNvPr id="2050" name="Picture 2" descr="https://lh3.googleusercontent.com/deQ9eI0ZtI8F72PN06-aiPtozjwDyauw4bRs7gx6w97s6-ekge1AvcbCVkPN9fAlkUr6pYhCo8FyJp6qwb3wBULq1L94oo8-YjpRI9VwoRTBbwD2WURIbpB1XcXBa6D5NEYLpPvaJEs">
            <a:extLst>
              <a:ext uri="{FF2B5EF4-FFF2-40B4-BE49-F238E27FC236}">
                <a16:creationId xmlns:a16="http://schemas.microsoft.com/office/drawing/2014/main" id="{8E745086-2DC9-43FD-9766-550D0A9F4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57291"/>
            <a:ext cx="8991600" cy="543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lh5.googleusercontent.com/mOFkptFxVHO0kF-L1444aQUeMzybhv0USib_tSvpdcDabYFf0rTelFBOY0lh3whqkJ9pK2Gd3q5Km6HHZt86gtWOC7olF4wE2LiqZ2vUDYhqgEHLwAaszQ6294rYUo7nM7X5R_xgQUM">
            <a:extLst>
              <a:ext uri="{FF2B5EF4-FFF2-40B4-BE49-F238E27FC236}">
                <a16:creationId xmlns:a16="http://schemas.microsoft.com/office/drawing/2014/main" id="{ADDB8F6E-ECF3-4CC5-A6C0-79B8EFDC1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493" y="75120"/>
            <a:ext cx="1295400" cy="79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5681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r>
              <a:rPr lang="en-NZ" sz="4000" dirty="0"/>
              <a:t>Q&amp;A</a:t>
            </a:r>
            <a:endParaRPr sz="4000" dirty="0"/>
          </a:p>
        </p:txBody>
      </p:sp>
      <p:sp>
        <p:nvSpPr>
          <p:cNvPr id="862" name="Google Shape;862;p10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98B09-F6C3-469B-B633-703B1B308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55" y="746040"/>
            <a:ext cx="7275946" cy="16328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79E5B-3075-459D-8FD4-299D4BAD6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54" y="2378869"/>
            <a:ext cx="7275946" cy="2020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D53A8D-764E-4EBE-8F4F-2DC84EE24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1" y="4399715"/>
            <a:ext cx="7058103" cy="1712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IT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005FA5"/>
      </a:accent1>
      <a:accent2>
        <a:srgbClr val="002F5F"/>
      </a:accent2>
      <a:accent3>
        <a:srgbClr val="005697"/>
      </a:accent3>
      <a:accent4>
        <a:srgbClr val="DEE3F1"/>
      </a:accent4>
      <a:accent5>
        <a:srgbClr val="009FDA"/>
      </a:accent5>
      <a:accent6>
        <a:srgbClr val="C3E6F8"/>
      </a:accent6>
      <a:hlink>
        <a:srgbClr val="005FA5"/>
      </a:hlink>
      <a:folHlink>
        <a:srgbClr val="002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EIT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005FA5"/>
      </a:accent1>
      <a:accent2>
        <a:srgbClr val="002F5F"/>
      </a:accent2>
      <a:accent3>
        <a:srgbClr val="005697"/>
      </a:accent3>
      <a:accent4>
        <a:srgbClr val="DEE3F1"/>
      </a:accent4>
      <a:accent5>
        <a:srgbClr val="009FDA"/>
      </a:accent5>
      <a:accent6>
        <a:srgbClr val="C3E6F8"/>
      </a:accent6>
      <a:hlink>
        <a:srgbClr val="005FA5"/>
      </a:hlink>
      <a:folHlink>
        <a:srgbClr val="002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2083</Words>
  <Application>Microsoft Office PowerPoint</Application>
  <PresentationFormat>On-screen Show (4:3)</PresentationFormat>
  <Paragraphs>495</Paragraphs>
  <Slides>48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Caladea</vt:lpstr>
      <vt:lpstr>Calibri</vt:lpstr>
      <vt:lpstr>Noto Sans Symbols</vt:lpstr>
      <vt:lpstr>Office Theme</vt:lpstr>
      <vt:lpstr>1_Office Theme</vt:lpstr>
      <vt:lpstr>01 - Project Life Cycles</vt:lpstr>
      <vt:lpstr>Overview</vt:lpstr>
      <vt:lpstr>Project Life Cycle – Steps </vt:lpstr>
      <vt:lpstr>Project Life Cycles – Introduction</vt:lpstr>
      <vt:lpstr>Software Development Project –  Typical Steps</vt:lpstr>
      <vt:lpstr>Software Life Cycle Step 1: Initiation </vt:lpstr>
      <vt:lpstr>Step 1. Project Initiation</vt:lpstr>
      <vt:lpstr>Identifying Stakeholders</vt:lpstr>
      <vt:lpstr>Types of Stakeholders</vt:lpstr>
      <vt:lpstr>Stakeholder Register – Parts </vt:lpstr>
      <vt:lpstr>Stakeholder Register – an example</vt:lpstr>
      <vt:lpstr>Project Charter</vt:lpstr>
      <vt:lpstr>Create Project Charter</vt:lpstr>
      <vt:lpstr>Iron Triangle (model of constraints)</vt:lpstr>
      <vt:lpstr>Drivers, Constraints &amp; Floats</vt:lpstr>
      <vt:lpstr>Drivers, Constraints &amp; Floats (cont.)</vt:lpstr>
      <vt:lpstr>Drivers, Constraints &amp; Floats (cont.)</vt:lpstr>
      <vt:lpstr>Examples of Constraints</vt:lpstr>
      <vt:lpstr>Other Project Initiation Processes</vt:lpstr>
      <vt:lpstr>Requirements</vt:lpstr>
      <vt:lpstr>Requirements (cont.)</vt:lpstr>
      <vt:lpstr>Requirements (cont.)</vt:lpstr>
      <vt:lpstr>SWEBOK - Software Requirements</vt:lpstr>
      <vt:lpstr>SWEBOK - Software Requirements (cont.)</vt:lpstr>
      <vt:lpstr>PowerPoint Presentation</vt:lpstr>
      <vt:lpstr>Language of Requirements</vt:lpstr>
      <vt:lpstr>Language of Requirements – Avoid:</vt:lpstr>
      <vt:lpstr>Examples of Requirements</vt:lpstr>
      <vt:lpstr>Software Life Cycle   Step 2: Planning</vt:lpstr>
      <vt:lpstr>2. Project Planning</vt:lpstr>
      <vt:lpstr>System Analysis Activities</vt:lpstr>
      <vt:lpstr>System Analysis Outcomes</vt:lpstr>
      <vt:lpstr>Software Life Cycle Step 3. Execution</vt:lpstr>
      <vt:lpstr>Step 3. Project Execution</vt:lpstr>
      <vt:lpstr>Development/Implementation</vt:lpstr>
      <vt:lpstr>Testing – Integration </vt:lpstr>
      <vt:lpstr>Testing – Verification  </vt:lpstr>
      <vt:lpstr>Testing – Verification Activities</vt:lpstr>
      <vt:lpstr> Deployment – Validation  </vt:lpstr>
      <vt:lpstr>Project Review</vt:lpstr>
      <vt:lpstr>Software Life Cycle Step 4: Closure</vt:lpstr>
      <vt:lpstr>Step 4. Project Closure</vt:lpstr>
      <vt:lpstr>Maintenance Activities</vt:lpstr>
      <vt:lpstr>Disposal Activities </vt:lpstr>
      <vt:lpstr>Project Life Cycles – Review </vt:lpstr>
      <vt:lpstr>PowerPoint Presentation</vt:lpstr>
      <vt:lpstr>Markdown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02 - Project Life Cycles</dc:title>
  <dc:creator>Kay Lewis</dc:creator>
  <cp:lastModifiedBy>John Jamieson</cp:lastModifiedBy>
  <cp:revision>47</cp:revision>
  <dcterms:modified xsi:type="dcterms:W3CDTF">2026-02-17T19:21:29Z</dcterms:modified>
</cp:coreProperties>
</file>