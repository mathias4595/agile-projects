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4057" r:id="rId1"/>
    <p:sldMasterId id="2147484081" r:id="rId2"/>
  </p:sldMasterIdLst>
  <p:notesMasterIdLst>
    <p:notesMasterId r:id="rId17"/>
  </p:notesMasterIdLst>
  <p:handoutMasterIdLst>
    <p:handoutMasterId r:id="rId18"/>
  </p:handoutMasterIdLst>
  <p:sldIdLst>
    <p:sldId id="256" r:id="rId3"/>
    <p:sldId id="440" r:id="rId4"/>
    <p:sldId id="522" r:id="rId5"/>
    <p:sldId id="534" r:id="rId6"/>
    <p:sldId id="533" r:id="rId7"/>
    <p:sldId id="524" r:id="rId8"/>
    <p:sldId id="527" r:id="rId9"/>
    <p:sldId id="528" r:id="rId10"/>
    <p:sldId id="530" r:id="rId11"/>
    <p:sldId id="531" r:id="rId12"/>
    <p:sldId id="453" r:id="rId13"/>
    <p:sldId id="536" r:id="rId14"/>
    <p:sldId id="537" r:id="rId15"/>
    <p:sldId id="535" r:id="rId16"/>
  </p:sldIdLst>
  <p:sldSz cx="12192000" cy="6858000"/>
  <p:notesSz cx="6807200" cy="9939338"/>
  <p:kinsoku lang="ja-JP" invalStChars="、。，．・：；？！゛゜ヽヾゝゞ々ー’”）〕］｝〉》」』】°‰′″℃￠％ぁぃぅぇぉっゃゅょゎァィゥェォッャュョヮヵヶ!%),.:;?]}｡｣､･ｧｨｩｪｫｬｭｮｯｰﾞﾟ" invalEndChars="‘“（〔［｛〈《「『【￥＄$([\{｢￡"/>
  <p:defaultTextStyle>
    <a:defPPr>
      <a:defRPr lang="en-US"/>
    </a:defPPr>
    <a:lvl1pPr algn="l" rtl="0" fontAlgn="base">
      <a:spcBef>
        <a:spcPct val="0"/>
      </a:spcBef>
      <a:spcAft>
        <a:spcPct val="0"/>
      </a:spcAft>
      <a:defRPr kern="1200">
        <a:solidFill>
          <a:schemeClr val="tx1"/>
        </a:solidFill>
        <a:latin typeface="Tahoma" pitchFamily="34" charset="0"/>
        <a:ea typeface="+mn-ea"/>
        <a:cs typeface="Arial" charset="0"/>
      </a:defRPr>
    </a:lvl1pPr>
    <a:lvl2pPr marL="457200" algn="l" rtl="0" fontAlgn="base">
      <a:spcBef>
        <a:spcPct val="0"/>
      </a:spcBef>
      <a:spcAft>
        <a:spcPct val="0"/>
      </a:spcAft>
      <a:defRPr kern="1200">
        <a:solidFill>
          <a:schemeClr val="tx1"/>
        </a:solidFill>
        <a:latin typeface="Tahoma" pitchFamily="34" charset="0"/>
        <a:ea typeface="+mn-ea"/>
        <a:cs typeface="Arial" charset="0"/>
      </a:defRPr>
    </a:lvl2pPr>
    <a:lvl3pPr marL="914400" algn="l" rtl="0" fontAlgn="base">
      <a:spcBef>
        <a:spcPct val="0"/>
      </a:spcBef>
      <a:spcAft>
        <a:spcPct val="0"/>
      </a:spcAft>
      <a:defRPr kern="1200">
        <a:solidFill>
          <a:schemeClr val="tx1"/>
        </a:solidFill>
        <a:latin typeface="Tahoma" pitchFamily="34" charset="0"/>
        <a:ea typeface="+mn-ea"/>
        <a:cs typeface="Arial" charset="0"/>
      </a:defRPr>
    </a:lvl3pPr>
    <a:lvl4pPr marL="1371600" algn="l" rtl="0" fontAlgn="base">
      <a:spcBef>
        <a:spcPct val="0"/>
      </a:spcBef>
      <a:spcAft>
        <a:spcPct val="0"/>
      </a:spcAft>
      <a:defRPr kern="1200">
        <a:solidFill>
          <a:schemeClr val="tx1"/>
        </a:solidFill>
        <a:latin typeface="Tahoma" pitchFamily="34" charset="0"/>
        <a:ea typeface="+mn-ea"/>
        <a:cs typeface="Arial" charset="0"/>
      </a:defRPr>
    </a:lvl4pPr>
    <a:lvl5pPr marL="1828800" algn="l" rtl="0" fontAlgn="base">
      <a:spcBef>
        <a:spcPct val="0"/>
      </a:spcBef>
      <a:spcAft>
        <a:spcPct val="0"/>
      </a:spcAft>
      <a:defRPr kern="1200">
        <a:solidFill>
          <a:schemeClr val="tx1"/>
        </a:solidFill>
        <a:latin typeface="Tahoma" pitchFamily="34" charset="0"/>
        <a:ea typeface="+mn-ea"/>
        <a:cs typeface="Arial" charset="0"/>
      </a:defRPr>
    </a:lvl5pPr>
    <a:lvl6pPr marL="2286000" algn="l" defTabSz="914400" rtl="0" eaLnBrk="1" latinLnBrk="0" hangingPunct="1">
      <a:defRPr kern="1200">
        <a:solidFill>
          <a:schemeClr val="tx1"/>
        </a:solidFill>
        <a:latin typeface="Tahoma" pitchFamily="34" charset="0"/>
        <a:ea typeface="+mn-ea"/>
        <a:cs typeface="Arial" charset="0"/>
      </a:defRPr>
    </a:lvl6pPr>
    <a:lvl7pPr marL="2743200" algn="l" defTabSz="914400" rtl="0" eaLnBrk="1" latinLnBrk="0" hangingPunct="1">
      <a:defRPr kern="1200">
        <a:solidFill>
          <a:schemeClr val="tx1"/>
        </a:solidFill>
        <a:latin typeface="Tahoma" pitchFamily="34" charset="0"/>
        <a:ea typeface="+mn-ea"/>
        <a:cs typeface="Arial" charset="0"/>
      </a:defRPr>
    </a:lvl7pPr>
    <a:lvl8pPr marL="3200400" algn="l" defTabSz="914400" rtl="0" eaLnBrk="1" latinLnBrk="0" hangingPunct="1">
      <a:defRPr kern="1200">
        <a:solidFill>
          <a:schemeClr val="tx1"/>
        </a:solidFill>
        <a:latin typeface="Tahoma" pitchFamily="34" charset="0"/>
        <a:ea typeface="+mn-ea"/>
        <a:cs typeface="Arial" charset="0"/>
      </a:defRPr>
    </a:lvl8pPr>
    <a:lvl9pPr marL="3657600" algn="l" defTabSz="914400" rtl="0" eaLnBrk="1" latinLnBrk="0" hangingPunct="1">
      <a:defRPr kern="1200">
        <a:solidFill>
          <a:schemeClr val="tx1"/>
        </a:solidFill>
        <a:latin typeface="Tahoma" pitchFamily="34" charset="0"/>
        <a:ea typeface="+mn-ea"/>
        <a:cs typeface="Arial" charset="0"/>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3131" userDrawn="1">
          <p15:clr>
            <a:srgbClr val="A4A3A4"/>
          </p15:clr>
        </p15:guide>
        <p15:guide id="2" pos="2144"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FF00"/>
    <a:srgbClr val="0000FF"/>
    <a:srgbClr val="000000"/>
    <a:srgbClr val="FF9900"/>
    <a:srgbClr val="990000"/>
    <a:srgbClr val="0066FF"/>
    <a:srgbClr val="00CCFF"/>
    <a:srgbClr val="00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40" autoAdjust="0"/>
    <p:restoredTop sz="96122" autoAdjust="0"/>
  </p:normalViewPr>
  <p:slideViewPr>
    <p:cSldViewPr snapToGrid="0">
      <p:cViewPr varScale="1">
        <p:scale>
          <a:sx n="109" d="100"/>
          <a:sy n="109" d="100"/>
        </p:scale>
        <p:origin x="636" y="114"/>
      </p:cViewPr>
      <p:guideLst>
        <p:guide orient="horz" pos="2160"/>
        <p:guide pos="3840"/>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notesViewPr>
    <p:cSldViewPr snapToGrid="0">
      <p:cViewPr varScale="1">
        <p:scale>
          <a:sx n="53" d="100"/>
          <a:sy n="53" d="100"/>
        </p:scale>
        <p:origin x="-1920" y="-96"/>
      </p:cViewPr>
      <p:guideLst>
        <p:guide orient="horz" pos="3131"/>
        <p:guide pos="2144"/>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handoutMaster" Target="handoutMasters/handoutMaster1.xml"/><Relationship Id="rId3" Type="http://schemas.openxmlformats.org/officeDocument/2006/relationships/slide" Target="slides/slide1.xml"/><Relationship Id="rId21"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9710082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body" sz="quarter" idx="3"/>
          </p:nvPr>
        </p:nvSpPr>
        <p:spPr bwMode="auto">
          <a:xfrm>
            <a:off x="907627" y="4721186"/>
            <a:ext cx="4991947" cy="4472702"/>
          </a:xfrm>
          <a:prstGeom prst="rect">
            <a:avLst/>
          </a:prstGeom>
          <a:noFill/>
          <a:ln w="12700">
            <a:noFill/>
            <a:miter lim="800000"/>
            <a:headEnd/>
            <a:tailEnd/>
          </a:ln>
          <a:effectLst/>
        </p:spPr>
        <p:txBody>
          <a:bodyPr vert="horz" wrap="square" lIns="90488" tIns="44450" rIns="90488" bIns="44450" numCol="1" anchor="t" anchorCtr="0" compatLnSpc="1">
            <a:prstTxWarp prst="textNoShape">
              <a:avLst/>
            </a:prstTxWarp>
          </a:bodyPr>
          <a:lstStyle/>
          <a:p>
            <a:pPr lvl="0"/>
            <a:r>
              <a:rPr lang="en-US" noProof="0"/>
              <a:t>Click to edit Master notes styles</a:t>
            </a:r>
          </a:p>
          <a:p>
            <a:pPr lvl="0"/>
            <a:r>
              <a:rPr lang="en-US" noProof="0"/>
              <a:t>Second Level</a:t>
            </a:r>
          </a:p>
          <a:p>
            <a:pPr lvl="0"/>
            <a:r>
              <a:rPr lang="en-US" noProof="0"/>
              <a:t>Third Level</a:t>
            </a:r>
          </a:p>
          <a:p>
            <a:pPr lvl="0"/>
            <a:r>
              <a:rPr lang="en-US" noProof="0"/>
              <a:t>Fourth Level</a:t>
            </a:r>
          </a:p>
          <a:p>
            <a:pPr lvl="0"/>
            <a:r>
              <a:rPr lang="en-US" noProof="0"/>
              <a:t>Fifth Level</a:t>
            </a:r>
          </a:p>
        </p:txBody>
      </p:sp>
      <p:sp>
        <p:nvSpPr>
          <p:cNvPr id="15363" name="Rectangle 3"/>
          <p:cNvSpPr>
            <a:spLocks noGrp="1" noRot="1" noChangeAspect="1" noChangeArrowheads="1" noTextEdit="1"/>
          </p:cNvSpPr>
          <p:nvPr>
            <p:ph type="sldImg" idx="2"/>
          </p:nvPr>
        </p:nvSpPr>
        <p:spPr bwMode="auto">
          <a:xfrm>
            <a:off x="103188" y="752475"/>
            <a:ext cx="6600825" cy="3713163"/>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sp>
    </p:spTree>
    <p:extLst>
      <p:ext uri="{BB962C8B-B14F-4D97-AF65-F5344CB8AC3E}">
        <p14:creationId xmlns:p14="http://schemas.microsoft.com/office/powerpoint/2010/main" val="231468041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Arial" charset="0"/>
      </a:defRPr>
    </a:lvl1pPr>
    <a:lvl2pPr marL="742950" indent="-285750" algn="l" rtl="0" eaLnBrk="0" fontAlgn="base" hangingPunct="0">
      <a:spcBef>
        <a:spcPct val="30000"/>
      </a:spcBef>
      <a:spcAft>
        <a:spcPct val="0"/>
      </a:spcAft>
      <a:defRPr sz="1200" kern="1200">
        <a:solidFill>
          <a:schemeClr val="tx1"/>
        </a:solidFill>
        <a:latin typeface="Times New Roman" pitchFamily="18" charset="0"/>
        <a:ea typeface="+mn-ea"/>
        <a:cs typeface="Arial" charset="0"/>
      </a:defRPr>
    </a:lvl2pPr>
    <a:lvl3pPr marL="1143000" indent="-228600" algn="l" rtl="0" eaLnBrk="0" fontAlgn="base" hangingPunct="0">
      <a:spcBef>
        <a:spcPct val="30000"/>
      </a:spcBef>
      <a:spcAft>
        <a:spcPct val="0"/>
      </a:spcAft>
      <a:defRPr sz="1200" kern="1200">
        <a:solidFill>
          <a:schemeClr val="tx1"/>
        </a:solidFill>
        <a:latin typeface="Times New Roman" pitchFamily="18" charset="0"/>
        <a:ea typeface="+mn-ea"/>
        <a:cs typeface="Arial" charset="0"/>
      </a:defRPr>
    </a:lvl3pPr>
    <a:lvl4pPr marL="1600200" indent="-228600" algn="l" rtl="0" eaLnBrk="0" fontAlgn="base" hangingPunct="0">
      <a:spcBef>
        <a:spcPct val="30000"/>
      </a:spcBef>
      <a:spcAft>
        <a:spcPct val="0"/>
      </a:spcAft>
      <a:defRPr sz="1200" kern="1200">
        <a:solidFill>
          <a:schemeClr val="tx1"/>
        </a:solidFill>
        <a:latin typeface="Times New Roman" pitchFamily="18" charset="0"/>
        <a:ea typeface="+mn-ea"/>
        <a:cs typeface="Arial" charset="0"/>
      </a:defRPr>
    </a:lvl4pPr>
    <a:lvl5pPr marL="2057400" indent="-228600" algn="l" rtl="0" eaLnBrk="0" fontAlgn="base" hangingPunct="0">
      <a:spcBef>
        <a:spcPct val="30000"/>
      </a:spcBef>
      <a:spcAft>
        <a:spcPct val="0"/>
      </a:spcAft>
      <a:defRPr sz="1200" kern="1200">
        <a:solidFill>
          <a:schemeClr val="tx1"/>
        </a:solidFill>
        <a:latin typeface="Times New Roman" pitchFamily="18"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NZ" dirty="0"/>
          </a:p>
        </p:txBody>
      </p:sp>
      <p:sp>
        <p:nvSpPr>
          <p:cNvPr id="4" name="Slide Number Placeholder 3"/>
          <p:cNvSpPr>
            <a:spLocks noGrp="1"/>
          </p:cNvSpPr>
          <p:nvPr>
            <p:ph type="sldNum" sz="quarter" idx="5"/>
          </p:nvPr>
        </p:nvSpPr>
        <p:spPr/>
        <p:txBody>
          <a:bodyPr/>
          <a:lstStyle/>
          <a:p>
            <a:fld id="{A8F60D11-55E4-4390-A514-46E5E11D1097}" type="slidenum">
              <a:rPr lang="en-NZ" smtClean="0"/>
              <a:t>3</a:t>
            </a:fld>
            <a:endParaRPr lang="en-NZ"/>
          </a:p>
        </p:txBody>
      </p:sp>
    </p:spTree>
    <p:extLst>
      <p:ext uri="{BB962C8B-B14F-4D97-AF65-F5344CB8AC3E}">
        <p14:creationId xmlns:p14="http://schemas.microsoft.com/office/powerpoint/2010/main" val="35817856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NZ" sz="1200" kern="1200" dirty="0">
                <a:solidFill>
                  <a:srgbClr val="000000"/>
                </a:solidFill>
                <a:latin typeface="Times New Roman" pitchFamily="18" charset="0"/>
                <a:ea typeface="+mn-ea"/>
                <a:cs typeface="Arial" charset="0"/>
              </a:rPr>
              <a:t>Hash Table is a </a:t>
            </a:r>
            <a:r>
              <a:rPr lang="en-NZ" sz="1200" b="1" kern="1200" dirty="0">
                <a:solidFill>
                  <a:srgbClr val="000000"/>
                </a:solidFill>
                <a:latin typeface="Times New Roman" pitchFamily="18" charset="0"/>
                <a:ea typeface="+mn-ea"/>
                <a:cs typeface="Arial" charset="0"/>
              </a:rPr>
              <a:t>data structure </a:t>
            </a:r>
            <a:r>
              <a:rPr lang="en-NZ" sz="1200" kern="1200" dirty="0">
                <a:solidFill>
                  <a:srgbClr val="000000"/>
                </a:solidFill>
                <a:latin typeface="Times New Roman" pitchFamily="18" charset="0"/>
                <a:ea typeface="+mn-ea"/>
                <a:cs typeface="Arial" charset="0"/>
              </a:rPr>
              <a:t>which stores data in an associative manner. In a hash table, data is stored in an </a:t>
            </a:r>
            <a:r>
              <a:rPr lang="en-NZ" sz="1200" b="1" kern="1200" dirty="0">
                <a:solidFill>
                  <a:srgbClr val="0000FF"/>
                </a:solidFill>
                <a:latin typeface="Times New Roman" pitchFamily="18" charset="0"/>
                <a:ea typeface="+mn-ea"/>
                <a:cs typeface="Arial" charset="0"/>
              </a:rPr>
              <a:t>array format</a:t>
            </a:r>
            <a:r>
              <a:rPr lang="en-NZ" sz="1200" kern="1200" dirty="0">
                <a:solidFill>
                  <a:srgbClr val="000000"/>
                </a:solidFill>
                <a:latin typeface="Times New Roman" pitchFamily="18" charset="0"/>
                <a:ea typeface="+mn-ea"/>
                <a:cs typeface="Arial" charset="0"/>
              </a:rPr>
              <a:t>, where each data value has its own </a:t>
            </a:r>
            <a:r>
              <a:rPr lang="en-NZ" sz="1200" b="1" kern="1200" dirty="0">
                <a:solidFill>
                  <a:srgbClr val="0000FF"/>
                </a:solidFill>
                <a:latin typeface="Times New Roman" pitchFamily="18" charset="0"/>
                <a:ea typeface="+mn-ea"/>
                <a:cs typeface="Arial" charset="0"/>
              </a:rPr>
              <a:t>unique index value</a:t>
            </a:r>
            <a:r>
              <a:rPr lang="en-NZ" sz="1200" kern="1200" dirty="0">
                <a:solidFill>
                  <a:srgbClr val="000000"/>
                </a:solidFill>
                <a:latin typeface="Times New Roman" pitchFamily="18" charset="0"/>
                <a:ea typeface="+mn-ea"/>
                <a:cs typeface="Arial" charset="0"/>
              </a:rPr>
              <a:t>. </a:t>
            </a:r>
          </a:p>
          <a:p>
            <a:pPr marL="342900" indent="-342900" algn="just">
              <a:buFont typeface="Arial" panose="020B0604020202020204" pitchFamily="34" charset="0"/>
              <a:buChar char="•"/>
            </a:pPr>
            <a:r>
              <a:rPr lang="en-NZ" sz="1200" kern="1200" dirty="0">
                <a:solidFill>
                  <a:srgbClr val="000000"/>
                </a:solidFill>
                <a:latin typeface="Times New Roman" pitchFamily="18" charset="0"/>
                <a:ea typeface="+mn-ea"/>
                <a:cs typeface="Arial" charset="0"/>
              </a:rPr>
              <a:t>Hash Table uses an array as a storage medium.</a:t>
            </a:r>
          </a:p>
          <a:p>
            <a:pPr marL="342900" indent="-342900" algn="just">
              <a:buFont typeface="Arial" panose="020B0604020202020204" pitchFamily="34" charset="0"/>
              <a:buChar char="•"/>
            </a:pPr>
            <a:r>
              <a:rPr lang="en-NZ" sz="1200" kern="1200" dirty="0">
                <a:solidFill>
                  <a:srgbClr val="000000"/>
                </a:solidFill>
                <a:latin typeface="Times New Roman" pitchFamily="18" charset="0"/>
                <a:ea typeface="+mn-ea"/>
                <a:cs typeface="Arial" charset="0"/>
              </a:rPr>
              <a:t>Use hash technique to generate an index where an element is to be inserted or is to be located from.</a:t>
            </a:r>
          </a:p>
          <a:p>
            <a:pPr algn="just"/>
            <a:r>
              <a:rPr lang="en-NZ" sz="1200" kern="1200" dirty="0">
                <a:solidFill>
                  <a:srgbClr val="000000"/>
                </a:solidFill>
                <a:latin typeface="Times New Roman" pitchFamily="18" charset="0"/>
                <a:ea typeface="+mn-ea"/>
                <a:cs typeface="Arial" charset="0"/>
              </a:rPr>
              <a:t>Hash table data structure allow the data insertion and search operations very fast irrespective of the size of the data. </a:t>
            </a:r>
          </a:p>
          <a:p>
            <a:pPr marL="342900" indent="-342900" algn="just">
              <a:buFont typeface="Arial" panose="020B0604020202020204" pitchFamily="34" charset="0"/>
              <a:buChar char="•"/>
            </a:pPr>
            <a:r>
              <a:rPr lang="en-NZ" sz="1200" kern="1200" dirty="0">
                <a:solidFill>
                  <a:srgbClr val="000000"/>
                </a:solidFill>
                <a:latin typeface="Times New Roman" pitchFamily="18" charset="0"/>
                <a:ea typeface="+mn-ea"/>
                <a:cs typeface="Arial" charset="0"/>
              </a:rPr>
              <a:t>Access of data becomes very fast because we know the index of the desired data.</a:t>
            </a:r>
            <a:endParaRPr lang="en-NZ" sz="1200" b="0" i="0" kern="1200" dirty="0">
              <a:solidFill>
                <a:srgbClr val="000000"/>
              </a:solidFill>
              <a:effectLst/>
              <a:latin typeface="Times New Roman" pitchFamily="18" charset="0"/>
              <a:ea typeface="+mn-ea"/>
              <a:cs typeface="Arial" charset="0"/>
            </a:endParaRPr>
          </a:p>
          <a:p>
            <a:endParaRPr lang="en-NZ" dirty="0"/>
          </a:p>
        </p:txBody>
      </p:sp>
    </p:spTree>
    <p:extLst>
      <p:ext uri="{BB962C8B-B14F-4D97-AF65-F5344CB8AC3E}">
        <p14:creationId xmlns:p14="http://schemas.microsoft.com/office/powerpoint/2010/main" val="33423216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0" i="0" kern="1200">
              <a:solidFill>
                <a:schemeClr val="tx1"/>
              </a:solidFill>
              <a:effectLst/>
              <a:latin typeface="Times New Roman" pitchFamily="18" charset="0"/>
              <a:ea typeface="+mn-ea"/>
              <a:cs typeface="Arial"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kern="1200" cap="none" normalizeH="0" baseline="0">
                <a:ln>
                  <a:noFill/>
                </a:ln>
                <a:solidFill>
                  <a:srgbClr val="3A3A3A"/>
                </a:solidFill>
                <a:effectLst/>
                <a:latin typeface="Times New Roman" pitchFamily="18" charset="0"/>
                <a:ea typeface="+mn-ea"/>
                <a:cs typeface="Arial" charset="0"/>
              </a:rPr>
              <a:t>1)</a:t>
            </a:r>
            <a:r>
              <a:rPr kumimoji="0" lang="en-US" altLang="en-US" sz="1200" b="0" i="0" u="none" strike="noStrike" kern="1200" cap="none" normalizeH="0" baseline="0">
                <a:ln>
                  <a:noFill/>
                </a:ln>
                <a:solidFill>
                  <a:srgbClr val="3A3A3A"/>
                </a:solidFill>
                <a:effectLst/>
                <a:latin typeface="Times New Roman" pitchFamily="18" charset="0"/>
                <a:ea typeface="+mn-ea"/>
                <a:cs typeface="Arial" charset="0"/>
              </a:rPr>
              <a:t> The Data</a:t>
            </a:r>
            <a:r>
              <a:rPr kumimoji="0" lang="en-US" altLang="en-US" sz="1200" b="0" i="0" u="none" strike="noStrike" kern="1200" cap="none" normalizeH="0">
                <a:ln>
                  <a:noFill/>
                </a:ln>
                <a:solidFill>
                  <a:srgbClr val="3A3A3A"/>
                </a:solidFill>
                <a:effectLst/>
                <a:latin typeface="Times New Roman" pitchFamily="18" charset="0"/>
                <a:ea typeface="+mn-ea"/>
                <a:cs typeface="Arial" charset="0"/>
              </a:rPr>
              <a:t> (content </a:t>
            </a:r>
            <a:r>
              <a:rPr kumimoji="0" lang="en-US" altLang="en-US" sz="1200" b="0" i="0" u="none" strike="noStrike" kern="1200" cap="none" normalizeH="0" baseline="0">
                <a:ln>
                  <a:noFill/>
                </a:ln>
                <a:solidFill>
                  <a:srgbClr val="3A3A3A"/>
                </a:solidFill>
                <a:effectLst/>
                <a:latin typeface="Times New Roman" pitchFamily="18" charset="0"/>
                <a:ea typeface="+mn-ea"/>
                <a:cs typeface="Arial" charset="0"/>
              </a:rPr>
              <a:t>value is converted into a unique integer key or hash by using a hash function. It is used as an index to store the original element, which falls into the hash table.</a:t>
            </a:r>
            <a:endParaRPr kumimoji="0" lang="en-US" altLang="en-US" sz="1200" b="0" i="0" u="none" strike="noStrike" kern="1200" cap="none" normalizeH="0" baseline="0">
              <a:ln>
                <a:noFill/>
              </a:ln>
              <a:solidFill>
                <a:schemeClr val="tx1"/>
              </a:solidFill>
              <a:effectLst/>
              <a:latin typeface="Times New Roman" pitchFamily="18" charset="0"/>
              <a:ea typeface="+mn-ea"/>
              <a:cs typeface="Arial"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kern="1200" cap="none" normalizeH="0" baseline="0">
                <a:ln>
                  <a:noFill/>
                </a:ln>
                <a:solidFill>
                  <a:srgbClr val="3A3A3A"/>
                </a:solidFill>
                <a:effectLst/>
                <a:latin typeface="Times New Roman" pitchFamily="18" charset="0"/>
                <a:ea typeface="+mn-ea"/>
                <a:cs typeface="Arial" charset="0"/>
              </a:rPr>
              <a:t>In the above diagram, value 1 in the hash table is the unique key to store element 1 from the data array given on the LHS of the diagram.</a:t>
            </a:r>
            <a:endParaRPr kumimoji="0" lang="en-US" altLang="en-US" sz="1200" b="0" i="0" u="none" strike="noStrike" kern="1200" cap="none" normalizeH="0" baseline="0">
              <a:ln>
                <a:noFill/>
              </a:ln>
              <a:solidFill>
                <a:schemeClr val="tx1"/>
              </a:solidFill>
              <a:effectLst/>
              <a:latin typeface="Times New Roman" pitchFamily="18" charset="0"/>
              <a:ea typeface="+mn-ea"/>
              <a:cs typeface="Arial"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kern="1200" cap="none" normalizeH="0" baseline="0">
                <a:ln>
                  <a:noFill/>
                </a:ln>
                <a:solidFill>
                  <a:srgbClr val="3A3A3A"/>
                </a:solidFill>
                <a:effectLst/>
                <a:latin typeface="Times New Roman" pitchFamily="18" charset="0"/>
                <a:ea typeface="+mn-ea"/>
                <a:cs typeface="Arial" charset="0"/>
              </a:rPr>
              <a:t>#2)</a:t>
            </a:r>
            <a:r>
              <a:rPr kumimoji="0" lang="en-US" altLang="en-US" sz="1200" b="0" i="0" u="none" strike="noStrike" kern="1200" cap="none" normalizeH="0" baseline="0">
                <a:ln>
                  <a:noFill/>
                </a:ln>
                <a:solidFill>
                  <a:srgbClr val="3A3A3A"/>
                </a:solidFill>
                <a:effectLst/>
                <a:latin typeface="Times New Roman" pitchFamily="18" charset="0"/>
                <a:ea typeface="+mn-ea"/>
                <a:cs typeface="Arial" charset="0"/>
              </a:rPr>
              <a:t> The element from the data array is stored in the hash table where it can be quickly retrieved using the hashed key. In the above diagram, we saw that we have stored all the elements in the hash table after computing their respective locations using a hash function. We can use the following expressions to retrieve hash values and index.</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kern="1200" cap="none" normalizeH="0" baseline="0">
                <a:ln>
                  <a:noFill/>
                </a:ln>
                <a:solidFill>
                  <a:srgbClr val="3A3A3A"/>
                </a:solidFill>
                <a:effectLst/>
                <a:latin typeface="Times New Roman" pitchFamily="18" charset="0"/>
                <a:ea typeface="+mn-ea"/>
                <a:cs typeface="Arial" charset="0"/>
              </a:rPr>
              <a:t>hash = hash_func(key) index = hash % array_size</a:t>
            </a:r>
            <a:r>
              <a:rPr kumimoji="0" lang="en-US" altLang="en-US" sz="1200" b="0" i="0" u="none" strike="noStrike" kern="1200" cap="none" normalizeH="0" baseline="0">
                <a:ln>
                  <a:noFill/>
                </a:ln>
                <a:solidFill>
                  <a:schemeClr val="tx1"/>
                </a:solidFill>
                <a:effectLst/>
                <a:latin typeface="Times New Roman" pitchFamily="18" charset="0"/>
                <a:ea typeface="+mn-ea"/>
                <a:cs typeface="Arial" charset="0"/>
              </a:rPr>
              <a:t> </a:t>
            </a:r>
          </a:p>
          <a:p>
            <a:endParaRPr lang="en-NZ"/>
          </a:p>
        </p:txBody>
      </p:sp>
    </p:spTree>
    <p:extLst>
      <p:ext uri="{BB962C8B-B14F-4D97-AF65-F5344CB8AC3E}">
        <p14:creationId xmlns:p14="http://schemas.microsoft.com/office/powerpoint/2010/main" val="12047439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0" i="0" kern="1200" dirty="0">
              <a:solidFill>
                <a:schemeClr val="tx1"/>
              </a:solidFill>
              <a:effectLst/>
              <a:latin typeface="Times New Roman" pitchFamily="18" charset="0"/>
              <a:ea typeface="+mn-ea"/>
              <a:cs typeface="Arial" charset="0"/>
            </a:endParaRPr>
          </a:p>
          <a:p>
            <a:endParaRPr lang="en-NZ" dirty="0"/>
          </a:p>
        </p:txBody>
      </p:sp>
    </p:spTree>
    <p:extLst>
      <p:ext uri="{BB962C8B-B14F-4D97-AF65-F5344CB8AC3E}">
        <p14:creationId xmlns:p14="http://schemas.microsoft.com/office/powerpoint/2010/main" val="21942589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Z" dirty="0"/>
          </a:p>
        </p:txBody>
      </p:sp>
    </p:spTree>
    <p:extLst>
      <p:ext uri="{BB962C8B-B14F-4D97-AF65-F5344CB8AC3E}">
        <p14:creationId xmlns:p14="http://schemas.microsoft.com/office/powerpoint/2010/main" val="9598921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algn="l" rtl="0" eaLnBrk="1" fontAlgn="t" latinLnBrk="0" hangingPunct="1">
              <a:spcBef>
                <a:spcPts val="0"/>
              </a:spcBef>
              <a:spcAft>
                <a:spcPts val="0"/>
              </a:spcAft>
            </a:pPr>
            <a:r>
              <a:rPr lang="en-NZ" sz="1800" b="0" i="0" u="none" strike="noStrike" kern="1200" dirty="0">
                <a:solidFill>
                  <a:srgbClr val="FFFFFF"/>
                </a:solidFill>
                <a:effectLst/>
                <a:latin typeface="Calibri" panose="020F0502020204030204" pitchFamily="34" charset="0"/>
              </a:rPr>
              <a:t>10 data = (Erin, Barry, Harry, Fred, Andrew, Ian, David, Grant, Colin, Daniel)</a:t>
            </a:r>
            <a:endParaRPr lang="en-NZ" b="0" dirty="0"/>
          </a:p>
        </p:txBody>
      </p:sp>
    </p:spTree>
    <p:extLst>
      <p:ext uri="{BB962C8B-B14F-4D97-AF65-F5344CB8AC3E}">
        <p14:creationId xmlns:p14="http://schemas.microsoft.com/office/powerpoint/2010/main" val="35789157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21" name="diagonals"/>
          <p:cNvGrpSpPr/>
          <p:nvPr/>
        </p:nvGrpSpPr>
        <p:grpSpPr>
          <a:xfrm>
            <a:off x="7518402" y="4145283"/>
            <a:ext cx="4687337" cy="2731407"/>
            <a:chOff x="5638800" y="3108960"/>
            <a:chExt cx="3515503" cy="2048555"/>
          </a:xfrm>
        </p:grpSpPr>
        <p:cxnSp>
          <p:nvCxnSpPr>
            <p:cNvPr id="14" name="Straight Connector 13"/>
            <p:cNvCxnSpPr/>
            <p:nvPr/>
          </p:nvCxnSpPr>
          <p:spPr>
            <a:xfrm flipV="1">
              <a:off x="5638800" y="3108960"/>
              <a:ext cx="3515503" cy="2037116"/>
            </a:xfrm>
            <a:prstGeom prst="line">
              <a:avLst/>
            </a:prstGeom>
            <a:noFill/>
            <a:ln w="38100">
              <a:gradFill>
                <a:gsLst>
                  <a:gs pos="50000">
                    <a:schemeClr val="accent1">
                      <a:lumMod val="75000"/>
                    </a:schemeClr>
                  </a:gs>
                  <a:gs pos="0">
                    <a:schemeClr val="accent1"/>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cxnSp>
          <p:nvCxnSpPr>
            <p:cNvPr id="17" name="Straight Connector 16"/>
            <p:cNvCxnSpPr/>
            <p:nvPr/>
          </p:nvCxnSpPr>
          <p:spPr>
            <a:xfrm flipV="1">
              <a:off x="6004643" y="3333750"/>
              <a:ext cx="3149660" cy="1823765"/>
            </a:xfrm>
            <a:prstGeom prst="line">
              <a:avLst/>
            </a:prstGeom>
            <a:noFill/>
            <a:ln w="28575">
              <a:gradFill>
                <a:gsLst>
                  <a:gs pos="0">
                    <a:schemeClr val="accent1">
                      <a:lumMod val="75000"/>
                    </a:schemeClr>
                  </a:gs>
                  <a:gs pos="50000">
                    <a:schemeClr val="accent1">
                      <a:lumMod val="75000"/>
                    </a:schemeClr>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cxnSp>
          <p:nvCxnSpPr>
            <p:cNvPr id="19" name="Straight Connector 18"/>
            <p:cNvCxnSpPr/>
            <p:nvPr/>
          </p:nvCxnSpPr>
          <p:spPr>
            <a:xfrm flipV="1">
              <a:off x="6388342" y="3549891"/>
              <a:ext cx="2765961" cy="1600149"/>
            </a:xfrm>
            <a:prstGeom prst="line">
              <a:avLst/>
            </a:prstGeom>
            <a:noFill/>
            <a:ln w="25400">
              <a:gradFill>
                <a:gsLst>
                  <a:gs pos="0">
                    <a:schemeClr val="accent1">
                      <a:lumMod val="50000"/>
                    </a:schemeClr>
                  </a:gs>
                  <a:gs pos="100000">
                    <a:schemeClr val="accent1">
                      <a:lumMod val="75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grpSp>
      <p:grpSp>
        <p:nvGrpSpPr>
          <p:cNvPr id="12" name="bottom lines"/>
          <p:cNvGrpSpPr/>
          <p:nvPr/>
        </p:nvGrpSpPr>
        <p:grpSpPr>
          <a:xfrm>
            <a:off x="-8918" y="6057151"/>
            <a:ext cx="5500159" cy="820207"/>
            <a:chOff x="-6689" y="4553748"/>
            <a:chExt cx="4125119" cy="615155"/>
          </a:xfrm>
        </p:grpSpPr>
        <p:sp>
          <p:nvSpPr>
            <p:cNvPr id="9" name="Freeform 8"/>
            <p:cNvSpPr/>
            <p:nvPr/>
          </p:nvSpPr>
          <p:spPr>
            <a:xfrm rot="16200000">
              <a:off x="1754302" y="2802395"/>
              <a:ext cx="612775" cy="4115481"/>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 name="connsiteX0" fmla="*/ 0 w 612775"/>
                <a:gd name="connsiteY0" fmla="*/ 4115481 h 4115481"/>
                <a:gd name="connsiteX1" fmla="*/ 612775 w 612775"/>
                <a:gd name="connsiteY1" fmla="*/ 3180443 h 4115481"/>
                <a:gd name="connsiteX2" fmla="*/ 612775 w 612775"/>
                <a:gd name="connsiteY2" fmla="*/ 0 h 4115481"/>
              </a:gdLst>
              <a:ahLst/>
              <a:cxnLst>
                <a:cxn ang="0">
                  <a:pos x="connsiteX0" y="connsiteY0"/>
                </a:cxn>
                <a:cxn ang="0">
                  <a:pos x="connsiteX1" y="connsiteY1"/>
                </a:cxn>
                <a:cxn ang="0">
                  <a:pos x="connsiteX2" y="connsiteY2"/>
                </a:cxn>
              </a:cxnLst>
              <a:rect l="l" t="t" r="r" b="b"/>
              <a:pathLst>
                <a:path w="612775" h="4115481">
                  <a:moveTo>
                    <a:pt x="0" y="4115481"/>
                  </a:moveTo>
                  <a:lnTo>
                    <a:pt x="612775" y="3180443"/>
                  </a:lnTo>
                  <a:lnTo>
                    <a:pt x="612775" y="0"/>
                  </a:lnTo>
                </a:path>
              </a:pathLst>
            </a:custGeom>
            <a:noFill/>
            <a:ln w="38100">
              <a:gradFill>
                <a:gsLst>
                  <a:gs pos="50000">
                    <a:schemeClr val="accent1">
                      <a:lumMod val="75000"/>
                    </a:schemeClr>
                  </a:gs>
                  <a:gs pos="0">
                    <a:schemeClr val="accent1"/>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a:p>
          </p:txBody>
        </p:sp>
        <p:sp>
          <p:nvSpPr>
            <p:cNvPr id="10" name="Freeform 9"/>
            <p:cNvSpPr/>
            <p:nvPr/>
          </p:nvSpPr>
          <p:spPr>
            <a:xfrm rot="16200000">
              <a:off x="1604659" y="3152814"/>
              <a:ext cx="410751" cy="3621427"/>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 name="connsiteX0" fmla="*/ 0 w 612775"/>
                <a:gd name="connsiteY0" fmla="*/ 3919538 h 3919538"/>
                <a:gd name="connsiteX1" fmla="*/ 202024 w 612775"/>
                <a:gd name="connsiteY1" fmla="*/ 3607676 h 3919538"/>
                <a:gd name="connsiteX2" fmla="*/ 612775 w 612775"/>
                <a:gd name="connsiteY2" fmla="*/ 2984500 h 3919538"/>
                <a:gd name="connsiteX3" fmla="*/ 612775 w 612775"/>
                <a:gd name="connsiteY3" fmla="*/ 0 h 3919538"/>
                <a:gd name="connsiteX0" fmla="*/ 0 w 410751"/>
                <a:gd name="connsiteY0" fmla="*/ 3607676 h 3607676"/>
                <a:gd name="connsiteX1" fmla="*/ 410751 w 410751"/>
                <a:gd name="connsiteY1" fmla="*/ 2984500 h 3607676"/>
                <a:gd name="connsiteX2" fmla="*/ 410751 w 410751"/>
                <a:gd name="connsiteY2" fmla="*/ 0 h 3607676"/>
                <a:gd name="connsiteX0" fmla="*/ 0 w 410751"/>
                <a:gd name="connsiteY0" fmla="*/ 3607676 h 3607676"/>
                <a:gd name="connsiteX1" fmla="*/ 410751 w 410751"/>
                <a:gd name="connsiteY1" fmla="*/ 2984500 h 3607676"/>
                <a:gd name="connsiteX2" fmla="*/ 409575 w 410751"/>
                <a:gd name="connsiteY2" fmla="*/ 185820 h 3607676"/>
                <a:gd name="connsiteX3" fmla="*/ 410751 w 410751"/>
                <a:gd name="connsiteY3" fmla="*/ 0 h 3607676"/>
                <a:gd name="connsiteX0" fmla="*/ 0 w 410751"/>
                <a:gd name="connsiteY0" fmla="*/ 3421856 h 3421856"/>
                <a:gd name="connsiteX1" fmla="*/ 410751 w 410751"/>
                <a:gd name="connsiteY1" fmla="*/ 2798680 h 3421856"/>
                <a:gd name="connsiteX2" fmla="*/ 409575 w 410751"/>
                <a:gd name="connsiteY2" fmla="*/ 0 h 3421856"/>
                <a:gd name="connsiteX0" fmla="*/ 0 w 410751"/>
                <a:gd name="connsiteY0" fmla="*/ 3614170 h 3614170"/>
                <a:gd name="connsiteX1" fmla="*/ 410751 w 410751"/>
                <a:gd name="connsiteY1" fmla="*/ 2990994 h 3614170"/>
                <a:gd name="connsiteX2" fmla="*/ 405947 w 410751"/>
                <a:gd name="connsiteY2" fmla="*/ 0 h 3614170"/>
                <a:gd name="connsiteX0" fmla="*/ 0 w 410751"/>
                <a:gd name="connsiteY0" fmla="*/ 3621427 h 3621427"/>
                <a:gd name="connsiteX1" fmla="*/ 410751 w 410751"/>
                <a:gd name="connsiteY1" fmla="*/ 2998251 h 3621427"/>
                <a:gd name="connsiteX2" fmla="*/ 405947 w 410751"/>
                <a:gd name="connsiteY2" fmla="*/ 0 h 3621427"/>
              </a:gdLst>
              <a:ahLst/>
              <a:cxnLst>
                <a:cxn ang="0">
                  <a:pos x="connsiteX0" y="connsiteY0"/>
                </a:cxn>
                <a:cxn ang="0">
                  <a:pos x="connsiteX1" y="connsiteY1"/>
                </a:cxn>
                <a:cxn ang="0">
                  <a:pos x="connsiteX2" y="connsiteY2"/>
                </a:cxn>
              </a:cxnLst>
              <a:rect l="l" t="t" r="r" b="b"/>
              <a:pathLst>
                <a:path w="410751" h="3621427">
                  <a:moveTo>
                    <a:pt x="0" y="3621427"/>
                  </a:moveTo>
                  <a:lnTo>
                    <a:pt x="410751" y="2998251"/>
                  </a:lnTo>
                  <a:cubicBezTo>
                    <a:pt x="410359" y="2065358"/>
                    <a:pt x="406339" y="932893"/>
                    <a:pt x="405947" y="0"/>
                  </a:cubicBezTo>
                </a:path>
              </a:pathLst>
            </a:custGeom>
            <a:noFill/>
            <a:ln w="28575">
              <a:gradFill>
                <a:gsLst>
                  <a:gs pos="0">
                    <a:schemeClr val="accent1">
                      <a:lumMod val="75000"/>
                    </a:schemeClr>
                  </a:gs>
                  <a:gs pos="50000">
                    <a:schemeClr val="accent1">
                      <a:lumMod val="75000"/>
                    </a:schemeClr>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a:p>
          </p:txBody>
        </p:sp>
        <p:sp>
          <p:nvSpPr>
            <p:cNvPr id="11" name="Freeform 10"/>
            <p:cNvSpPr/>
            <p:nvPr/>
          </p:nvSpPr>
          <p:spPr>
            <a:xfrm rot="16200000">
              <a:off x="1462308" y="3453376"/>
              <a:ext cx="241768" cy="3179761"/>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 name="connsiteX0" fmla="*/ 0 w 612775"/>
                <a:gd name="connsiteY0" fmla="*/ 3919538 h 3919538"/>
                <a:gd name="connsiteX1" fmla="*/ 373856 w 612775"/>
                <a:gd name="connsiteY1" fmla="*/ 3344891 h 3919538"/>
                <a:gd name="connsiteX2" fmla="*/ 612775 w 612775"/>
                <a:gd name="connsiteY2" fmla="*/ 2984500 h 3919538"/>
                <a:gd name="connsiteX3" fmla="*/ 612775 w 612775"/>
                <a:gd name="connsiteY3" fmla="*/ 0 h 3919538"/>
                <a:gd name="connsiteX0" fmla="*/ 0 w 238919"/>
                <a:gd name="connsiteY0" fmla="*/ 3344891 h 3344891"/>
                <a:gd name="connsiteX1" fmla="*/ 238919 w 238919"/>
                <a:gd name="connsiteY1" fmla="*/ 2984500 h 3344891"/>
                <a:gd name="connsiteX2" fmla="*/ 238919 w 238919"/>
                <a:gd name="connsiteY2" fmla="*/ 0 h 3344891"/>
                <a:gd name="connsiteX0" fmla="*/ 0 w 238919"/>
                <a:gd name="connsiteY0" fmla="*/ 3344891 h 3344891"/>
                <a:gd name="connsiteX1" fmla="*/ 238919 w 238919"/>
                <a:gd name="connsiteY1" fmla="*/ 2984500 h 3344891"/>
                <a:gd name="connsiteX2" fmla="*/ 238125 w 238919"/>
                <a:gd name="connsiteY2" fmla="*/ 368330 h 3344891"/>
                <a:gd name="connsiteX3" fmla="*/ 238919 w 238919"/>
                <a:gd name="connsiteY3" fmla="*/ 0 h 3344891"/>
                <a:gd name="connsiteX0" fmla="*/ 0 w 238919"/>
                <a:gd name="connsiteY0" fmla="*/ 2976561 h 2976561"/>
                <a:gd name="connsiteX1" fmla="*/ 238919 w 238919"/>
                <a:gd name="connsiteY1" fmla="*/ 2616170 h 2976561"/>
                <a:gd name="connsiteX2" fmla="*/ 238125 w 238919"/>
                <a:gd name="connsiteY2" fmla="*/ 0 h 2976561"/>
                <a:gd name="connsiteX0" fmla="*/ 0 w 241768"/>
                <a:gd name="connsiteY0" fmla="*/ 3179761 h 3179761"/>
                <a:gd name="connsiteX1" fmla="*/ 238919 w 241768"/>
                <a:gd name="connsiteY1" fmla="*/ 2819370 h 3179761"/>
                <a:gd name="connsiteX2" fmla="*/ 241754 w 241768"/>
                <a:gd name="connsiteY2" fmla="*/ 0 h 3179761"/>
              </a:gdLst>
              <a:ahLst/>
              <a:cxnLst>
                <a:cxn ang="0">
                  <a:pos x="connsiteX0" y="connsiteY0"/>
                </a:cxn>
                <a:cxn ang="0">
                  <a:pos x="connsiteX1" y="connsiteY1"/>
                </a:cxn>
                <a:cxn ang="0">
                  <a:pos x="connsiteX2" y="connsiteY2"/>
                </a:cxn>
              </a:cxnLst>
              <a:rect l="l" t="t" r="r" b="b"/>
              <a:pathLst>
                <a:path w="241768" h="3179761">
                  <a:moveTo>
                    <a:pt x="0" y="3179761"/>
                  </a:moveTo>
                  <a:lnTo>
                    <a:pt x="238919" y="2819370"/>
                  </a:lnTo>
                  <a:cubicBezTo>
                    <a:pt x="238654" y="1947313"/>
                    <a:pt x="242019" y="872057"/>
                    <a:pt x="241754" y="0"/>
                  </a:cubicBezTo>
                </a:path>
              </a:pathLst>
            </a:custGeom>
            <a:noFill/>
            <a:ln w="25400">
              <a:gradFill>
                <a:gsLst>
                  <a:gs pos="0">
                    <a:schemeClr val="accent1">
                      <a:lumMod val="50000"/>
                    </a:schemeClr>
                  </a:gs>
                  <a:gs pos="100000">
                    <a:schemeClr val="accent1">
                      <a:lumMod val="75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a:p>
          </p:txBody>
        </p:sp>
      </p:grpSp>
      <p:sp>
        <p:nvSpPr>
          <p:cNvPr id="2" name="Title 1"/>
          <p:cNvSpPr>
            <a:spLocks noGrp="1"/>
          </p:cNvSpPr>
          <p:nvPr>
            <p:ph type="ctrTitle"/>
          </p:nvPr>
        </p:nvSpPr>
        <p:spPr>
          <a:xfrm>
            <a:off x="1625600" y="584202"/>
            <a:ext cx="8737600" cy="2000251"/>
          </a:xfrm>
        </p:spPr>
        <p:txBody>
          <a:bodyPr>
            <a:normAutofit/>
          </a:bodyPr>
          <a:lstStyle>
            <a:lvl1pPr>
              <a:defRPr sz="5400"/>
            </a:lvl1pPr>
          </a:lstStyle>
          <a:p>
            <a:r>
              <a:rPr lang="en-US"/>
              <a:t>Click to edit Master title style</a:t>
            </a:r>
            <a:endParaRPr/>
          </a:p>
        </p:txBody>
      </p:sp>
      <p:sp>
        <p:nvSpPr>
          <p:cNvPr id="3" name="Subtitle 2"/>
          <p:cNvSpPr>
            <a:spLocks noGrp="1"/>
          </p:cNvSpPr>
          <p:nvPr>
            <p:ph type="subTitle" idx="1"/>
          </p:nvPr>
        </p:nvSpPr>
        <p:spPr>
          <a:xfrm>
            <a:off x="1625600" y="2616200"/>
            <a:ext cx="8737600" cy="1752600"/>
          </a:xfrm>
        </p:spPr>
        <p:txBody>
          <a:bodyPr>
            <a:normAutofit/>
          </a:bodyPr>
          <a:lstStyle>
            <a:lvl1pPr marL="0" indent="0" algn="l">
              <a:spcBef>
                <a:spcPts val="0"/>
              </a:spcBef>
              <a:buNone/>
              <a:defRPr sz="2800" cap="all" spc="200" baseline="0">
                <a:solidFill>
                  <a:schemeClr val="accent1"/>
                </a:solidFill>
              </a:defRPr>
            </a:lvl1pPr>
            <a:lvl2pPr marL="609493" indent="0" algn="ctr">
              <a:buNone/>
              <a:defRPr>
                <a:solidFill>
                  <a:schemeClr val="tx1">
                    <a:tint val="75000"/>
                  </a:schemeClr>
                </a:solidFill>
              </a:defRPr>
            </a:lvl2pPr>
            <a:lvl3pPr marL="1218987" indent="0" algn="ctr">
              <a:buNone/>
              <a:defRPr>
                <a:solidFill>
                  <a:schemeClr val="tx1">
                    <a:tint val="75000"/>
                  </a:schemeClr>
                </a:solidFill>
              </a:defRPr>
            </a:lvl3pPr>
            <a:lvl4pPr marL="1828480" indent="0" algn="ctr">
              <a:buNone/>
              <a:defRPr>
                <a:solidFill>
                  <a:schemeClr val="tx1">
                    <a:tint val="75000"/>
                  </a:schemeClr>
                </a:solidFill>
              </a:defRPr>
            </a:lvl4pPr>
            <a:lvl5pPr marL="2437973" indent="0" algn="ctr">
              <a:buNone/>
              <a:defRPr>
                <a:solidFill>
                  <a:schemeClr val="tx1">
                    <a:tint val="75000"/>
                  </a:schemeClr>
                </a:solidFill>
              </a:defRPr>
            </a:lvl5pPr>
            <a:lvl6pPr marL="3047467" indent="0" algn="ctr">
              <a:buNone/>
              <a:defRPr>
                <a:solidFill>
                  <a:schemeClr val="tx1">
                    <a:tint val="75000"/>
                  </a:schemeClr>
                </a:solidFill>
              </a:defRPr>
            </a:lvl6pPr>
            <a:lvl7pPr marL="3656960" indent="0" algn="ctr">
              <a:buNone/>
              <a:defRPr>
                <a:solidFill>
                  <a:schemeClr val="tx1">
                    <a:tint val="75000"/>
                  </a:schemeClr>
                </a:solidFill>
              </a:defRPr>
            </a:lvl7pPr>
            <a:lvl8pPr marL="4266453" indent="0" algn="ctr">
              <a:buNone/>
              <a:defRPr>
                <a:solidFill>
                  <a:schemeClr val="tx1">
                    <a:tint val="75000"/>
                  </a:schemeClr>
                </a:solidFill>
              </a:defRPr>
            </a:lvl8pPr>
            <a:lvl9pPr marL="4875947" indent="0" algn="ctr">
              <a:buNone/>
              <a:defRPr>
                <a:solidFill>
                  <a:schemeClr val="tx1">
                    <a:tint val="75000"/>
                  </a:schemeClr>
                </a:solidFill>
              </a:defRPr>
            </a:lvl9pPr>
          </a:lstStyle>
          <a:p>
            <a:r>
              <a:rPr lang="en-US"/>
              <a:t>Click to edit Master subtitle style</a:t>
            </a:r>
            <a:endParaRPr/>
          </a:p>
        </p:txBody>
      </p:sp>
      <p:sp>
        <p:nvSpPr>
          <p:cNvPr id="22" name="Date Placeholder 21"/>
          <p:cNvSpPr>
            <a:spLocks noGrp="1"/>
          </p:cNvSpPr>
          <p:nvPr>
            <p:ph type="dt" sz="half" idx="10"/>
          </p:nvPr>
        </p:nvSpPr>
        <p:spPr/>
        <p:txBody>
          <a:bodyPr/>
          <a:lstStyle/>
          <a:p>
            <a:pPr>
              <a:defRPr/>
            </a:pPr>
            <a:fld id="{040EA136-679C-49EB-B3DB-1E9E3103561C}" type="datetimeFigureOut">
              <a:rPr lang="en-NZ" smtClean="0"/>
              <a:pPr>
                <a:defRPr/>
              </a:pPr>
              <a:t>18/03/2026</a:t>
            </a:fld>
            <a:endParaRPr lang="en-NZ"/>
          </a:p>
        </p:txBody>
      </p:sp>
      <p:sp>
        <p:nvSpPr>
          <p:cNvPr id="23" name="Footer Placeholder 22"/>
          <p:cNvSpPr>
            <a:spLocks noGrp="1"/>
          </p:cNvSpPr>
          <p:nvPr>
            <p:ph type="ftr" sz="quarter" idx="11"/>
          </p:nvPr>
        </p:nvSpPr>
        <p:spPr/>
        <p:txBody>
          <a:bodyPr/>
          <a:lstStyle/>
          <a:p>
            <a:pPr>
              <a:defRPr/>
            </a:pPr>
            <a:endParaRPr lang="en-NZ"/>
          </a:p>
        </p:txBody>
      </p:sp>
      <p:sp>
        <p:nvSpPr>
          <p:cNvPr id="24" name="Slide Number Placeholder 23"/>
          <p:cNvSpPr>
            <a:spLocks noGrp="1"/>
          </p:cNvSpPr>
          <p:nvPr>
            <p:ph type="sldNum" sz="quarter" idx="12"/>
          </p:nvPr>
        </p:nvSpPr>
        <p:spPr/>
        <p:txBody>
          <a:bodyPr/>
          <a:lstStyle/>
          <a:p>
            <a:pPr>
              <a:defRPr/>
            </a:pPr>
            <a:fld id="{7BE87F5F-5DF1-48EE-A5EC-54087468BDEA}" type="slidenum">
              <a:rPr lang="en-NZ" smtClean="0"/>
              <a:pPr>
                <a:defRPr/>
              </a:pPr>
              <a:t>‹#›</a:t>
            </a:fld>
            <a:endParaRPr lang="en-NZ"/>
          </a:p>
        </p:txBody>
      </p:sp>
    </p:spTree>
    <p:extLst>
      <p:ext uri="{BB962C8B-B14F-4D97-AF65-F5344CB8AC3E}">
        <p14:creationId xmlns:p14="http://schemas.microsoft.com/office/powerpoint/2010/main" val="28187570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lvl5pPr>
              <a:defRPr/>
            </a:lvl5pPr>
            <a:lvl6pPr>
              <a:defRPr/>
            </a:lvl6pPr>
            <a:lvl7pPr>
              <a:defRPr/>
            </a:lvl7pPr>
            <a:lvl8pPr>
              <a:defRPr/>
            </a:lvl8pPr>
            <a:lvl9pP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D7C3A134-F1C3-464B-BF47-54DC2DE08F52}" type="datetimeFigureOut">
              <a:rPr lang="en-US" smtClean="0"/>
              <a:t>3/18/2026</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9648F39E-9C37-485F-AC97-16BB4BDF9F49}" type="slidenum">
              <a:rPr kumimoji="0" lang="en-US" smtClean="0"/>
              <a:t>‹#›</a:t>
            </a:fld>
            <a:endParaRPr kumimoji="0" lang="en-US"/>
          </a:p>
        </p:txBody>
      </p:sp>
    </p:spTree>
    <p:extLst>
      <p:ext uri="{BB962C8B-B14F-4D97-AF65-F5344CB8AC3E}">
        <p14:creationId xmlns:p14="http://schemas.microsoft.com/office/powerpoint/2010/main" val="19583068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625600" y="2209803"/>
            <a:ext cx="8940800" cy="2764335"/>
          </a:xfrm>
        </p:spPr>
        <p:txBody>
          <a:bodyPr anchor="b">
            <a:normAutofit/>
          </a:bodyPr>
          <a:lstStyle>
            <a:lvl1pPr algn="l">
              <a:defRPr sz="5400" b="0" cap="none" baseline="0"/>
            </a:lvl1pPr>
          </a:lstStyle>
          <a:p>
            <a:r>
              <a:rPr lang="en-US"/>
              <a:t>Click to edit Master title style</a:t>
            </a:r>
            <a:endParaRPr/>
          </a:p>
        </p:txBody>
      </p:sp>
      <p:sp>
        <p:nvSpPr>
          <p:cNvPr id="3" name="Text Placeholder 2"/>
          <p:cNvSpPr>
            <a:spLocks noGrp="1"/>
          </p:cNvSpPr>
          <p:nvPr>
            <p:ph type="body" idx="1"/>
          </p:nvPr>
        </p:nvSpPr>
        <p:spPr>
          <a:xfrm>
            <a:off x="1625600" y="4951268"/>
            <a:ext cx="7071360" cy="1220933"/>
          </a:xfrm>
        </p:spPr>
        <p:txBody>
          <a:bodyPr anchor="t">
            <a:normAutofit/>
          </a:bodyPr>
          <a:lstStyle>
            <a:lvl1pPr marL="0" indent="0">
              <a:spcBef>
                <a:spcPts val="0"/>
              </a:spcBef>
              <a:buNone/>
              <a:defRPr sz="2800" cap="all" spc="200" baseline="0">
                <a:solidFill>
                  <a:schemeClr val="accent1"/>
                </a:solidFill>
              </a:defRPr>
            </a:lvl1pPr>
            <a:lvl2pPr marL="609493" indent="0">
              <a:buNone/>
              <a:defRPr sz="2400">
                <a:solidFill>
                  <a:schemeClr val="tx1">
                    <a:tint val="75000"/>
                  </a:schemeClr>
                </a:solidFill>
              </a:defRPr>
            </a:lvl2pPr>
            <a:lvl3pPr marL="1218987" indent="0">
              <a:buNone/>
              <a:defRPr sz="2100">
                <a:solidFill>
                  <a:schemeClr val="tx1">
                    <a:tint val="75000"/>
                  </a:schemeClr>
                </a:solidFill>
              </a:defRPr>
            </a:lvl3pPr>
            <a:lvl4pPr marL="1828480" indent="0">
              <a:buNone/>
              <a:defRPr sz="1900">
                <a:solidFill>
                  <a:schemeClr val="tx1">
                    <a:tint val="75000"/>
                  </a:schemeClr>
                </a:solidFill>
              </a:defRPr>
            </a:lvl4pPr>
            <a:lvl5pPr marL="2437973" indent="0">
              <a:buNone/>
              <a:defRPr sz="1900">
                <a:solidFill>
                  <a:schemeClr val="tx1">
                    <a:tint val="75000"/>
                  </a:schemeClr>
                </a:solidFill>
              </a:defRPr>
            </a:lvl5pPr>
            <a:lvl6pPr marL="3047467" indent="0">
              <a:buNone/>
              <a:defRPr sz="1900">
                <a:solidFill>
                  <a:schemeClr val="tx1">
                    <a:tint val="75000"/>
                  </a:schemeClr>
                </a:solidFill>
              </a:defRPr>
            </a:lvl6pPr>
            <a:lvl7pPr marL="3656960" indent="0">
              <a:buNone/>
              <a:defRPr sz="1900">
                <a:solidFill>
                  <a:schemeClr val="tx1">
                    <a:tint val="75000"/>
                  </a:schemeClr>
                </a:solidFill>
              </a:defRPr>
            </a:lvl7pPr>
            <a:lvl8pPr marL="4266453" indent="0">
              <a:buNone/>
              <a:defRPr sz="1900">
                <a:solidFill>
                  <a:schemeClr val="tx1">
                    <a:tint val="75000"/>
                  </a:schemeClr>
                </a:solidFill>
              </a:defRPr>
            </a:lvl8pPr>
            <a:lvl9pPr marL="4875947" indent="0">
              <a:buNone/>
              <a:defRPr sz="19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fld id="{7F6BD330-FC19-4CE3-94DE-E77688FC0E28}" type="datetimeFigureOut">
              <a:rPr lang="en-NZ" smtClean="0"/>
              <a:pPr>
                <a:defRPr/>
              </a:pPr>
              <a:t>18/03/2026</a:t>
            </a:fld>
            <a:endParaRPr lang="en-NZ"/>
          </a:p>
        </p:txBody>
      </p:sp>
      <p:sp>
        <p:nvSpPr>
          <p:cNvPr id="5" name="Footer Placeholder 4"/>
          <p:cNvSpPr>
            <a:spLocks noGrp="1"/>
          </p:cNvSpPr>
          <p:nvPr>
            <p:ph type="ftr" sz="quarter" idx="11"/>
          </p:nvPr>
        </p:nvSpPr>
        <p:spPr/>
        <p:txBody>
          <a:bodyPr/>
          <a:lstStyle/>
          <a:p>
            <a:pPr>
              <a:defRPr/>
            </a:pPr>
            <a:endParaRPr lang="en-NZ"/>
          </a:p>
        </p:txBody>
      </p:sp>
      <p:sp>
        <p:nvSpPr>
          <p:cNvPr id="6" name="Slide Number Placeholder 5"/>
          <p:cNvSpPr>
            <a:spLocks noGrp="1"/>
          </p:cNvSpPr>
          <p:nvPr>
            <p:ph type="sldNum" sz="quarter" idx="12"/>
          </p:nvPr>
        </p:nvSpPr>
        <p:spPr/>
        <p:txBody>
          <a:bodyPr/>
          <a:lstStyle/>
          <a:p>
            <a:pPr>
              <a:defRPr/>
            </a:pPr>
            <a:fld id="{44530BE5-CB34-4380-8E72-699A64A3C372}" type="slidenum">
              <a:rPr lang="en-NZ" smtClean="0"/>
              <a:pPr>
                <a:defRPr/>
              </a:pPr>
              <a:t>‹#›</a:t>
            </a:fld>
            <a:endParaRPr lang="en-NZ"/>
          </a:p>
        </p:txBody>
      </p:sp>
      <p:grpSp>
        <p:nvGrpSpPr>
          <p:cNvPr id="11" name="diagonals"/>
          <p:cNvGrpSpPr/>
          <p:nvPr/>
        </p:nvGrpSpPr>
        <p:grpSpPr>
          <a:xfrm>
            <a:off x="7518402" y="4145283"/>
            <a:ext cx="4687337" cy="2731407"/>
            <a:chOff x="5638800" y="3108960"/>
            <a:chExt cx="3515503" cy="2048555"/>
          </a:xfrm>
        </p:grpSpPr>
        <p:cxnSp>
          <p:nvCxnSpPr>
            <p:cNvPr id="12" name="Straight Connector 11"/>
            <p:cNvCxnSpPr/>
            <p:nvPr/>
          </p:nvCxnSpPr>
          <p:spPr>
            <a:xfrm flipV="1">
              <a:off x="5638800" y="3108960"/>
              <a:ext cx="3515503" cy="2037116"/>
            </a:xfrm>
            <a:prstGeom prst="line">
              <a:avLst/>
            </a:prstGeom>
            <a:noFill/>
            <a:ln w="38100">
              <a:gradFill>
                <a:gsLst>
                  <a:gs pos="50000">
                    <a:schemeClr val="accent1">
                      <a:lumMod val="75000"/>
                    </a:schemeClr>
                  </a:gs>
                  <a:gs pos="0">
                    <a:schemeClr val="accent1"/>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cxnSp>
          <p:nvCxnSpPr>
            <p:cNvPr id="13" name="Straight Connector 12"/>
            <p:cNvCxnSpPr/>
            <p:nvPr/>
          </p:nvCxnSpPr>
          <p:spPr>
            <a:xfrm flipV="1">
              <a:off x="6004643" y="3333750"/>
              <a:ext cx="3149660" cy="1823765"/>
            </a:xfrm>
            <a:prstGeom prst="line">
              <a:avLst/>
            </a:prstGeom>
            <a:noFill/>
            <a:ln w="28575">
              <a:gradFill>
                <a:gsLst>
                  <a:gs pos="0">
                    <a:schemeClr val="accent1">
                      <a:lumMod val="75000"/>
                    </a:schemeClr>
                  </a:gs>
                  <a:gs pos="50000">
                    <a:schemeClr val="accent1">
                      <a:lumMod val="75000"/>
                    </a:schemeClr>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cxnSp>
          <p:nvCxnSpPr>
            <p:cNvPr id="14" name="Straight Connector 13"/>
            <p:cNvCxnSpPr/>
            <p:nvPr/>
          </p:nvCxnSpPr>
          <p:spPr>
            <a:xfrm flipV="1">
              <a:off x="6388342" y="3549891"/>
              <a:ext cx="2765961" cy="1600149"/>
            </a:xfrm>
            <a:prstGeom prst="line">
              <a:avLst/>
            </a:prstGeom>
            <a:noFill/>
            <a:ln w="25400">
              <a:gradFill>
                <a:gsLst>
                  <a:gs pos="0">
                    <a:schemeClr val="accent1">
                      <a:lumMod val="50000"/>
                    </a:schemeClr>
                  </a:gs>
                  <a:gs pos="100000">
                    <a:schemeClr val="accent1">
                      <a:lumMod val="75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grpSp>
    </p:spTree>
    <p:extLst>
      <p:ext uri="{BB962C8B-B14F-4D97-AF65-F5344CB8AC3E}">
        <p14:creationId xmlns:p14="http://schemas.microsoft.com/office/powerpoint/2010/main" val="5979529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1219201" y="1706880"/>
            <a:ext cx="5080000" cy="4465320"/>
          </a:xfrm>
        </p:spPr>
        <p:txBody>
          <a:bodyPr>
            <a:normAutofit/>
          </a:bodyPr>
          <a:lstStyle>
            <a:lvl1pPr>
              <a:defRPr sz="2800"/>
            </a:lvl1pPr>
            <a:lvl2pPr>
              <a:defRPr sz="2400"/>
            </a:lvl2pPr>
            <a:lvl3pPr>
              <a:defRPr sz="2000"/>
            </a:lvl3pPr>
            <a:lvl4pPr>
              <a:defRPr sz="2000"/>
            </a:lvl4pPr>
            <a:lvl5pPr>
              <a:defRPr sz="2000"/>
            </a:lvl5pPr>
            <a:lvl6pPr>
              <a:defRPr sz="2000"/>
            </a:lvl6pPr>
            <a:lvl7pPr>
              <a:defRPr sz="2000"/>
            </a:lvl7pPr>
            <a:lvl8pPr>
              <a:defRPr sz="2000" baseline="0"/>
            </a:lvl8pPr>
            <a:lvl9pPr>
              <a:defRPr sz="20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6502401" y="1706880"/>
            <a:ext cx="5080000" cy="4465320"/>
          </a:xfrm>
        </p:spPr>
        <p:txBody>
          <a:bodyPr>
            <a:normAutofit/>
          </a:bodyPr>
          <a:lstStyle>
            <a:lvl1pPr>
              <a:defRPr sz="2800"/>
            </a:lvl1pPr>
            <a:lvl2pPr>
              <a:defRPr sz="24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pPr>
              <a:defRPr/>
            </a:pPr>
            <a:fld id="{8B80085D-F9B1-4E8F-88A1-A5E842D13AE9}" type="datetimeFigureOut">
              <a:rPr lang="en-NZ" smtClean="0"/>
              <a:pPr>
                <a:defRPr/>
              </a:pPr>
              <a:t>18/03/2026</a:t>
            </a:fld>
            <a:endParaRPr lang="en-NZ"/>
          </a:p>
        </p:txBody>
      </p:sp>
      <p:sp>
        <p:nvSpPr>
          <p:cNvPr id="6" name="Footer Placeholder 5"/>
          <p:cNvSpPr>
            <a:spLocks noGrp="1"/>
          </p:cNvSpPr>
          <p:nvPr>
            <p:ph type="ftr" sz="quarter" idx="11"/>
          </p:nvPr>
        </p:nvSpPr>
        <p:spPr/>
        <p:txBody>
          <a:bodyPr/>
          <a:lstStyle/>
          <a:p>
            <a:pPr>
              <a:defRPr/>
            </a:pPr>
            <a:endParaRPr lang="en-NZ"/>
          </a:p>
        </p:txBody>
      </p:sp>
      <p:sp>
        <p:nvSpPr>
          <p:cNvPr id="7" name="Slide Number Placeholder 6"/>
          <p:cNvSpPr>
            <a:spLocks noGrp="1"/>
          </p:cNvSpPr>
          <p:nvPr>
            <p:ph type="sldNum" sz="quarter" idx="12"/>
          </p:nvPr>
        </p:nvSpPr>
        <p:spPr/>
        <p:txBody>
          <a:bodyPr/>
          <a:lstStyle/>
          <a:p>
            <a:pPr>
              <a:defRPr/>
            </a:pPr>
            <a:fld id="{9066C4F4-CD79-49A8-B953-9DDA8B05887C}" type="slidenum">
              <a:rPr lang="en-NZ" smtClean="0"/>
              <a:pPr>
                <a:defRPr/>
              </a:pPr>
              <a:t>‹#›</a:t>
            </a:fld>
            <a:endParaRPr lang="en-NZ"/>
          </a:p>
        </p:txBody>
      </p:sp>
    </p:spTree>
    <p:extLst>
      <p:ext uri="{BB962C8B-B14F-4D97-AF65-F5344CB8AC3E}">
        <p14:creationId xmlns:p14="http://schemas.microsoft.com/office/powerpoint/2010/main" val="4008358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1219200" y="1701800"/>
            <a:ext cx="5084064" cy="914400"/>
          </a:xfrm>
        </p:spPr>
        <p:txBody>
          <a:bodyPr anchor="b">
            <a:normAutofit/>
          </a:bodyPr>
          <a:lstStyle>
            <a:lvl1pPr marL="0" indent="0">
              <a:spcBef>
                <a:spcPts val="0"/>
              </a:spcBef>
              <a:buNone/>
              <a:defRPr sz="2800" b="0" cap="all" spc="200" baseline="0">
                <a:solidFill>
                  <a:schemeClr val="accent1"/>
                </a:solidFill>
              </a:defRPr>
            </a:lvl1pPr>
            <a:lvl2pPr marL="609493" indent="0">
              <a:buNone/>
              <a:defRPr sz="2700" b="1"/>
            </a:lvl2pPr>
            <a:lvl3pPr marL="1218987" indent="0">
              <a:buNone/>
              <a:defRPr sz="2400" b="1"/>
            </a:lvl3pPr>
            <a:lvl4pPr marL="1828480" indent="0">
              <a:buNone/>
              <a:defRPr sz="2100" b="1"/>
            </a:lvl4pPr>
            <a:lvl5pPr marL="2437973" indent="0">
              <a:buNone/>
              <a:defRPr sz="2100" b="1"/>
            </a:lvl5pPr>
            <a:lvl6pPr marL="3047467" indent="0">
              <a:buNone/>
              <a:defRPr sz="2100" b="1"/>
            </a:lvl6pPr>
            <a:lvl7pPr marL="3656960" indent="0">
              <a:buNone/>
              <a:defRPr sz="2100" b="1"/>
            </a:lvl7pPr>
            <a:lvl8pPr marL="4266453" indent="0">
              <a:buNone/>
              <a:defRPr sz="2100" b="1"/>
            </a:lvl8pPr>
            <a:lvl9pPr marL="4875947" indent="0">
              <a:buNone/>
              <a:defRPr sz="2100" b="1"/>
            </a:lvl9pPr>
          </a:lstStyle>
          <a:p>
            <a:pPr lvl="0"/>
            <a:r>
              <a:rPr lang="en-US"/>
              <a:t>Click to edit Master text styles</a:t>
            </a:r>
          </a:p>
        </p:txBody>
      </p:sp>
      <p:sp>
        <p:nvSpPr>
          <p:cNvPr id="4" name="Content Placeholder 3"/>
          <p:cNvSpPr>
            <a:spLocks noGrp="1"/>
          </p:cNvSpPr>
          <p:nvPr>
            <p:ph sz="half" idx="2"/>
          </p:nvPr>
        </p:nvSpPr>
        <p:spPr>
          <a:xfrm>
            <a:off x="1219201" y="2717800"/>
            <a:ext cx="5080000" cy="3454400"/>
          </a:xfrm>
        </p:spPr>
        <p:txBody>
          <a:bodyPr>
            <a:noAutofit/>
          </a:bodyPr>
          <a:lstStyle>
            <a:lvl1pPr>
              <a:defRPr sz="2800"/>
            </a:lvl1pPr>
            <a:lvl2pPr>
              <a:defRPr sz="2400"/>
            </a:lvl2pPr>
            <a:lvl3pPr>
              <a:defRPr sz="2000"/>
            </a:lvl3pPr>
            <a:lvl4pPr>
              <a:defRPr sz="2000"/>
            </a:lvl4pPr>
            <a:lvl5pPr>
              <a:defRPr sz="2000"/>
            </a:lvl5pPr>
            <a:lvl6pPr>
              <a:defRPr sz="2000"/>
            </a:lvl6pPr>
            <a:lvl7pPr>
              <a:defRPr sz="2000" baseline="0"/>
            </a:lvl7pPr>
            <a:lvl8pPr>
              <a:defRPr sz="2000" baseline="0"/>
            </a:lvl8pPr>
            <a:lvl9pPr>
              <a:defRPr sz="20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6498336" y="1701800"/>
            <a:ext cx="5084064" cy="914400"/>
          </a:xfrm>
        </p:spPr>
        <p:txBody>
          <a:bodyPr anchor="b">
            <a:normAutofit/>
          </a:bodyPr>
          <a:lstStyle>
            <a:lvl1pPr marL="0" indent="0">
              <a:spcBef>
                <a:spcPts val="0"/>
              </a:spcBef>
              <a:buNone/>
              <a:defRPr sz="2800" b="0" cap="all" spc="200" baseline="0">
                <a:solidFill>
                  <a:schemeClr val="accent1"/>
                </a:solidFill>
              </a:defRPr>
            </a:lvl1pPr>
            <a:lvl2pPr marL="609493" indent="0">
              <a:buNone/>
              <a:defRPr sz="2700" b="1"/>
            </a:lvl2pPr>
            <a:lvl3pPr marL="1218987" indent="0">
              <a:buNone/>
              <a:defRPr sz="2400" b="1"/>
            </a:lvl3pPr>
            <a:lvl4pPr marL="1828480" indent="0">
              <a:buNone/>
              <a:defRPr sz="2100" b="1"/>
            </a:lvl4pPr>
            <a:lvl5pPr marL="2437973" indent="0">
              <a:buNone/>
              <a:defRPr sz="2100" b="1"/>
            </a:lvl5pPr>
            <a:lvl6pPr marL="3047467" indent="0">
              <a:buNone/>
              <a:defRPr sz="2100" b="1"/>
            </a:lvl6pPr>
            <a:lvl7pPr marL="3656960" indent="0">
              <a:buNone/>
              <a:defRPr sz="2100" b="1"/>
            </a:lvl7pPr>
            <a:lvl8pPr marL="4266453" indent="0">
              <a:buNone/>
              <a:defRPr sz="2100" b="1"/>
            </a:lvl8pPr>
            <a:lvl9pPr marL="4875947" indent="0">
              <a:buNone/>
              <a:defRPr sz="2100" b="1"/>
            </a:lvl9pPr>
          </a:lstStyle>
          <a:p>
            <a:pPr lvl="0"/>
            <a:r>
              <a:rPr lang="en-US"/>
              <a:t>Click to edit Master text styles</a:t>
            </a:r>
          </a:p>
        </p:txBody>
      </p:sp>
      <p:sp>
        <p:nvSpPr>
          <p:cNvPr id="6" name="Content Placeholder 5"/>
          <p:cNvSpPr>
            <a:spLocks noGrp="1"/>
          </p:cNvSpPr>
          <p:nvPr>
            <p:ph sz="quarter" idx="4"/>
          </p:nvPr>
        </p:nvSpPr>
        <p:spPr>
          <a:xfrm>
            <a:off x="6502401" y="2717800"/>
            <a:ext cx="5080000" cy="3454400"/>
          </a:xfrm>
        </p:spPr>
        <p:txBody>
          <a:bodyPr>
            <a:noAutofit/>
          </a:bodyPr>
          <a:lstStyle>
            <a:lvl1pPr>
              <a:defRPr sz="2800"/>
            </a:lvl1pPr>
            <a:lvl2pPr>
              <a:defRPr sz="2400"/>
            </a:lvl2pPr>
            <a:lvl3pPr>
              <a:defRPr sz="2000"/>
            </a:lvl3pPr>
            <a:lvl4pPr>
              <a:defRPr sz="2000"/>
            </a:lvl4pPr>
            <a:lvl5pPr>
              <a:defRPr sz="2000"/>
            </a:lvl5pPr>
            <a:lvl6pPr>
              <a:defRPr sz="2000" baseline="0"/>
            </a:lvl6pPr>
            <a:lvl7pPr>
              <a:defRPr sz="2000" baseline="0"/>
            </a:lvl7pPr>
            <a:lvl8pPr>
              <a:defRPr sz="2000" baseline="0"/>
            </a:lvl8pPr>
            <a:lvl9pPr>
              <a:defRPr sz="20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6"/>
          <p:cNvSpPr>
            <a:spLocks noGrp="1"/>
          </p:cNvSpPr>
          <p:nvPr>
            <p:ph type="dt" sz="half" idx="10"/>
          </p:nvPr>
        </p:nvSpPr>
        <p:spPr/>
        <p:txBody>
          <a:bodyPr/>
          <a:lstStyle/>
          <a:p>
            <a:pPr>
              <a:defRPr/>
            </a:pPr>
            <a:fld id="{BD09452E-8925-4104-AAEC-A59A498737DD}" type="datetimeFigureOut">
              <a:rPr lang="en-NZ" smtClean="0"/>
              <a:pPr>
                <a:defRPr/>
              </a:pPr>
              <a:t>18/03/2026</a:t>
            </a:fld>
            <a:endParaRPr lang="en-NZ"/>
          </a:p>
        </p:txBody>
      </p:sp>
      <p:sp>
        <p:nvSpPr>
          <p:cNvPr id="8" name="Footer Placeholder 7"/>
          <p:cNvSpPr>
            <a:spLocks noGrp="1"/>
          </p:cNvSpPr>
          <p:nvPr>
            <p:ph type="ftr" sz="quarter" idx="11"/>
          </p:nvPr>
        </p:nvSpPr>
        <p:spPr/>
        <p:txBody>
          <a:bodyPr/>
          <a:lstStyle/>
          <a:p>
            <a:pPr>
              <a:defRPr/>
            </a:pPr>
            <a:endParaRPr lang="en-NZ"/>
          </a:p>
        </p:txBody>
      </p:sp>
      <p:sp>
        <p:nvSpPr>
          <p:cNvPr id="9" name="Slide Number Placeholder 8"/>
          <p:cNvSpPr>
            <a:spLocks noGrp="1"/>
          </p:cNvSpPr>
          <p:nvPr>
            <p:ph type="sldNum" sz="quarter" idx="12"/>
          </p:nvPr>
        </p:nvSpPr>
        <p:spPr/>
        <p:txBody>
          <a:bodyPr/>
          <a:lstStyle/>
          <a:p>
            <a:pPr>
              <a:defRPr/>
            </a:pPr>
            <a:fld id="{9260368D-FD97-456F-803F-1AA06E433F9A}" type="slidenum">
              <a:rPr lang="en-NZ" smtClean="0"/>
              <a:pPr>
                <a:defRPr/>
              </a:pPr>
              <a:t>‹#›</a:t>
            </a:fld>
            <a:endParaRPr lang="en-NZ"/>
          </a:p>
        </p:txBody>
      </p:sp>
    </p:spTree>
    <p:extLst>
      <p:ext uri="{BB962C8B-B14F-4D97-AF65-F5344CB8AC3E}">
        <p14:creationId xmlns:p14="http://schemas.microsoft.com/office/powerpoint/2010/main" val="21602639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pPr>
              <a:defRPr/>
            </a:pPr>
            <a:fld id="{28C7790E-2883-479D-8A47-8F19927585F4}" type="datetimeFigureOut">
              <a:rPr lang="en-NZ" smtClean="0"/>
              <a:pPr>
                <a:defRPr/>
              </a:pPr>
              <a:t>18/03/2026</a:t>
            </a:fld>
            <a:endParaRPr lang="en-NZ"/>
          </a:p>
        </p:txBody>
      </p:sp>
      <p:sp>
        <p:nvSpPr>
          <p:cNvPr id="4" name="Footer Placeholder 3"/>
          <p:cNvSpPr>
            <a:spLocks noGrp="1"/>
          </p:cNvSpPr>
          <p:nvPr>
            <p:ph type="ftr" sz="quarter" idx="11"/>
          </p:nvPr>
        </p:nvSpPr>
        <p:spPr/>
        <p:txBody>
          <a:bodyPr/>
          <a:lstStyle/>
          <a:p>
            <a:pPr>
              <a:defRPr/>
            </a:pPr>
            <a:endParaRPr lang="en-NZ"/>
          </a:p>
        </p:txBody>
      </p:sp>
      <p:sp>
        <p:nvSpPr>
          <p:cNvPr id="5" name="Slide Number Placeholder 4"/>
          <p:cNvSpPr>
            <a:spLocks noGrp="1"/>
          </p:cNvSpPr>
          <p:nvPr>
            <p:ph type="sldNum" sz="quarter" idx="12"/>
          </p:nvPr>
        </p:nvSpPr>
        <p:spPr/>
        <p:txBody>
          <a:bodyPr/>
          <a:lstStyle/>
          <a:p>
            <a:pPr>
              <a:defRPr/>
            </a:pPr>
            <a:fld id="{A5E35271-24C9-4298-BC34-B705D0FB434E}" type="slidenum">
              <a:rPr lang="en-NZ" smtClean="0"/>
              <a:pPr>
                <a:defRPr/>
              </a:pPr>
              <a:t>‹#›</a:t>
            </a:fld>
            <a:endParaRPr lang="en-NZ"/>
          </a:p>
        </p:txBody>
      </p:sp>
    </p:spTree>
    <p:extLst>
      <p:ext uri="{BB962C8B-B14F-4D97-AF65-F5344CB8AC3E}">
        <p14:creationId xmlns:p14="http://schemas.microsoft.com/office/powerpoint/2010/main" val="16411067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E9FB3E9B-82F5-4C44-BF52-9BF92F4C9780}" type="datetimeFigureOut">
              <a:rPr lang="en-NZ" smtClean="0"/>
              <a:pPr>
                <a:defRPr/>
              </a:pPr>
              <a:t>18/03/2026</a:t>
            </a:fld>
            <a:endParaRPr lang="en-NZ"/>
          </a:p>
        </p:txBody>
      </p:sp>
      <p:sp>
        <p:nvSpPr>
          <p:cNvPr id="3" name="Footer Placeholder 2"/>
          <p:cNvSpPr>
            <a:spLocks noGrp="1"/>
          </p:cNvSpPr>
          <p:nvPr>
            <p:ph type="ftr" sz="quarter" idx="11"/>
          </p:nvPr>
        </p:nvSpPr>
        <p:spPr/>
        <p:txBody>
          <a:bodyPr/>
          <a:lstStyle/>
          <a:p>
            <a:pPr>
              <a:defRPr/>
            </a:pPr>
            <a:endParaRPr lang="en-NZ"/>
          </a:p>
        </p:txBody>
      </p:sp>
      <p:sp>
        <p:nvSpPr>
          <p:cNvPr id="4" name="Slide Number Placeholder 3"/>
          <p:cNvSpPr>
            <a:spLocks noGrp="1"/>
          </p:cNvSpPr>
          <p:nvPr>
            <p:ph type="sldNum" sz="quarter" idx="12"/>
          </p:nvPr>
        </p:nvSpPr>
        <p:spPr/>
        <p:txBody>
          <a:bodyPr/>
          <a:lstStyle/>
          <a:p>
            <a:pPr>
              <a:defRPr/>
            </a:pPr>
            <a:fld id="{3B4B94FF-34BA-46FC-9B6D-74A87E1EE5F9}" type="slidenum">
              <a:rPr lang="en-NZ" smtClean="0"/>
              <a:pPr>
                <a:defRPr/>
              </a:pPr>
              <a:t>‹#›</a:t>
            </a:fld>
            <a:endParaRPr lang="en-NZ"/>
          </a:p>
        </p:txBody>
      </p:sp>
    </p:spTree>
    <p:extLst>
      <p:ext uri="{BB962C8B-B14F-4D97-AF65-F5344CB8AC3E}">
        <p14:creationId xmlns:p14="http://schemas.microsoft.com/office/powerpoint/2010/main" val="42103219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19200" y="1701800"/>
            <a:ext cx="4064000" cy="2438400"/>
          </a:xfrm>
        </p:spPr>
        <p:txBody>
          <a:bodyPr anchor="b">
            <a:normAutofit/>
          </a:bodyPr>
          <a:lstStyle>
            <a:lvl1pPr algn="l">
              <a:defRPr sz="2800" b="0" cap="all" spc="200" baseline="0">
                <a:solidFill>
                  <a:schemeClr val="accent1"/>
                </a:solidFill>
              </a:defRPr>
            </a:lvl1pPr>
          </a:lstStyle>
          <a:p>
            <a:r>
              <a:rPr lang="en-US"/>
              <a:t>Click to edit Master title style</a:t>
            </a:r>
            <a:endParaRPr/>
          </a:p>
        </p:txBody>
      </p:sp>
      <p:sp>
        <p:nvSpPr>
          <p:cNvPr id="3" name="Content Placeholder 2"/>
          <p:cNvSpPr>
            <a:spLocks noGrp="1"/>
          </p:cNvSpPr>
          <p:nvPr>
            <p:ph idx="1"/>
          </p:nvPr>
        </p:nvSpPr>
        <p:spPr>
          <a:xfrm>
            <a:off x="5486400" y="584200"/>
            <a:ext cx="6096000" cy="5588000"/>
          </a:xfrm>
        </p:spPr>
        <p:txBody>
          <a:bodyPr>
            <a:normAutofit/>
          </a:bodyPr>
          <a:lstStyle>
            <a:lvl1pPr>
              <a:defRPr sz="2800"/>
            </a:lvl1pPr>
            <a:lvl2pPr>
              <a:defRPr sz="2400"/>
            </a:lvl2pPr>
            <a:lvl3pPr>
              <a:defRPr sz="2000"/>
            </a:lvl3pPr>
            <a:lvl4pPr>
              <a:defRPr sz="2000"/>
            </a:lvl4pPr>
            <a:lvl5pPr>
              <a:defRPr sz="2000"/>
            </a:lvl5pPr>
            <a:lvl6pPr>
              <a:defRPr sz="2000"/>
            </a:lvl6pPr>
            <a:lvl7pPr>
              <a:defRPr sz="2000"/>
            </a:lvl7pPr>
            <a:lvl8pPr>
              <a:defRPr sz="2000" baseline="0"/>
            </a:lvl8pPr>
            <a:lvl9pPr>
              <a:defRPr sz="20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Text Placeholder 3"/>
          <p:cNvSpPr>
            <a:spLocks noGrp="1"/>
          </p:cNvSpPr>
          <p:nvPr>
            <p:ph type="body" sz="half" idx="2"/>
          </p:nvPr>
        </p:nvSpPr>
        <p:spPr>
          <a:xfrm>
            <a:off x="1219200" y="4241800"/>
            <a:ext cx="4064000" cy="1930400"/>
          </a:xfrm>
        </p:spPr>
        <p:txBody>
          <a:bodyPr>
            <a:normAutofit/>
          </a:bodyPr>
          <a:lstStyle>
            <a:lvl1pPr marL="0" indent="0">
              <a:buNone/>
              <a:defRPr sz="2000"/>
            </a:lvl1pPr>
            <a:lvl2pPr marL="609493" indent="0">
              <a:buNone/>
              <a:defRPr sz="1600"/>
            </a:lvl2pPr>
            <a:lvl3pPr marL="1218987" indent="0">
              <a:buNone/>
              <a:defRPr sz="1300"/>
            </a:lvl3pPr>
            <a:lvl4pPr marL="1828480" indent="0">
              <a:buNone/>
              <a:defRPr sz="1200"/>
            </a:lvl4pPr>
            <a:lvl5pPr marL="2437973" indent="0">
              <a:buNone/>
              <a:defRPr sz="1200"/>
            </a:lvl5pPr>
            <a:lvl6pPr marL="3047467" indent="0">
              <a:buNone/>
              <a:defRPr sz="1200"/>
            </a:lvl6pPr>
            <a:lvl7pPr marL="3656960" indent="0">
              <a:buNone/>
              <a:defRPr sz="1200"/>
            </a:lvl7pPr>
            <a:lvl8pPr marL="4266453" indent="0">
              <a:buNone/>
              <a:defRPr sz="1200"/>
            </a:lvl8pPr>
            <a:lvl9pPr marL="4875947"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E2CC5004-50A9-4668-AA9D-4D5742CF7749}" type="datetimeFigureOut">
              <a:rPr lang="en-NZ" smtClean="0"/>
              <a:pPr>
                <a:defRPr/>
              </a:pPr>
              <a:t>18/03/2026</a:t>
            </a:fld>
            <a:endParaRPr lang="en-NZ"/>
          </a:p>
        </p:txBody>
      </p:sp>
      <p:sp>
        <p:nvSpPr>
          <p:cNvPr id="6" name="Footer Placeholder 5"/>
          <p:cNvSpPr>
            <a:spLocks noGrp="1"/>
          </p:cNvSpPr>
          <p:nvPr>
            <p:ph type="ftr" sz="quarter" idx="11"/>
          </p:nvPr>
        </p:nvSpPr>
        <p:spPr/>
        <p:txBody>
          <a:bodyPr/>
          <a:lstStyle/>
          <a:p>
            <a:pPr>
              <a:defRPr/>
            </a:pPr>
            <a:endParaRPr lang="en-NZ"/>
          </a:p>
        </p:txBody>
      </p:sp>
      <p:sp>
        <p:nvSpPr>
          <p:cNvPr id="7" name="Slide Number Placeholder 6"/>
          <p:cNvSpPr>
            <a:spLocks noGrp="1"/>
          </p:cNvSpPr>
          <p:nvPr>
            <p:ph type="sldNum" sz="quarter" idx="12"/>
          </p:nvPr>
        </p:nvSpPr>
        <p:spPr/>
        <p:txBody>
          <a:bodyPr/>
          <a:lstStyle/>
          <a:p>
            <a:pPr>
              <a:defRPr/>
            </a:pPr>
            <a:fld id="{15715E0C-52EB-4046-A742-6E37AF8ADB78}" type="slidenum">
              <a:rPr lang="en-NZ" smtClean="0"/>
              <a:pPr>
                <a:defRPr/>
              </a:pPr>
              <a:t>‹#›</a:t>
            </a:fld>
            <a:endParaRPr lang="en-NZ"/>
          </a:p>
        </p:txBody>
      </p:sp>
    </p:spTree>
    <p:extLst>
      <p:ext uri="{BB962C8B-B14F-4D97-AF65-F5344CB8AC3E}">
        <p14:creationId xmlns:p14="http://schemas.microsoft.com/office/powerpoint/2010/main" val="22406839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19200" y="1701800"/>
            <a:ext cx="4064000" cy="2438400"/>
          </a:xfrm>
        </p:spPr>
        <p:txBody>
          <a:bodyPr anchor="b">
            <a:normAutofit/>
          </a:bodyPr>
          <a:lstStyle>
            <a:lvl1pPr algn="l">
              <a:defRPr sz="2800" b="0" cap="all" spc="200" baseline="0">
                <a:solidFill>
                  <a:schemeClr val="accent1"/>
                </a:solidFill>
              </a:defRPr>
            </a:lvl1pPr>
          </a:lstStyle>
          <a:p>
            <a:r>
              <a:rPr lang="en-US"/>
              <a:t>Click to edit Master title style</a:t>
            </a:r>
            <a:endParaRPr/>
          </a:p>
        </p:txBody>
      </p:sp>
      <p:sp>
        <p:nvSpPr>
          <p:cNvPr id="3" name="Picture Placeholder 2"/>
          <p:cNvSpPr>
            <a:spLocks noGrp="1"/>
          </p:cNvSpPr>
          <p:nvPr>
            <p:ph type="pic" idx="1"/>
          </p:nvPr>
        </p:nvSpPr>
        <p:spPr>
          <a:xfrm>
            <a:off x="5486400" y="584200"/>
            <a:ext cx="6096000" cy="5588000"/>
          </a:xfrm>
          <a:ln w="12700">
            <a:solidFill>
              <a:schemeClr val="bg1">
                <a:lumMod val="75000"/>
                <a:lumOff val="25000"/>
              </a:schemeClr>
            </a:solidFill>
            <a:miter lim="800000"/>
          </a:ln>
        </p:spPr>
        <p:txBody>
          <a:bodyPr>
            <a:normAutofit/>
          </a:bodyPr>
          <a:lstStyle>
            <a:lvl1pPr marL="0" indent="0">
              <a:buNone/>
              <a:defRPr sz="2800"/>
            </a:lvl1pPr>
            <a:lvl2pPr marL="609493" indent="0">
              <a:buNone/>
              <a:defRPr sz="3700"/>
            </a:lvl2pPr>
            <a:lvl3pPr marL="1218987" indent="0">
              <a:buNone/>
              <a:defRPr sz="3200"/>
            </a:lvl3pPr>
            <a:lvl4pPr marL="1828480" indent="0">
              <a:buNone/>
              <a:defRPr sz="2700"/>
            </a:lvl4pPr>
            <a:lvl5pPr marL="2437973" indent="0">
              <a:buNone/>
              <a:defRPr sz="2700"/>
            </a:lvl5pPr>
            <a:lvl6pPr marL="3047467" indent="0">
              <a:buNone/>
              <a:defRPr sz="2700"/>
            </a:lvl6pPr>
            <a:lvl7pPr marL="3656960" indent="0">
              <a:buNone/>
              <a:defRPr sz="2700"/>
            </a:lvl7pPr>
            <a:lvl8pPr marL="4266453" indent="0">
              <a:buNone/>
              <a:defRPr sz="2700"/>
            </a:lvl8pPr>
            <a:lvl9pPr marL="4875947" indent="0">
              <a:buNone/>
              <a:defRPr sz="2700"/>
            </a:lvl9pPr>
          </a:lstStyle>
          <a:p>
            <a:r>
              <a:rPr lang="en-US"/>
              <a:t>Click icon to add picture</a:t>
            </a:r>
            <a:endParaRPr/>
          </a:p>
        </p:txBody>
      </p:sp>
      <p:sp>
        <p:nvSpPr>
          <p:cNvPr id="4" name="Text Placeholder 3"/>
          <p:cNvSpPr>
            <a:spLocks noGrp="1"/>
          </p:cNvSpPr>
          <p:nvPr>
            <p:ph type="body" sz="half" idx="2"/>
          </p:nvPr>
        </p:nvSpPr>
        <p:spPr>
          <a:xfrm>
            <a:off x="1219200" y="4241800"/>
            <a:ext cx="4064000" cy="1930400"/>
          </a:xfrm>
        </p:spPr>
        <p:txBody>
          <a:bodyPr>
            <a:normAutofit/>
          </a:bodyPr>
          <a:lstStyle>
            <a:lvl1pPr marL="0" indent="0">
              <a:buNone/>
              <a:defRPr sz="2000"/>
            </a:lvl1pPr>
            <a:lvl2pPr marL="609493" indent="0">
              <a:buNone/>
              <a:defRPr sz="1600"/>
            </a:lvl2pPr>
            <a:lvl3pPr marL="1218987" indent="0">
              <a:buNone/>
              <a:defRPr sz="1300"/>
            </a:lvl3pPr>
            <a:lvl4pPr marL="1828480" indent="0">
              <a:buNone/>
              <a:defRPr sz="1200"/>
            </a:lvl4pPr>
            <a:lvl5pPr marL="2437973" indent="0">
              <a:buNone/>
              <a:defRPr sz="1200"/>
            </a:lvl5pPr>
            <a:lvl6pPr marL="3047467" indent="0">
              <a:buNone/>
              <a:defRPr sz="1200"/>
            </a:lvl6pPr>
            <a:lvl7pPr marL="3656960" indent="0">
              <a:buNone/>
              <a:defRPr sz="1200"/>
            </a:lvl7pPr>
            <a:lvl8pPr marL="4266453" indent="0">
              <a:buNone/>
              <a:defRPr sz="1200"/>
            </a:lvl8pPr>
            <a:lvl9pPr marL="4875947"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2A8AB851-937F-4582-B630-B2879DA1154F}" type="datetimeFigureOut">
              <a:rPr lang="en-NZ" smtClean="0"/>
              <a:pPr>
                <a:defRPr/>
              </a:pPr>
              <a:t>18/03/2026</a:t>
            </a:fld>
            <a:endParaRPr lang="en-NZ"/>
          </a:p>
        </p:txBody>
      </p:sp>
      <p:sp>
        <p:nvSpPr>
          <p:cNvPr id="6" name="Footer Placeholder 5"/>
          <p:cNvSpPr>
            <a:spLocks noGrp="1"/>
          </p:cNvSpPr>
          <p:nvPr>
            <p:ph type="ftr" sz="quarter" idx="11"/>
          </p:nvPr>
        </p:nvSpPr>
        <p:spPr/>
        <p:txBody>
          <a:bodyPr/>
          <a:lstStyle/>
          <a:p>
            <a:pPr>
              <a:defRPr/>
            </a:pPr>
            <a:endParaRPr lang="en-NZ"/>
          </a:p>
        </p:txBody>
      </p:sp>
      <p:sp>
        <p:nvSpPr>
          <p:cNvPr id="7" name="Slide Number Placeholder 6"/>
          <p:cNvSpPr>
            <a:spLocks noGrp="1"/>
          </p:cNvSpPr>
          <p:nvPr>
            <p:ph type="sldNum" sz="quarter" idx="12"/>
          </p:nvPr>
        </p:nvSpPr>
        <p:spPr/>
        <p:txBody>
          <a:bodyPr/>
          <a:lstStyle/>
          <a:p>
            <a:pPr>
              <a:defRPr/>
            </a:pPr>
            <a:fld id="{ED30FA64-F239-49A0-9A2F-BB16C409FDD4}" type="slidenum">
              <a:rPr lang="en-NZ" smtClean="0"/>
              <a:pPr>
                <a:defRPr/>
              </a:pPr>
              <a:t>‹#›</a:t>
            </a:fld>
            <a:endParaRPr lang="en-NZ"/>
          </a:p>
        </p:txBody>
      </p:sp>
    </p:spTree>
    <p:extLst>
      <p:ext uri="{BB962C8B-B14F-4D97-AF65-F5344CB8AC3E}">
        <p14:creationId xmlns:p14="http://schemas.microsoft.com/office/powerpoint/2010/main" val="31667453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lvl5pPr>
              <a:defRPr/>
            </a:lvl5pPr>
            <a:lvl6pPr>
              <a:defRPr/>
            </a:lvl6pPr>
            <a:lvl7pPr>
              <a:defRPr/>
            </a:lvl7pPr>
            <a:lvl8pPr>
              <a:defRPr baseline="0"/>
            </a:lvl8pPr>
            <a:lvl9pPr>
              <a:defRPr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pPr>
              <a:defRPr/>
            </a:pPr>
            <a:fld id="{0FF36A84-1405-447C-B163-592CCC77E078}" type="datetimeFigureOut">
              <a:rPr lang="en-NZ" smtClean="0"/>
              <a:pPr>
                <a:defRPr/>
              </a:pPr>
              <a:t>18/03/2026</a:t>
            </a:fld>
            <a:endParaRPr lang="en-NZ"/>
          </a:p>
        </p:txBody>
      </p:sp>
      <p:sp>
        <p:nvSpPr>
          <p:cNvPr id="5" name="Footer Placeholder 4"/>
          <p:cNvSpPr>
            <a:spLocks noGrp="1"/>
          </p:cNvSpPr>
          <p:nvPr>
            <p:ph type="ftr" sz="quarter" idx="11"/>
          </p:nvPr>
        </p:nvSpPr>
        <p:spPr/>
        <p:txBody>
          <a:bodyPr/>
          <a:lstStyle/>
          <a:p>
            <a:pPr>
              <a:defRPr/>
            </a:pPr>
            <a:endParaRPr lang="en-NZ"/>
          </a:p>
        </p:txBody>
      </p:sp>
      <p:sp>
        <p:nvSpPr>
          <p:cNvPr id="6" name="Slide Number Placeholder 5"/>
          <p:cNvSpPr>
            <a:spLocks noGrp="1"/>
          </p:cNvSpPr>
          <p:nvPr>
            <p:ph type="sldNum" sz="quarter" idx="12"/>
          </p:nvPr>
        </p:nvSpPr>
        <p:spPr/>
        <p:txBody>
          <a:bodyPr/>
          <a:lstStyle/>
          <a:p>
            <a:pPr>
              <a:defRPr/>
            </a:pPr>
            <a:fld id="{B634C137-ED68-4374-ACE4-9232D822A4C5}" type="slidenum">
              <a:rPr lang="en-NZ" smtClean="0"/>
              <a:pPr>
                <a:defRPr/>
              </a:pPr>
              <a:t>‹#›</a:t>
            </a:fld>
            <a:endParaRPr lang="en-NZ"/>
          </a:p>
        </p:txBody>
      </p:sp>
    </p:spTree>
    <p:extLst>
      <p:ext uri="{BB962C8B-B14F-4D97-AF65-F5344CB8AC3E}">
        <p14:creationId xmlns:p14="http://schemas.microsoft.com/office/powerpoint/2010/main" val="23489101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584200"/>
            <a:ext cx="2743200" cy="5588000"/>
          </a:xfrm>
        </p:spPr>
        <p:txBody>
          <a:bodyPr vert="eaVert"/>
          <a:lstStyle/>
          <a:p>
            <a:r>
              <a:rPr lang="en-US"/>
              <a:t>Click to edit Master title style</a:t>
            </a:r>
            <a:endParaRPr/>
          </a:p>
        </p:txBody>
      </p:sp>
      <p:sp>
        <p:nvSpPr>
          <p:cNvPr id="3" name="Vertical Text Placeholder 2"/>
          <p:cNvSpPr>
            <a:spLocks noGrp="1"/>
          </p:cNvSpPr>
          <p:nvPr>
            <p:ph type="body" orient="vert" idx="1"/>
          </p:nvPr>
        </p:nvSpPr>
        <p:spPr>
          <a:xfrm>
            <a:off x="1219200" y="584200"/>
            <a:ext cx="7416800" cy="5588000"/>
          </a:xfrm>
        </p:spPr>
        <p:txBody>
          <a:bodyPr vert="eaVert"/>
          <a:lstStyle>
            <a:lvl5pPr>
              <a:defRPr/>
            </a:lvl5pPr>
            <a:lvl6pPr>
              <a:defRPr/>
            </a:lvl6pPr>
            <a:lvl7pPr>
              <a:defRPr/>
            </a:lvl7pPr>
            <a:lvl8pPr>
              <a:defRPr/>
            </a:lvl8pPr>
            <a:lvl9pP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pPr>
              <a:defRPr/>
            </a:pPr>
            <a:fld id="{CB8F86E3-6FA6-4F8C-8212-EE2642F27855}" type="datetimeFigureOut">
              <a:rPr lang="en-NZ" smtClean="0"/>
              <a:pPr>
                <a:defRPr/>
              </a:pPr>
              <a:t>18/03/2026</a:t>
            </a:fld>
            <a:endParaRPr lang="en-NZ"/>
          </a:p>
        </p:txBody>
      </p:sp>
      <p:sp>
        <p:nvSpPr>
          <p:cNvPr id="5" name="Footer Placeholder 4"/>
          <p:cNvSpPr>
            <a:spLocks noGrp="1"/>
          </p:cNvSpPr>
          <p:nvPr>
            <p:ph type="ftr" sz="quarter" idx="11"/>
          </p:nvPr>
        </p:nvSpPr>
        <p:spPr/>
        <p:txBody>
          <a:bodyPr/>
          <a:lstStyle/>
          <a:p>
            <a:pPr>
              <a:defRPr/>
            </a:pPr>
            <a:endParaRPr lang="en-NZ"/>
          </a:p>
        </p:txBody>
      </p:sp>
      <p:sp>
        <p:nvSpPr>
          <p:cNvPr id="6" name="Slide Number Placeholder 5"/>
          <p:cNvSpPr>
            <a:spLocks noGrp="1"/>
          </p:cNvSpPr>
          <p:nvPr>
            <p:ph type="sldNum" sz="quarter" idx="12"/>
          </p:nvPr>
        </p:nvSpPr>
        <p:spPr/>
        <p:txBody>
          <a:bodyPr/>
          <a:lstStyle/>
          <a:p>
            <a:pPr>
              <a:defRPr/>
            </a:pPr>
            <a:fld id="{83E50376-0B70-4D8F-A72E-D667DACE2164}" type="slidenum">
              <a:rPr lang="en-NZ" smtClean="0"/>
              <a:pPr>
                <a:defRPr/>
              </a:pPr>
              <a:t>‹#›</a:t>
            </a:fld>
            <a:endParaRPr lang="en-NZ"/>
          </a:p>
        </p:txBody>
      </p:sp>
    </p:spTree>
    <p:extLst>
      <p:ext uri="{BB962C8B-B14F-4D97-AF65-F5344CB8AC3E}">
        <p14:creationId xmlns:p14="http://schemas.microsoft.com/office/powerpoint/2010/main" val="1642585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pPr>
              <a:defRPr/>
            </a:pPr>
            <a:fld id="{040EA136-679C-49EB-B3DB-1E9E3103561C}" type="datetimeFigureOut">
              <a:rPr lang="en-NZ" smtClean="0"/>
              <a:pPr>
                <a:defRPr/>
              </a:pPr>
              <a:t>18/03/2026</a:t>
            </a:fld>
            <a:endParaRPr lang="en-NZ"/>
          </a:p>
        </p:txBody>
      </p:sp>
      <p:sp>
        <p:nvSpPr>
          <p:cNvPr id="5" name="Footer Placeholder 4"/>
          <p:cNvSpPr>
            <a:spLocks noGrp="1"/>
          </p:cNvSpPr>
          <p:nvPr>
            <p:ph type="ftr" sz="quarter" idx="11"/>
          </p:nvPr>
        </p:nvSpPr>
        <p:spPr/>
        <p:txBody>
          <a:bodyPr/>
          <a:lstStyle/>
          <a:p>
            <a:pPr>
              <a:defRPr/>
            </a:pPr>
            <a:endParaRPr lang="en-NZ"/>
          </a:p>
        </p:txBody>
      </p:sp>
      <p:sp>
        <p:nvSpPr>
          <p:cNvPr id="6" name="Slide Number Placeholder 5"/>
          <p:cNvSpPr>
            <a:spLocks noGrp="1"/>
          </p:cNvSpPr>
          <p:nvPr>
            <p:ph type="sldNum" sz="quarter" idx="12"/>
          </p:nvPr>
        </p:nvSpPr>
        <p:spPr/>
        <p:txBody>
          <a:bodyPr/>
          <a:lstStyle/>
          <a:p>
            <a:pPr>
              <a:defRPr/>
            </a:pPr>
            <a:fld id="{7BE87F5F-5DF1-48EE-A5EC-54087468BDEA}" type="slidenum">
              <a:rPr lang="en-NZ" smtClean="0"/>
              <a:pPr>
                <a:defRPr/>
              </a:pPr>
              <a:t>‹#›</a:t>
            </a:fld>
            <a:endParaRPr lang="en-NZ"/>
          </a:p>
        </p:txBody>
      </p:sp>
    </p:spTree>
    <p:extLst>
      <p:ext uri="{BB962C8B-B14F-4D97-AF65-F5344CB8AC3E}">
        <p14:creationId xmlns:p14="http://schemas.microsoft.com/office/powerpoint/2010/main" val="28882268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7C3A134-F1C3-464B-BF47-54DC2DE08F52}" type="datetimeFigureOut">
              <a:rPr lang="en-US" smtClean="0"/>
              <a:t>3/18/2026</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9648F39E-9C37-485F-AC97-16BB4BDF9F49}" type="slidenum">
              <a:rPr kumimoji="0" lang="en-US" smtClean="0"/>
              <a:t>‹#›</a:t>
            </a:fld>
            <a:endParaRPr kumimoji="0" lang="en-US"/>
          </a:p>
        </p:txBody>
      </p:sp>
    </p:spTree>
    <p:extLst>
      <p:ext uri="{BB962C8B-B14F-4D97-AF65-F5344CB8AC3E}">
        <p14:creationId xmlns:p14="http://schemas.microsoft.com/office/powerpoint/2010/main" val="9879627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pPr>
              <a:defRPr/>
            </a:pPr>
            <a:fld id="{7F6BD330-FC19-4CE3-94DE-E77688FC0E28}" type="datetimeFigureOut">
              <a:rPr lang="en-NZ" smtClean="0"/>
              <a:pPr>
                <a:defRPr/>
              </a:pPr>
              <a:t>18/03/2026</a:t>
            </a:fld>
            <a:endParaRPr lang="en-NZ"/>
          </a:p>
        </p:txBody>
      </p:sp>
      <p:sp>
        <p:nvSpPr>
          <p:cNvPr id="5" name="Footer Placeholder 4"/>
          <p:cNvSpPr>
            <a:spLocks noGrp="1"/>
          </p:cNvSpPr>
          <p:nvPr>
            <p:ph type="ftr" sz="quarter" idx="11"/>
          </p:nvPr>
        </p:nvSpPr>
        <p:spPr/>
        <p:txBody>
          <a:bodyPr/>
          <a:lstStyle/>
          <a:p>
            <a:pPr>
              <a:defRPr/>
            </a:pPr>
            <a:endParaRPr lang="en-NZ"/>
          </a:p>
        </p:txBody>
      </p:sp>
      <p:sp>
        <p:nvSpPr>
          <p:cNvPr id="6" name="Slide Number Placeholder 5"/>
          <p:cNvSpPr>
            <a:spLocks noGrp="1"/>
          </p:cNvSpPr>
          <p:nvPr>
            <p:ph type="sldNum" sz="quarter" idx="12"/>
          </p:nvPr>
        </p:nvSpPr>
        <p:spPr/>
        <p:txBody>
          <a:bodyPr/>
          <a:lstStyle/>
          <a:p>
            <a:pPr>
              <a:defRPr/>
            </a:pPr>
            <a:fld id="{44530BE5-CB34-4380-8E72-699A64A3C372}" type="slidenum">
              <a:rPr lang="en-NZ" smtClean="0"/>
              <a:pPr>
                <a:defRPr/>
              </a:pPr>
              <a:t>‹#›</a:t>
            </a:fld>
            <a:endParaRPr lang="en-NZ"/>
          </a:p>
        </p:txBody>
      </p:sp>
    </p:spTree>
    <p:extLst>
      <p:ext uri="{BB962C8B-B14F-4D97-AF65-F5344CB8AC3E}">
        <p14:creationId xmlns:p14="http://schemas.microsoft.com/office/powerpoint/2010/main" val="11855108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a:defRPr/>
            </a:pPr>
            <a:fld id="{8B80085D-F9B1-4E8F-88A1-A5E842D13AE9}" type="datetimeFigureOut">
              <a:rPr lang="en-NZ" smtClean="0"/>
              <a:pPr>
                <a:defRPr/>
              </a:pPr>
              <a:t>18/03/2026</a:t>
            </a:fld>
            <a:endParaRPr lang="en-NZ"/>
          </a:p>
        </p:txBody>
      </p:sp>
      <p:sp>
        <p:nvSpPr>
          <p:cNvPr id="6" name="Footer Placeholder 5"/>
          <p:cNvSpPr>
            <a:spLocks noGrp="1"/>
          </p:cNvSpPr>
          <p:nvPr>
            <p:ph type="ftr" sz="quarter" idx="11"/>
          </p:nvPr>
        </p:nvSpPr>
        <p:spPr/>
        <p:txBody>
          <a:bodyPr/>
          <a:lstStyle/>
          <a:p>
            <a:pPr>
              <a:defRPr/>
            </a:pPr>
            <a:endParaRPr lang="en-NZ"/>
          </a:p>
        </p:txBody>
      </p:sp>
      <p:sp>
        <p:nvSpPr>
          <p:cNvPr id="7" name="Slide Number Placeholder 6"/>
          <p:cNvSpPr>
            <a:spLocks noGrp="1"/>
          </p:cNvSpPr>
          <p:nvPr>
            <p:ph type="sldNum" sz="quarter" idx="12"/>
          </p:nvPr>
        </p:nvSpPr>
        <p:spPr/>
        <p:txBody>
          <a:bodyPr/>
          <a:lstStyle/>
          <a:p>
            <a:pPr>
              <a:defRPr/>
            </a:pPr>
            <a:fld id="{9066C4F4-CD79-49A8-B953-9DDA8B05887C}" type="slidenum">
              <a:rPr lang="en-NZ" smtClean="0"/>
              <a:pPr>
                <a:defRPr/>
              </a:pPr>
              <a:t>‹#›</a:t>
            </a:fld>
            <a:endParaRPr lang="en-NZ"/>
          </a:p>
        </p:txBody>
      </p:sp>
    </p:spTree>
    <p:extLst>
      <p:ext uri="{BB962C8B-B14F-4D97-AF65-F5344CB8AC3E}">
        <p14:creationId xmlns:p14="http://schemas.microsoft.com/office/powerpoint/2010/main" val="21922941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a:defRPr/>
            </a:pPr>
            <a:fld id="{BD09452E-8925-4104-AAEC-A59A498737DD}" type="datetimeFigureOut">
              <a:rPr lang="en-NZ" smtClean="0"/>
              <a:pPr>
                <a:defRPr/>
              </a:pPr>
              <a:t>18/03/2026</a:t>
            </a:fld>
            <a:endParaRPr lang="en-NZ"/>
          </a:p>
        </p:txBody>
      </p:sp>
      <p:sp>
        <p:nvSpPr>
          <p:cNvPr id="8" name="Footer Placeholder 7"/>
          <p:cNvSpPr>
            <a:spLocks noGrp="1"/>
          </p:cNvSpPr>
          <p:nvPr>
            <p:ph type="ftr" sz="quarter" idx="11"/>
          </p:nvPr>
        </p:nvSpPr>
        <p:spPr/>
        <p:txBody>
          <a:bodyPr/>
          <a:lstStyle/>
          <a:p>
            <a:pPr>
              <a:defRPr/>
            </a:pPr>
            <a:endParaRPr lang="en-NZ"/>
          </a:p>
        </p:txBody>
      </p:sp>
      <p:sp>
        <p:nvSpPr>
          <p:cNvPr id="9" name="Slide Number Placeholder 8"/>
          <p:cNvSpPr>
            <a:spLocks noGrp="1"/>
          </p:cNvSpPr>
          <p:nvPr>
            <p:ph type="sldNum" sz="quarter" idx="12"/>
          </p:nvPr>
        </p:nvSpPr>
        <p:spPr/>
        <p:txBody>
          <a:bodyPr/>
          <a:lstStyle/>
          <a:p>
            <a:pPr>
              <a:defRPr/>
            </a:pPr>
            <a:fld id="{9260368D-FD97-456F-803F-1AA06E433F9A}" type="slidenum">
              <a:rPr lang="en-NZ" smtClean="0"/>
              <a:pPr>
                <a:defRPr/>
              </a:pPr>
              <a:t>‹#›</a:t>
            </a:fld>
            <a:endParaRPr lang="en-NZ"/>
          </a:p>
        </p:txBody>
      </p:sp>
    </p:spTree>
    <p:extLst>
      <p:ext uri="{BB962C8B-B14F-4D97-AF65-F5344CB8AC3E}">
        <p14:creationId xmlns:p14="http://schemas.microsoft.com/office/powerpoint/2010/main" val="17642616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pPr>
              <a:defRPr/>
            </a:pPr>
            <a:fld id="{28C7790E-2883-479D-8A47-8F19927585F4}" type="datetimeFigureOut">
              <a:rPr lang="en-NZ" smtClean="0"/>
              <a:pPr>
                <a:defRPr/>
              </a:pPr>
              <a:t>18/03/2026</a:t>
            </a:fld>
            <a:endParaRPr lang="en-NZ"/>
          </a:p>
        </p:txBody>
      </p:sp>
      <p:sp>
        <p:nvSpPr>
          <p:cNvPr id="4" name="Footer Placeholder 3"/>
          <p:cNvSpPr>
            <a:spLocks noGrp="1"/>
          </p:cNvSpPr>
          <p:nvPr>
            <p:ph type="ftr" sz="quarter" idx="11"/>
          </p:nvPr>
        </p:nvSpPr>
        <p:spPr/>
        <p:txBody>
          <a:bodyPr/>
          <a:lstStyle/>
          <a:p>
            <a:pPr>
              <a:defRPr/>
            </a:pPr>
            <a:endParaRPr lang="en-NZ"/>
          </a:p>
        </p:txBody>
      </p:sp>
      <p:sp>
        <p:nvSpPr>
          <p:cNvPr id="5" name="Slide Number Placeholder 4"/>
          <p:cNvSpPr>
            <a:spLocks noGrp="1"/>
          </p:cNvSpPr>
          <p:nvPr>
            <p:ph type="sldNum" sz="quarter" idx="12"/>
          </p:nvPr>
        </p:nvSpPr>
        <p:spPr/>
        <p:txBody>
          <a:bodyPr/>
          <a:lstStyle/>
          <a:p>
            <a:pPr>
              <a:defRPr/>
            </a:pPr>
            <a:fld id="{A5E35271-24C9-4298-BC34-B705D0FB434E}" type="slidenum">
              <a:rPr lang="en-NZ" smtClean="0"/>
              <a:pPr>
                <a:defRPr/>
              </a:pPr>
              <a:t>‹#›</a:t>
            </a:fld>
            <a:endParaRPr lang="en-NZ"/>
          </a:p>
        </p:txBody>
      </p:sp>
    </p:spTree>
    <p:extLst>
      <p:ext uri="{BB962C8B-B14F-4D97-AF65-F5344CB8AC3E}">
        <p14:creationId xmlns:p14="http://schemas.microsoft.com/office/powerpoint/2010/main" val="19622067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E9FB3E9B-82F5-4C44-BF52-9BF92F4C9780}" type="datetimeFigureOut">
              <a:rPr lang="en-NZ" smtClean="0"/>
              <a:pPr>
                <a:defRPr/>
              </a:pPr>
              <a:t>18/03/2026</a:t>
            </a:fld>
            <a:endParaRPr lang="en-NZ"/>
          </a:p>
        </p:txBody>
      </p:sp>
      <p:sp>
        <p:nvSpPr>
          <p:cNvPr id="3" name="Footer Placeholder 2"/>
          <p:cNvSpPr>
            <a:spLocks noGrp="1"/>
          </p:cNvSpPr>
          <p:nvPr>
            <p:ph type="ftr" sz="quarter" idx="11"/>
          </p:nvPr>
        </p:nvSpPr>
        <p:spPr/>
        <p:txBody>
          <a:bodyPr/>
          <a:lstStyle/>
          <a:p>
            <a:pPr>
              <a:defRPr/>
            </a:pPr>
            <a:endParaRPr lang="en-NZ"/>
          </a:p>
        </p:txBody>
      </p:sp>
      <p:sp>
        <p:nvSpPr>
          <p:cNvPr id="4" name="Slide Number Placeholder 3"/>
          <p:cNvSpPr>
            <a:spLocks noGrp="1"/>
          </p:cNvSpPr>
          <p:nvPr>
            <p:ph type="sldNum" sz="quarter" idx="12"/>
          </p:nvPr>
        </p:nvSpPr>
        <p:spPr/>
        <p:txBody>
          <a:bodyPr/>
          <a:lstStyle/>
          <a:p>
            <a:pPr>
              <a:defRPr/>
            </a:pPr>
            <a:fld id="{3B4B94FF-34BA-46FC-9B6D-74A87E1EE5F9}" type="slidenum">
              <a:rPr lang="en-NZ" smtClean="0"/>
              <a:pPr>
                <a:defRPr/>
              </a:pPr>
              <a:t>‹#›</a:t>
            </a:fld>
            <a:endParaRPr lang="en-NZ"/>
          </a:p>
        </p:txBody>
      </p:sp>
    </p:spTree>
    <p:extLst>
      <p:ext uri="{BB962C8B-B14F-4D97-AF65-F5344CB8AC3E}">
        <p14:creationId xmlns:p14="http://schemas.microsoft.com/office/powerpoint/2010/main" val="25439314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pPr>
              <a:defRPr/>
            </a:pPr>
            <a:fld id="{E2CC5004-50A9-4668-AA9D-4D5742CF7749}" type="datetimeFigureOut">
              <a:rPr lang="en-NZ" smtClean="0"/>
              <a:pPr>
                <a:defRPr/>
              </a:pPr>
              <a:t>18/03/2026</a:t>
            </a:fld>
            <a:endParaRPr lang="en-NZ"/>
          </a:p>
        </p:txBody>
      </p:sp>
      <p:sp>
        <p:nvSpPr>
          <p:cNvPr id="6" name="Footer Placeholder 5"/>
          <p:cNvSpPr>
            <a:spLocks noGrp="1"/>
          </p:cNvSpPr>
          <p:nvPr>
            <p:ph type="ftr" sz="quarter" idx="11"/>
          </p:nvPr>
        </p:nvSpPr>
        <p:spPr/>
        <p:txBody>
          <a:bodyPr/>
          <a:lstStyle/>
          <a:p>
            <a:pPr>
              <a:defRPr/>
            </a:pPr>
            <a:endParaRPr lang="en-NZ"/>
          </a:p>
        </p:txBody>
      </p:sp>
      <p:sp>
        <p:nvSpPr>
          <p:cNvPr id="7" name="Slide Number Placeholder 6"/>
          <p:cNvSpPr>
            <a:spLocks noGrp="1"/>
          </p:cNvSpPr>
          <p:nvPr>
            <p:ph type="sldNum" sz="quarter" idx="12"/>
          </p:nvPr>
        </p:nvSpPr>
        <p:spPr/>
        <p:txBody>
          <a:bodyPr/>
          <a:lstStyle/>
          <a:p>
            <a:pPr>
              <a:defRPr/>
            </a:pPr>
            <a:fld id="{15715E0C-52EB-4046-A742-6E37AF8ADB78}" type="slidenum">
              <a:rPr lang="en-NZ" smtClean="0"/>
              <a:pPr>
                <a:defRPr/>
              </a:pPr>
              <a:t>‹#›</a:t>
            </a:fld>
            <a:endParaRPr lang="en-NZ"/>
          </a:p>
        </p:txBody>
      </p:sp>
    </p:spTree>
    <p:extLst>
      <p:ext uri="{BB962C8B-B14F-4D97-AF65-F5344CB8AC3E}">
        <p14:creationId xmlns:p14="http://schemas.microsoft.com/office/powerpoint/2010/main" val="15259621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pPr>
              <a:defRPr/>
            </a:pPr>
            <a:fld id="{2A8AB851-937F-4582-B630-B2879DA1154F}" type="datetimeFigureOut">
              <a:rPr lang="en-NZ" smtClean="0"/>
              <a:pPr>
                <a:defRPr/>
              </a:pPr>
              <a:t>18/03/2026</a:t>
            </a:fld>
            <a:endParaRPr lang="en-NZ"/>
          </a:p>
        </p:txBody>
      </p:sp>
      <p:sp>
        <p:nvSpPr>
          <p:cNvPr id="6" name="Footer Placeholder 5"/>
          <p:cNvSpPr>
            <a:spLocks noGrp="1"/>
          </p:cNvSpPr>
          <p:nvPr>
            <p:ph type="ftr" sz="quarter" idx="11"/>
          </p:nvPr>
        </p:nvSpPr>
        <p:spPr/>
        <p:txBody>
          <a:bodyPr/>
          <a:lstStyle/>
          <a:p>
            <a:pPr>
              <a:defRPr/>
            </a:pPr>
            <a:endParaRPr lang="en-NZ"/>
          </a:p>
        </p:txBody>
      </p:sp>
      <p:sp>
        <p:nvSpPr>
          <p:cNvPr id="7" name="Slide Number Placeholder 6"/>
          <p:cNvSpPr>
            <a:spLocks noGrp="1"/>
          </p:cNvSpPr>
          <p:nvPr>
            <p:ph type="sldNum" sz="quarter" idx="12"/>
          </p:nvPr>
        </p:nvSpPr>
        <p:spPr/>
        <p:txBody>
          <a:bodyPr/>
          <a:lstStyle/>
          <a:p>
            <a:pPr>
              <a:defRPr/>
            </a:pPr>
            <a:fld id="{ED30FA64-F239-49A0-9A2F-BB16C409FDD4}" type="slidenum">
              <a:rPr lang="en-NZ" smtClean="0"/>
              <a:pPr>
                <a:defRPr/>
              </a:pPr>
              <a:t>‹#›</a:t>
            </a:fld>
            <a:endParaRPr lang="en-NZ"/>
          </a:p>
        </p:txBody>
      </p:sp>
    </p:spTree>
    <p:extLst>
      <p:ext uri="{BB962C8B-B14F-4D97-AF65-F5344CB8AC3E}">
        <p14:creationId xmlns:p14="http://schemas.microsoft.com/office/powerpoint/2010/main" val="9697968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fld id="{0FF36A84-1405-447C-B163-592CCC77E078}" type="datetimeFigureOut">
              <a:rPr lang="en-NZ" smtClean="0"/>
              <a:pPr>
                <a:defRPr/>
              </a:pPr>
              <a:t>18/03/2026</a:t>
            </a:fld>
            <a:endParaRPr lang="en-NZ"/>
          </a:p>
        </p:txBody>
      </p:sp>
      <p:sp>
        <p:nvSpPr>
          <p:cNvPr id="5" name="Footer Placeholder 4"/>
          <p:cNvSpPr>
            <a:spLocks noGrp="1"/>
          </p:cNvSpPr>
          <p:nvPr>
            <p:ph type="ftr" sz="quarter" idx="11"/>
          </p:nvPr>
        </p:nvSpPr>
        <p:spPr/>
        <p:txBody>
          <a:bodyPr/>
          <a:lstStyle/>
          <a:p>
            <a:pPr>
              <a:defRPr/>
            </a:pPr>
            <a:endParaRPr lang="en-NZ"/>
          </a:p>
        </p:txBody>
      </p:sp>
      <p:sp>
        <p:nvSpPr>
          <p:cNvPr id="6" name="Slide Number Placeholder 5"/>
          <p:cNvSpPr>
            <a:spLocks noGrp="1"/>
          </p:cNvSpPr>
          <p:nvPr>
            <p:ph type="sldNum" sz="quarter" idx="12"/>
          </p:nvPr>
        </p:nvSpPr>
        <p:spPr/>
        <p:txBody>
          <a:bodyPr/>
          <a:lstStyle/>
          <a:p>
            <a:pPr>
              <a:defRPr/>
            </a:pPr>
            <a:fld id="{B634C137-ED68-4374-ACE4-9232D822A4C5}" type="slidenum">
              <a:rPr lang="en-NZ" smtClean="0"/>
              <a:pPr>
                <a:defRPr/>
              </a:pPr>
              <a:t>‹#›</a:t>
            </a:fld>
            <a:endParaRPr lang="en-NZ"/>
          </a:p>
        </p:txBody>
      </p:sp>
    </p:spTree>
    <p:extLst>
      <p:ext uri="{BB962C8B-B14F-4D97-AF65-F5344CB8AC3E}">
        <p14:creationId xmlns:p14="http://schemas.microsoft.com/office/powerpoint/2010/main" val="15405273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fld id="{CB8F86E3-6FA6-4F8C-8212-EE2642F27855}" type="datetimeFigureOut">
              <a:rPr lang="en-NZ" smtClean="0"/>
              <a:pPr>
                <a:defRPr/>
              </a:pPr>
              <a:t>18/03/2026</a:t>
            </a:fld>
            <a:endParaRPr lang="en-NZ"/>
          </a:p>
        </p:txBody>
      </p:sp>
      <p:sp>
        <p:nvSpPr>
          <p:cNvPr id="5" name="Footer Placeholder 4"/>
          <p:cNvSpPr>
            <a:spLocks noGrp="1"/>
          </p:cNvSpPr>
          <p:nvPr>
            <p:ph type="ftr" sz="quarter" idx="11"/>
          </p:nvPr>
        </p:nvSpPr>
        <p:spPr/>
        <p:txBody>
          <a:bodyPr/>
          <a:lstStyle/>
          <a:p>
            <a:pPr>
              <a:defRPr/>
            </a:pPr>
            <a:endParaRPr lang="en-NZ"/>
          </a:p>
        </p:txBody>
      </p:sp>
      <p:sp>
        <p:nvSpPr>
          <p:cNvPr id="6" name="Slide Number Placeholder 5"/>
          <p:cNvSpPr>
            <a:spLocks noGrp="1"/>
          </p:cNvSpPr>
          <p:nvPr>
            <p:ph type="sldNum" sz="quarter" idx="12"/>
          </p:nvPr>
        </p:nvSpPr>
        <p:spPr/>
        <p:txBody>
          <a:bodyPr/>
          <a:lstStyle/>
          <a:p>
            <a:pPr>
              <a:defRPr/>
            </a:pPr>
            <a:fld id="{83E50376-0B70-4D8F-A72E-D667DACE2164}" type="slidenum">
              <a:rPr lang="en-NZ" smtClean="0"/>
              <a:pPr>
                <a:defRPr/>
              </a:pPr>
              <a:t>‹#›</a:t>
            </a:fld>
            <a:endParaRPr lang="en-NZ"/>
          </a:p>
        </p:txBody>
      </p:sp>
    </p:spTree>
    <p:extLst>
      <p:ext uri="{BB962C8B-B14F-4D97-AF65-F5344CB8AC3E}">
        <p14:creationId xmlns:p14="http://schemas.microsoft.com/office/powerpoint/2010/main" val="22943832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chemeClr val="bg2">
                <a:tint val="100000"/>
                <a:shade val="0"/>
                <a:satMod val="100000"/>
              </a:schemeClr>
            </a:gs>
            <a:gs pos="85000">
              <a:schemeClr val="bg2">
                <a:tint val="100000"/>
                <a:shade val="30000"/>
                <a:satMod val="100000"/>
              </a:schemeClr>
            </a:gs>
            <a:gs pos="100000">
              <a:schemeClr val="bg2">
                <a:shade val="60000"/>
                <a:satMod val="100000"/>
              </a:schemeClr>
            </a:gs>
          </a:gsLst>
          <a:lin ang="3600000" scaled="0"/>
          <a:tileRect/>
        </a:gradFill>
        <a:effectLst/>
      </p:bgPr>
    </p:bg>
    <p:spTree>
      <p:nvGrpSpPr>
        <p:cNvPr id="1" name=""/>
        <p:cNvGrpSpPr/>
        <p:nvPr/>
      </p:nvGrpSpPr>
      <p:grpSpPr>
        <a:xfrm>
          <a:off x="0" y="0"/>
          <a:ext cx="0" cy="0"/>
          <a:chOff x="0" y="0"/>
          <a:chExt cx="0" cy="0"/>
        </a:xfrm>
      </p:grpSpPr>
      <p:grpSp>
        <p:nvGrpSpPr>
          <p:cNvPr id="15" name="left lines"/>
          <p:cNvGrpSpPr/>
          <p:nvPr/>
        </p:nvGrpSpPr>
        <p:grpSpPr>
          <a:xfrm>
            <a:off x="-15873" y="-3174"/>
            <a:ext cx="820207" cy="5229225"/>
            <a:chOff x="-11906" y="-2381"/>
            <a:chExt cx="615155" cy="3921919"/>
          </a:xfrm>
        </p:grpSpPr>
        <p:sp>
          <p:nvSpPr>
            <p:cNvPr id="10" name="Freeform 9"/>
            <p:cNvSpPr/>
            <p:nvPr/>
          </p:nvSpPr>
          <p:spPr>
            <a:xfrm>
              <a:off x="-9526" y="0"/>
              <a:ext cx="612775" cy="3919538"/>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Lst>
              <a:ahLst/>
              <a:cxnLst>
                <a:cxn ang="0">
                  <a:pos x="connsiteX0" y="connsiteY0"/>
                </a:cxn>
                <a:cxn ang="0">
                  <a:pos x="connsiteX1" y="connsiteY1"/>
                </a:cxn>
                <a:cxn ang="0">
                  <a:pos x="connsiteX2" y="connsiteY2"/>
                </a:cxn>
              </a:cxnLst>
              <a:rect l="l" t="t" r="r" b="b"/>
              <a:pathLst>
                <a:path w="612775" h="3919538">
                  <a:moveTo>
                    <a:pt x="0" y="3919538"/>
                  </a:moveTo>
                  <a:lnTo>
                    <a:pt x="612775" y="2984500"/>
                  </a:lnTo>
                  <a:lnTo>
                    <a:pt x="612775" y="0"/>
                  </a:lnTo>
                </a:path>
              </a:pathLst>
            </a:custGeom>
            <a:noFill/>
            <a:ln w="38100">
              <a:gradFill>
                <a:gsLst>
                  <a:gs pos="50000">
                    <a:schemeClr val="accent1">
                      <a:lumMod val="75000"/>
                    </a:schemeClr>
                  </a:gs>
                  <a:gs pos="0">
                    <a:schemeClr val="accent1"/>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Freeform 10"/>
            <p:cNvSpPr/>
            <p:nvPr/>
          </p:nvSpPr>
          <p:spPr>
            <a:xfrm>
              <a:off x="-11906" y="0"/>
              <a:ext cx="410751" cy="3421856"/>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 name="connsiteX0" fmla="*/ 0 w 612775"/>
                <a:gd name="connsiteY0" fmla="*/ 3919538 h 3919538"/>
                <a:gd name="connsiteX1" fmla="*/ 202024 w 612775"/>
                <a:gd name="connsiteY1" fmla="*/ 3607676 h 3919538"/>
                <a:gd name="connsiteX2" fmla="*/ 612775 w 612775"/>
                <a:gd name="connsiteY2" fmla="*/ 2984500 h 3919538"/>
                <a:gd name="connsiteX3" fmla="*/ 612775 w 612775"/>
                <a:gd name="connsiteY3" fmla="*/ 0 h 3919538"/>
                <a:gd name="connsiteX0" fmla="*/ 0 w 410751"/>
                <a:gd name="connsiteY0" fmla="*/ 3607676 h 3607676"/>
                <a:gd name="connsiteX1" fmla="*/ 410751 w 410751"/>
                <a:gd name="connsiteY1" fmla="*/ 2984500 h 3607676"/>
                <a:gd name="connsiteX2" fmla="*/ 410751 w 410751"/>
                <a:gd name="connsiteY2" fmla="*/ 0 h 3607676"/>
                <a:gd name="connsiteX0" fmla="*/ 0 w 410751"/>
                <a:gd name="connsiteY0" fmla="*/ 3607676 h 3607676"/>
                <a:gd name="connsiteX1" fmla="*/ 410751 w 410751"/>
                <a:gd name="connsiteY1" fmla="*/ 2984500 h 3607676"/>
                <a:gd name="connsiteX2" fmla="*/ 409575 w 410751"/>
                <a:gd name="connsiteY2" fmla="*/ 185820 h 3607676"/>
                <a:gd name="connsiteX3" fmla="*/ 410751 w 410751"/>
                <a:gd name="connsiteY3" fmla="*/ 0 h 3607676"/>
                <a:gd name="connsiteX0" fmla="*/ 0 w 410751"/>
                <a:gd name="connsiteY0" fmla="*/ 3421856 h 3421856"/>
                <a:gd name="connsiteX1" fmla="*/ 410751 w 410751"/>
                <a:gd name="connsiteY1" fmla="*/ 2798680 h 3421856"/>
                <a:gd name="connsiteX2" fmla="*/ 409575 w 410751"/>
                <a:gd name="connsiteY2" fmla="*/ 0 h 3421856"/>
              </a:gdLst>
              <a:ahLst/>
              <a:cxnLst>
                <a:cxn ang="0">
                  <a:pos x="connsiteX0" y="connsiteY0"/>
                </a:cxn>
                <a:cxn ang="0">
                  <a:pos x="connsiteX1" y="connsiteY1"/>
                </a:cxn>
                <a:cxn ang="0">
                  <a:pos x="connsiteX2" y="connsiteY2"/>
                </a:cxn>
              </a:cxnLst>
              <a:rect l="l" t="t" r="r" b="b"/>
              <a:pathLst>
                <a:path w="410751" h="3421856">
                  <a:moveTo>
                    <a:pt x="0" y="3421856"/>
                  </a:moveTo>
                  <a:lnTo>
                    <a:pt x="410751" y="2798680"/>
                  </a:lnTo>
                  <a:lnTo>
                    <a:pt x="409575" y="0"/>
                  </a:lnTo>
                </a:path>
              </a:pathLst>
            </a:custGeom>
            <a:noFill/>
            <a:ln w="28575">
              <a:gradFill>
                <a:gsLst>
                  <a:gs pos="0">
                    <a:schemeClr val="accent1">
                      <a:lumMod val="75000"/>
                    </a:schemeClr>
                  </a:gs>
                  <a:gs pos="50000">
                    <a:schemeClr val="accent1">
                      <a:lumMod val="75000"/>
                    </a:schemeClr>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Freeform 13"/>
            <p:cNvSpPr/>
            <p:nvPr/>
          </p:nvSpPr>
          <p:spPr>
            <a:xfrm>
              <a:off x="-7144" y="-2381"/>
              <a:ext cx="238919" cy="2976561"/>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 name="connsiteX0" fmla="*/ 0 w 612775"/>
                <a:gd name="connsiteY0" fmla="*/ 3919538 h 3919538"/>
                <a:gd name="connsiteX1" fmla="*/ 373856 w 612775"/>
                <a:gd name="connsiteY1" fmla="*/ 3344891 h 3919538"/>
                <a:gd name="connsiteX2" fmla="*/ 612775 w 612775"/>
                <a:gd name="connsiteY2" fmla="*/ 2984500 h 3919538"/>
                <a:gd name="connsiteX3" fmla="*/ 612775 w 612775"/>
                <a:gd name="connsiteY3" fmla="*/ 0 h 3919538"/>
                <a:gd name="connsiteX0" fmla="*/ 0 w 238919"/>
                <a:gd name="connsiteY0" fmla="*/ 3344891 h 3344891"/>
                <a:gd name="connsiteX1" fmla="*/ 238919 w 238919"/>
                <a:gd name="connsiteY1" fmla="*/ 2984500 h 3344891"/>
                <a:gd name="connsiteX2" fmla="*/ 238919 w 238919"/>
                <a:gd name="connsiteY2" fmla="*/ 0 h 3344891"/>
                <a:gd name="connsiteX0" fmla="*/ 0 w 238919"/>
                <a:gd name="connsiteY0" fmla="*/ 3344891 h 3344891"/>
                <a:gd name="connsiteX1" fmla="*/ 238919 w 238919"/>
                <a:gd name="connsiteY1" fmla="*/ 2984500 h 3344891"/>
                <a:gd name="connsiteX2" fmla="*/ 238125 w 238919"/>
                <a:gd name="connsiteY2" fmla="*/ 368330 h 3344891"/>
                <a:gd name="connsiteX3" fmla="*/ 238919 w 238919"/>
                <a:gd name="connsiteY3" fmla="*/ 0 h 3344891"/>
                <a:gd name="connsiteX0" fmla="*/ 0 w 238919"/>
                <a:gd name="connsiteY0" fmla="*/ 2976561 h 2976561"/>
                <a:gd name="connsiteX1" fmla="*/ 238919 w 238919"/>
                <a:gd name="connsiteY1" fmla="*/ 2616170 h 2976561"/>
                <a:gd name="connsiteX2" fmla="*/ 238125 w 238919"/>
                <a:gd name="connsiteY2" fmla="*/ 0 h 2976561"/>
              </a:gdLst>
              <a:ahLst/>
              <a:cxnLst>
                <a:cxn ang="0">
                  <a:pos x="connsiteX0" y="connsiteY0"/>
                </a:cxn>
                <a:cxn ang="0">
                  <a:pos x="connsiteX1" y="connsiteY1"/>
                </a:cxn>
                <a:cxn ang="0">
                  <a:pos x="connsiteX2" y="connsiteY2"/>
                </a:cxn>
              </a:cxnLst>
              <a:rect l="l" t="t" r="r" b="b"/>
              <a:pathLst>
                <a:path w="238919" h="2976561">
                  <a:moveTo>
                    <a:pt x="0" y="2976561"/>
                  </a:moveTo>
                  <a:lnTo>
                    <a:pt x="238919" y="2616170"/>
                  </a:lnTo>
                  <a:cubicBezTo>
                    <a:pt x="238654" y="1744113"/>
                    <a:pt x="238390" y="872057"/>
                    <a:pt x="238125" y="0"/>
                  </a:cubicBezTo>
                </a:path>
              </a:pathLst>
            </a:custGeom>
            <a:noFill/>
            <a:ln w="25400">
              <a:gradFill>
                <a:gsLst>
                  <a:gs pos="0">
                    <a:schemeClr val="accent1">
                      <a:lumMod val="50000"/>
                    </a:schemeClr>
                  </a:gs>
                  <a:gs pos="100000">
                    <a:schemeClr val="accent1">
                      <a:lumMod val="75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Placeholder 1"/>
          <p:cNvSpPr>
            <a:spLocks noGrp="1"/>
          </p:cNvSpPr>
          <p:nvPr>
            <p:ph type="title"/>
          </p:nvPr>
        </p:nvSpPr>
        <p:spPr>
          <a:xfrm>
            <a:off x="1219201" y="274637"/>
            <a:ext cx="10363200" cy="1223963"/>
          </a:xfrm>
          <a:prstGeom prst="rect">
            <a:avLst/>
          </a:prstGeom>
        </p:spPr>
        <p:txBody>
          <a:bodyPr vert="horz" lIns="121899" tIns="60949" rIns="121899" bIns="60949" rtlCol="0" anchor="b">
            <a:normAutofit/>
          </a:bodyPr>
          <a:lstStyle/>
          <a:p>
            <a:r>
              <a:rPr lang="en-US"/>
              <a:t>Click to edit Master title style</a:t>
            </a:r>
            <a:endParaRPr/>
          </a:p>
        </p:txBody>
      </p:sp>
      <p:sp>
        <p:nvSpPr>
          <p:cNvPr id="3" name="Text Placeholder 2"/>
          <p:cNvSpPr>
            <a:spLocks noGrp="1"/>
          </p:cNvSpPr>
          <p:nvPr>
            <p:ph type="body" idx="1"/>
          </p:nvPr>
        </p:nvSpPr>
        <p:spPr>
          <a:xfrm>
            <a:off x="1219201" y="1701797"/>
            <a:ext cx="10363200" cy="4462272"/>
          </a:xfrm>
          <a:prstGeom prst="rect">
            <a:avLst/>
          </a:prstGeom>
        </p:spPr>
        <p:txBody>
          <a:bodyPr vert="horz" lIns="121899" tIns="60949" rIns="121899" bIns="6094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2"/>
          </p:nvPr>
        </p:nvSpPr>
        <p:spPr>
          <a:xfrm>
            <a:off x="1219200" y="6356354"/>
            <a:ext cx="2235200" cy="365125"/>
          </a:xfrm>
          <a:prstGeom prst="rect">
            <a:avLst/>
          </a:prstGeom>
        </p:spPr>
        <p:txBody>
          <a:bodyPr vert="horz" lIns="121899" tIns="60949" rIns="121899" bIns="60949" rtlCol="0" anchor="ctr"/>
          <a:lstStyle>
            <a:lvl1pPr algn="l">
              <a:defRPr sz="1200">
                <a:solidFill>
                  <a:schemeClr val="tx1">
                    <a:tint val="75000"/>
                  </a:schemeClr>
                </a:solidFill>
              </a:defRPr>
            </a:lvl1pPr>
          </a:lstStyle>
          <a:p>
            <a:pPr>
              <a:defRPr/>
            </a:pPr>
            <a:fld id="{6CE09619-5565-41D9-A956-A29FBF9BA4DD}" type="datetimeFigureOut">
              <a:rPr lang="en-NZ" smtClean="0"/>
              <a:pPr>
                <a:defRPr/>
              </a:pPr>
              <a:t>18/03/2026</a:t>
            </a:fld>
            <a:endParaRPr lang="en-NZ"/>
          </a:p>
        </p:txBody>
      </p:sp>
      <p:sp>
        <p:nvSpPr>
          <p:cNvPr id="5" name="Footer Placeholder 4"/>
          <p:cNvSpPr>
            <a:spLocks noGrp="1"/>
          </p:cNvSpPr>
          <p:nvPr>
            <p:ph type="ftr" sz="quarter" idx="3"/>
          </p:nvPr>
        </p:nvSpPr>
        <p:spPr>
          <a:xfrm>
            <a:off x="3454400" y="6356354"/>
            <a:ext cx="5283200" cy="365125"/>
          </a:xfrm>
          <a:prstGeom prst="rect">
            <a:avLst/>
          </a:prstGeom>
        </p:spPr>
        <p:txBody>
          <a:bodyPr vert="horz" lIns="121899" tIns="60949" rIns="121899" bIns="60949" rtlCol="0" anchor="ctr"/>
          <a:lstStyle>
            <a:lvl1pPr algn="ctr">
              <a:defRPr sz="1200">
                <a:solidFill>
                  <a:schemeClr val="tx1">
                    <a:tint val="75000"/>
                  </a:schemeClr>
                </a:solidFill>
              </a:defRPr>
            </a:lvl1pPr>
          </a:lstStyle>
          <a:p>
            <a:pPr>
              <a:defRPr/>
            </a:pPr>
            <a:endParaRPr lang="en-NZ"/>
          </a:p>
        </p:txBody>
      </p:sp>
      <p:sp>
        <p:nvSpPr>
          <p:cNvPr id="6" name="Slide Number Placeholder 5"/>
          <p:cNvSpPr>
            <a:spLocks noGrp="1"/>
          </p:cNvSpPr>
          <p:nvPr>
            <p:ph type="sldNum" sz="quarter" idx="4"/>
          </p:nvPr>
        </p:nvSpPr>
        <p:spPr>
          <a:xfrm>
            <a:off x="10566401" y="6356354"/>
            <a:ext cx="1016000" cy="365125"/>
          </a:xfrm>
          <a:prstGeom prst="rect">
            <a:avLst/>
          </a:prstGeom>
        </p:spPr>
        <p:txBody>
          <a:bodyPr vert="horz" lIns="121899" tIns="60949" rIns="121899" bIns="60949" rtlCol="0" anchor="ctr"/>
          <a:lstStyle>
            <a:lvl1pPr algn="r">
              <a:defRPr sz="1200">
                <a:solidFill>
                  <a:schemeClr val="tx1">
                    <a:tint val="75000"/>
                  </a:schemeClr>
                </a:solidFill>
              </a:defRPr>
            </a:lvl1pPr>
          </a:lstStyle>
          <a:p>
            <a:pPr>
              <a:defRPr/>
            </a:pPr>
            <a:fld id="{DF91B0A5-C771-4EF3-A634-FD6081F6A3B8}" type="slidenum">
              <a:rPr lang="en-NZ" smtClean="0"/>
              <a:pPr>
                <a:defRPr/>
              </a:pPr>
              <a:t>‹#›</a:t>
            </a:fld>
            <a:endParaRPr lang="en-NZ"/>
          </a:p>
        </p:txBody>
      </p:sp>
    </p:spTree>
    <p:extLst>
      <p:ext uri="{BB962C8B-B14F-4D97-AF65-F5344CB8AC3E}">
        <p14:creationId xmlns:p14="http://schemas.microsoft.com/office/powerpoint/2010/main" val="1126273214"/>
      </p:ext>
    </p:extLst>
  </p:cSld>
  <p:clrMap bg1="dk1" tx1="lt1" bg2="dk2" tx2="lt2" accent1="accent1" accent2="accent2" accent3="accent3" accent4="accent4" accent5="accent5" accent6="accent6" hlink="hlink" folHlink="folHlink"/>
  <p:sldLayoutIdLst>
    <p:sldLayoutId id="2147484058" r:id="rId1"/>
    <p:sldLayoutId id="2147484059" r:id="rId2"/>
    <p:sldLayoutId id="2147484060" r:id="rId3"/>
    <p:sldLayoutId id="2147484061" r:id="rId4"/>
    <p:sldLayoutId id="2147484062" r:id="rId5"/>
    <p:sldLayoutId id="2147484063" r:id="rId6"/>
    <p:sldLayoutId id="2147484064" r:id="rId7"/>
    <p:sldLayoutId id="2147484065" r:id="rId8"/>
    <p:sldLayoutId id="2147484066" r:id="rId9"/>
    <p:sldLayoutId id="2147484067" r:id="rId10"/>
    <p:sldLayoutId id="2147484068"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1218987"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304747" indent="-304747" algn="l" defTabSz="1218987" rtl="0" eaLnBrk="1" latinLnBrk="0" hangingPunct="1">
        <a:lnSpc>
          <a:spcPct val="90000"/>
        </a:lnSpc>
        <a:spcBef>
          <a:spcPts val="1600"/>
        </a:spcBef>
        <a:buClr>
          <a:schemeClr val="accent1"/>
        </a:buClr>
        <a:buSzPct val="100000"/>
        <a:buFont typeface="Arial" pitchFamily="34" charset="0"/>
        <a:buChar char="•"/>
        <a:defRPr sz="2800" kern="1200">
          <a:solidFill>
            <a:schemeClr val="tx1"/>
          </a:solidFill>
          <a:latin typeface="+mn-lt"/>
          <a:ea typeface="+mn-ea"/>
          <a:cs typeface="+mn-cs"/>
        </a:defRPr>
      </a:lvl1pPr>
      <a:lvl2pPr marL="609493" indent="-231607" algn="l" defTabSz="1218987" rtl="0" eaLnBrk="1" latinLnBrk="0" hangingPunct="1">
        <a:lnSpc>
          <a:spcPct val="90000"/>
        </a:lnSpc>
        <a:spcBef>
          <a:spcPts val="800"/>
        </a:spcBef>
        <a:buClr>
          <a:schemeClr val="accent1"/>
        </a:buClr>
        <a:buSzPct val="80000"/>
        <a:buFont typeface="Arial" pitchFamily="34" charset="0"/>
        <a:buChar char="•"/>
        <a:defRPr sz="2400" kern="1200">
          <a:solidFill>
            <a:schemeClr val="tx1"/>
          </a:solidFill>
          <a:latin typeface="+mn-lt"/>
          <a:ea typeface="+mn-ea"/>
          <a:cs typeface="+mn-cs"/>
        </a:defRPr>
      </a:lvl2pPr>
      <a:lvl3pPr marL="914240"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3pPr>
      <a:lvl4pPr marL="1218987"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4pPr>
      <a:lvl5pPr marL="1523733"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5pPr>
      <a:lvl6pPr marL="1828480"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6pPr>
      <a:lvl7pPr marL="2133227"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7pPr>
      <a:lvl8pPr marL="2437973" indent="-231607" algn="l" defTabSz="1218987" rtl="0" eaLnBrk="1" latinLnBrk="0" hangingPunct="1">
        <a:lnSpc>
          <a:spcPct val="90000"/>
        </a:lnSpc>
        <a:spcBef>
          <a:spcPts val="800"/>
        </a:spcBef>
        <a:buClr>
          <a:schemeClr val="accent1"/>
        </a:buClr>
        <a:buSzPct val="80000"/>
        <a:buFont typeface="Arial" pitchFamily="34" charset="0"/>
        <a:buChar char="•"/>
        <a:defRPr sz="2000" kern="1200" baseline="0">
          <a:solidFill>
            <a:schemeClr val="tx1"/>
          </a:solidFill>
          <a:latin typeface="+mn-lt"/>
          <a:ea typeface="+mn-ea"/>
          <a:cs typeface="+mn-cs"/>
        </a:defRPr>
      </a:lvl8pPr>
      <a:lvl9pPr marL="2742720" indent="-231607" algn="l" defTabSz="1218987" rtl="0" eaLnBrk="1" latinLnBrk="0" hangingPunct="1">
        <a:lnSpc>
          <a:spcPct val="90000"/>
        </a:lnSpc>
        <a:spcBef>
          <a:spcPts val="800"/>
        </a:spcBef>
        <a:buClr>
          <a:schemeClr val="accent1"/>
        </a:buClr>
        <a:buSzPct val="80000"/>
        <a:buFont typeface="Arial" pitchFamily="34" charset="0"/>
        <a:buChar char="•"/>
        <a:defRPr sz="2000" kern="1200" baseline="0">
          <a:solidFill>
            <a:schemeClr val="tx1"/>
          </a:solidFill>
          <a:latin typeface="+mn-lt"/>
          <a:ea typeface="+mn-ea"/>
          <a:cs typeface="+mn-cs"/>
        </a:defRPr>
      </a:lvl9pPr>
    </p:bodyStyle>
    <p:otherStyle>
      <a:defPPr>
        <a:defRPr/>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5119"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6CE09619-5565-41D9-A956-A29FBF9BA4DD}" type="datetimeFigureOut">
              <a:rPr lang="en-NZ" smtClean="0"/>
              <a:pPr>
                <a:defRPr/>
              </a:pPr>
              <a:t>18/03/2026</a:t>
            </a:fld>
            <a:endParaRPr lang="en-NZ"/>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NZ"/>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DF91B0A5-C771-4EF3-A634-FD6081F6A3B8}" type="slidenum">
              <a:rPr lang="en-NZ" smtClean="0"/>
              <a:pPr>
                <a:defRPr/>
              </a:pPr>
              <a:t>‹#›</a:t>
            </a:fld>
            <a:endParaRPr lang="en-NZ"/>
          </a:p>
        </p:txBody>
      </p:sp>
    </p:spTree>
    <p:extLst>
      <p:ext uri="{BB962C8B-B14F-4D97-AF65-F5344CB8AC3E}">
        <p14:creationId xmlns:p14="http://schemas.microsoft.com/office/powerpoint/2010/main" val="1573907782"/>
      </p:ext>
    </p:extLst>
  </p:cSld>
  <p:clrMap bg1="lt1" tx1="dk1" bg2="lt2" tx2="dk2" accent1="accent1" accent2="accent2" accent3="accent3" accent4="accent4" accent5="accent5" accent6="accent6" hlink="hlink" folHlink="folHlink"/>
  <p:sldLayoutIdLst>
    <p:sldLayoutId id="2147484082" r:id="rId1"/>
    <p:sldLayoutId id="2147484083" r:id="rId2"/>
    <p:sldLayoutId id="2147484084" r:id="rId3"/>
    <p:sldLayoutId id="2147484085" r:id="rId4"/>
    <p:sldLayoutId id="2147484086" r:id="rId5"/>
    <p:sldLayoutId id="2147484087" r:id="rId6"/>
    <p:sldLayoutId id="2147484088" r:id="rId7"/>
    <p:sldLayoutId id="2147484089" r:id="rId8"/>
    <p:sldLayoutId id="2147484090" r:id="rId9"/>
    <p:sldLayoutId id="2147484091" r:id="rId10"/>
    <p:sldLayoutId id="2147484092"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3.xml"/><Relationship Id="rId4" Type="http://schemas.openxmlformats.org/officeDocument/2006/relationships/hyperlink" Target="https://www.asciitable.com/" TargetMode="External"/></Relationships>
</file>

<file path=ppt/slides/_rels/slide4.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hyperlink" Target="https://www.tutorialexample.com/notepad-open-and-view-binary-file-a-step-guide/" TargetMode="External"/><Relationship Id="rId7" Type="http://schemas.openxmlformats.org/officeDocument/2006/relationships/hyperlink" Target="https://apps.timwhitlock.info/emoji/tables/unicode" TargetMode="External"/><Relationship Id="rId2" Type="http://schemas.openxmlformats.org/officeDocument/2006/relationships/hyperlink" Target="https://youtu.be/5aJKKgSEUnY?si=Re9_UqoQGd4_kgx4" TargetMode="External"/><Relationship Id="rId1" Type="http://schemas.openxmlformats.org/officeDocument/2006/relationships/slideLayout" Target="../slideLayouts/slideLayout13.xml"/><Relationship Id="rId6" Type="http://schemas.openxmlformats.org/officeDocument/2006/relationships/image" Target="../media/image2.png"/><Relationship Id="rId5" Type="http://schemas.openxmlformats.org/officeDocument/2006/relationships/image" Target="../media/image3.png"/><Relationship Id="rId4" Type="http://schemas.openxmlformats.org/officeDocument/2006/relationships/hyperlink" Target="https://symbl.cc/en/unicode-table/"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youtu.be/H4l42nbYmrU?si=-4EAWfcKLqjzK3Il" TargetMode="External"/><Relationship Id="rId1" Type="http://schemas.openxmlformats.org/officeDocument/2006/relationships/slideLayout" Target="../slideLayouts/slideLayout13.xml"/><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hyperlink" Target="https://en.wikipedia.org/wiki/Linear_probing" TargetMode="External"/><Relationship Id="rId2" Type="http://schemas.openxmlformats.org/officeDocument/2006/relationships/image" Target="../media/image11.png"/><Relationship Id="rId1" Type="http://schemas.openxmlformats.org/officeDocument/2006/relationships/slideLayout" Target="../slideLayouts/slideLayout13.xml"/><Relationship Id="rId4" Type="http://schemas.openxmlformats.org/officeDocument/2006/relationships/hyperlink" Target="https://tutorialspoint.dev/data-structure/hashing-data-structure/hashing-set-2-separate-chaining"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hyperlink" Target="https://www.youtube.com/watch?v=KyUTuwz_b7Q&amp;t=2s" TargetMode="Externa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hyperlink" Target="https://youtu.be/MijmeoH9LT4?si=RZP88AxRNopQK3Uk" TargetMode="Externa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bg>
      <p:bgPr>
        <a:gradFill>
          <a:gsLst>
            <a:gs pos="0">
              <a:schemeClr val="tx1"/>
            </a:gs>
            <a:gs pos="18000">
              <a:schemeClr val="accent2">
                <a:lumMod val="75000"/>
              </a:schemeClr>
            </a:gs>
            <a:gs pos="59000">
              <a:srgbClr val="FFFF00"/>
            </a:gs>
            <a:gs pos="100000">
              <a:schemeClr val="accent6">
                <a:lumMod val="50000"/>
              </a:schemeClr>
            </a:gs>
          </a:gsLst>
          <a:lin ang="2700000" scaled="0"/>
        </a:gra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ctrTitle"/>
          </p:nvPr>
        </p:nvSpPr>
        <p:spPr>
          <a:xfrm>
            <a:off x="486229" y="2856231"/>
            <a:ext cx="11219542" cy="1727200"/>
          </a:xfrm>
          <a:noFill/>
        </p:spPr>
        <p:txBody>
          <a:bodyPr vert="horz" lIns="90488" tIns="44450" rIns="90488" bIns="44450" rtlCol="0" anchor="b">
            <a:normAutofit fontScale="90000"/>
          </a:bodyPr>
          <a:lstStyle/>
          <a:p>
            <a:pPr>
              <a:defRPr/>
            </a:pPr>
            <a:r>
              <a:rPr lang="en-NZ" b="1" dirty="0">
                <a:solidFill>
                  <a:srgbClr val="0000FF"/>
                </a:solidFill>
              </a:rPr>
              <a:t>ITDT5.228</a:t>
            </a:r>
            <a:br>
              <a:rPr lang="en-US" b="1" dirty="0">
                <a:solidFill>
                  <a:srgbClr val="0000FF"/>
                </a:solidFill>
              </a:rPr>
            </a:br>
            <a:r>
              <a:rPr lang="en-NZ" sz="6700" b="1" dirty="0">
                <a:solidFill>
                  <a:srgbClr val="0000FF"/>
                </a:solidFill>
              </a:rPr>
              <a:t>INTRODUCTION TO DATA CONCEPTS</a:t>
            </a:r>
            <a:endParaRPr lang="en-US" sz="6700" b="1" dirty="0">
              <a:solidFill>
                <a:srgbClr val="0000FF"/>
              </a:solidFill>
            </a:endParaRPr>
          </a:p>
        </p:txBody>
      </p:sp>
      <p:pic>
        <p:nvPicPr>
          <p:cNvPr id="4" name="Picture 3"/>
          <p:cNvPicPr>
            <a:picLocks noChangeAspect="1"/>
          </p:cNvPicPr>
          <p:nvPr/>
        </p:nvPicPr>
        <p:blipFill>
          <a:blip r:embed="rId2"/>
          <a:stretch>
            <a:fillRect/>
          </a:stretch>
        </p:blipFill>
        <p:spPr>
          <a:xfrm>
            <a:off x="1369228" y="565"/>
            <a:ext cx="9980017" cy="2274005"/>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showMasterPhAnim="0">
  <p:cSld>
    <p:bg>
      <p:bgPr>
        <a:gradFill>
          <a:gsLst>
            <a:gs pos="0">
              <a:schemeClr val="tx1"/>
            </a:gs>
            <a:gs pos="18000">
              <a:schemeClr val="accent2">
                <a:lumMod val="75000"/>
              </a:schemeClr>
            </a:gs>
            <a:gs pos="59000">
              <a:srgbClr val="FFFF00"/>
            </a:gs>
            <a:gs pos="100000">
              <a:schemeClr val="accent6">
                <a:lumMod val="50000"/>
              </a:schemeClr>
            </a:gs>
          </a:gsLst>
          <a:lin ang="2700000" scaled="0"/>
        </a:gradFill>
        <a:effectLst/>
      </p:bgPr>
    </p:bg>
    <p:spTree>
      <p:nvGrpSpPr>
        <p:cNvPr id="1" name=""/>
        <p:cNvGrpSpPr/>
        <p:nvPr/>
      </p:nvGrpSpPr>
      <p:grpSpPr>
        <a:xfrm>
          <a:off x="0" y="0"/>
          <a:ext cx="0" cy="0"/>
          <a:chOff x="0" y="0"/>
          <a:chExt cx="0" cy="0"/>
        </a:xfrm>
      </p:grpSpPr>
      <p:sp>
        <p:nvSpPr>
          <p:cNvPr id="4" name="TextBox 3"/>
          <p:cNvSpPr txBox="1"/>
          <p:nvPr/>
        </p:nvSpPr>
        <p:spPr>
          <a:xfrm>
            <a:off x="996950" y="1905650"/>
            <a:ext cx="10198099" cy="2431435"/>
          </a:xfrm>
          <a:prstGeom prst="rect">
            <a:avLst/>
          </a:prstGeom>
          <a:noFill/>
          <a:ln w="76200">
            <a:solidFill>
              <a:schemeClr val="tx1"/>
            </a:solidFill>
          </a:ln>
        </p:spPr>
        <p:txBody>
          <a:bodyPr wrap="square" rtlCol="0">
            <a:spAutoFit/>
          </a:bodyPr>
          <a:lstStyle/>
          <a:p>
            <a:pPr algn="ctr"/>
            <a:endParaRPr lang="en-NZ" sz="3200" b="1" dirty="0">
              <a:latin typeface="+mn-lt"/>
            </a:endParaRPr>
          </a:p>
          <a:p>
            <a:pPr algn="ctr"/>
            <a:r>
              <a:rPr lang="en-NZ" sz="4800" b="1" dirty="0">
                <a:latin typeface="+mn-lt"/>
              </a:rPr>
              <a:t>ASCII: </a:t>
            </a:r>
          </a:p>
          <a:p>
            <a:pPr algn="ctr"/>
            <a:r>
              <a:rPr lang="en-NZ" sz="4800" b="1" dirty="0">
                <a:latin typeface="+mn-lt"/>
              </a:rPr>
              <a:t>CHARACTER ENCODING SYSTEMS</a:t>
            </a:r>
          </a:p>
          <a:p>
            <a:pPr algn="ctr"/>
            <a:endParaRPr lang="en-NZ" sz="2400" b="1" dirty="0">
              <a:latin typeface="+mn-lt"/>
            </a:endParaRPr>
          </a:p>
        </p:txBody>
      </p:sp>
    </p:spTree>
    <p:extLst>
      <p:ext uri="{BB962C8B-B14F-4D97-AF65-F5344CB8AC3E}">
        <p14:creationId xmlns:p14="http://schemas.microsoft.com/office/powerpoint/2010/main" val="23052189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21BADE-63C6-48B3-8A35-B860B33F48B0}"/>
              </a:ext>
            </a:extLst>
          </p:cNvPr>
          <p:cNvSpPr>
            <a:spLocks noGrp="1"/>
          </p:cNvSpPr>
          <p:nvPr>
            <p:ph type="title"/>
          </p:nvPr>
        </p:nvSpPr>
        <p:spPr>
          <a:xfrm>
            <a:off x="0" y="1"/>
            <a:ext cx="4061361" cy="629392"/>
          </a:xfrm>
          <a:solidFill>
            <a:schemeClr val="accent2"/>
          </a:solidFill>
        </p:spPr>
        <p:txBody>
          <a:bodyPr>
            <a:normAutofit fontScale="90000"/>
          </a:bodyPr>
          <a:lstStyle/>
          <a:p>
            <a:r>
              <a:rPr lang="en-US" sz="4000" b="1" dirty="0">
                <a:latin typeface="+mn-lt"/>
              </a:rPr>
              <a:t>Character encoding</a:t>
            </a:r>
            <a:endParaRPr lang="en-NZ" sz="5400" b="1" dirty="0">
              <a:latin typeface="+mn-lt"/>
            </a:endParaRPr>
          </a:p>
        </p:txBody>
      </p:sp>
      <p:sp>
        <p:nvSpPr>
          <p:cNvPr id="3" name="Content Placeholder 2">
            <a:extLst>
              <a:ext uri="{FF2B5EF4-FFF2-40B4-BE49-F238E27FC236}">
                <a16:creationId xmlns:a16="http://schemas.microsoft.com/office/drawing/2014/main" id="{BDD0D505-AE0B-4B6E-A033-7BDBA5EFB978}"/>
              </a:ext>
            </a:extLst>
          </p:cNvPr>
          <p:cNvSpPr>
            <a:spLocks noGrp="1"/>
          </p:cNvSpPr>
          <p:nvPr>
            <p:ph idx="1"/>
          </p:nvPr>
        </p:nvSpPr>
        <p:spPr>
          <a:xfrm>
            <a:off x="63608" y="742696"/>
            <a:ext cx="5367036" cy="5837596"/>
          </a:xfrm>
          <a:solidFill>
            <a:schemeClr val="accent4">
              <a:lumMod val="20000"/>
              <a:lumOff val="80000"/>
            </a:schemeClr>
          </a:solidFill>
        </p:spPr>
        <p:txBody>
          <a:bodyPr>
            <a:normAutofit fontScale="77500" lnSpcReduction="20000"/>
          </a:bodyPr>
          <a:lstStyle/>
          <a:p>
            <a:pPr marL="0" indent="0">
              <a:lnSpc>
                <a:spcPct val="120000"/>
              </a:lnSpc>
              <a:spcBef>
                <a:spcPts val="0"/>
              </a:spcBef>
              <a:buNone/>
            </a:pPr>
            <a:r>
              <a:rPr lang="en-NZ" b="1" dirty="0"/>
              <a:t>We know computers use binary to store information, but how does it translate into the text on your screen? </a:t>
            </a:r>
          </a:p>
          <a:p>
            <a:pPr>
              <a:lnSpc>
                <a:spcPct val="120000"/>
              </a:lnSpc>
              <a:spcBef>
                <a:spcPts val="600"/>
              </a:spcBef>
              <a:spcAft>
                <a:spcPts val="600"/>
              </a:spcAft>
            </a:pPr>
            <a:r>
              <a:rPr lang="en-NZ" sz="2600" b="1" dirty="0"/>
              <a:t>ASCII</a:t>
            </a:r>
            <a:r>
              <a:rPr lang="en-NZ" sz="2600" dirty="0"/>
              <a:t> </a:t>
            </a:r>
            <a:r>
              <a:rPr lang="en-NZ" sz="2600" b="1" dirty="0"/>
              <a:t>(American Standard Code for Information Interchange) </a:t>
            </a:r>
            <a:r>
              <a:rPr lang="en-NZ" sz="2600" dirty="0"/>
              <a:t>is a </a:t>
            </a:r>
            <a:r>
              <a:rPr lang="en-NZ" sz="2600" b="1" dirty="0"/>
              <a:t>character encoding standard</a:t>
            </a:r>
            <a:r>
              <a:rPr lang="en-NZ" sz="2600" dirty="0"/>
              <a:t> that was designed for teletypes in 1960.   </a:t>
            </a:r>
          </a:p>
          <a:p>
            <a:pPr>
              <a:lnSpc>
                <a:spcPct val="120000"/>
              </a:lnSpc>
              <a:spcBef>
                <a:spcPts val="600"/>
              </a:spcBef>
            </a:pPr>
            <a:r>
              <a:rPr lang="en-NZ" sz="2600" dirty="0"/>
              <a:t>Standard ASCII can represent </a:t>
            </a:r>
            <a:r>
              <a:rPr lang="en-NZ" sz="2600" b="1" u="sng" dirty="0"/>
              <a:t>128 characters</a:t>
            </a:r>
            <a:r>
              <a:rPr lang="en-NZ" sz="2600" dirty="0"/>
              <a:t>. It uses </a:t>
            </a:r>
            <a:r>
              <a:rPr lang="en-NZ" sz="2600" b="1" u="sng" dirty="0"/>
              <a:t>7 bits</a:t>
            </a:r>
            <a:r>
              <a:rPr lang="en-NZ" sz="2600" dirty="0"/>
              <a:t> to represent each letter, number and punctuation character. </a:t>
            </a:r>
          </a:p>
          <a:p>
            <a:pPr marL="457200" lvl="1" indent="0">
              <a:lnSpc>
                <a:spcPct val="120000"/>
              </a:lnSpc>
              <a:spcBef>
                <a:spcPts val="0"/>
              </a:spcBef>
              <a:spcAft>
                <a:spcPts val="1200"/>
              </a:spcAft>
              <a:buNone/>
            </a:pPr>
            <a:r>
              <a:rPr lang="en-NZ" sz="2600" b="1" u="sng" dirty="0">
                <a:solidFill>
                  <a:srgbClr val="0000FF"/>
                </a:solidFill>
              </a:rPr>
              <a:t>For example</a:t>
            </a:r>
            <a:r>
              <a:rPr lang="en-NZ" sz="2600" dirty="0">
                <a:solidFill>
                  <a:srgbClr val="0000FF"/>
                </a:solidFill>
              </a:rPr>
              <a:t>: A capital "T" is represented by </a:t>
            </a:r>
            <a:r>
              <a:rPr lang="en-NZ" sz="2600" u="sng" dirty="0">
                <a:solidFill>
                  <a:srgbClr val="0000FF"/>
                </a:solidFill>
              </a:rPr>
              <a:t>84</a:t>
            </a:r>
            <a:r>
              <a:rPr lang="en-NZ" sz="2600" dirty="0">
                <a:solidFill>
                  <a:srgbClr val="0000FF"/>
                </a:solidFill>
              </a:rPr>
              <a:t>, or 101 0100 in binary.  A lowercase "t" is represented by </a:t>
            </a:r>
            <a:r>
              <a:rPr lang="en-NZ" sz="2600" u="sng" dirty="0">
                <a:solidFill>
                  <a:srgbClr val="0000FF"/>
                </a:solidFill>
              </a:rPr>
              <a:t>116</a:t>
            </a:r>
            <a:r>
              <a:rPr lang="en-NZ" sz="2600" dirty="0">
                <a:solidFill>
                  <a:srgbClr val="0000FF"/>
                </a:solidFill>
              </a:rPr>
              <a:t> </a:t>
            </a:r>
            <a:r>
              <a:rPr lang="en-NZ" sz="2600">
                <a:solidFill>
                  <a:srgbClr val="0000FF"/>
                </a:solidFill>
              </a:rPr>
              <a:t>or 111 </a:t>
            </a:r>
            <a:r>
              <a:rPr lang="en-NZ" sz="2600" dirty="0">
                <a:solidFill>
                  <a:srgbClr val="0000FF"/>
                </a:solidFill>
              </a:rPr>
              <a:t>0100 in binary.</a:t>
            </a:r>
          </a:p>
          <a:p>
            <a:pPr>
              <a:lnSpc>
                <a:spcPct val="120000"/>
              </a:lnSpc>
              <a:spcBef>
                <a:spcPts val="600"/>
              </a:spcBef>
              <a:spcAft>
                <a:spcPts val="600"/>
              </a:spcAft>
            </a:pPr>
            <a:r>
              <a:rPr lang="en-NZ" sz="2600" dirty="0"/>
              <a:t>Instead of remembering the byte for each letter, symbol, and number, the ASCII founders organized them numerically &amp; assigned them a </a:t>
            </a:r>
            <a:r>
              <a:rPr lang="en-NZ" sz="2600" u="sng" dirty="0"/>
              <a:t>decimal value</a:t>
            </a:r>
            <a:r>
              <a:rPr lang="en-NZ" sz="2600" dirty="0"/>
              <a:t>. </a:t>
            </a:r>
          </a:p>
        </p:txBody>
      </p:sp>
      <p:pic>
        <p:nvPicPr>
          <p:cNvPr id="4" name="Picture 3"/>
          <p:cNvPicPr>
            <a:picLocks noChangeAspect="1"/>
          </p:cNvPicPr>
          <p:nvPr/>
        </p:nvPicPr>
        <p:blipFill>
          <a:blip r:embed="rId3"/>
          <a:stretch>
            <a:fillRect/>
          </a:stretch>
        </p:blipFill>
        <p:spPr>
          <a:xfrm>
            <a:off x="5430644" y="1722278"/>
            <a:ext cx="6730095" cy="4593407"/>
          </a:xfrm>
          <a:prstGeom prst="rect">
            <a:avLst/>
          </a:prstGeom>
          <a:ln>
            <a:solidFill>
              <a:schemeClr val="accent1"/>
            </a:solidFill>
          </a:ln>
        </p:spPr>
      </p:pic>
      <p:sp>
        <p:nvSpPr>
          <p:cNvPr id="5" name="Rectangle 4"/>
          <p:cNvSpPr/>
          <p:nvPr/>
        </p:nvSpPr>
        <p:spPr>
          <a:xfrm>
            <a:off x="7672273" y="6315685"/>
            <a:ext cx="2928815" cy="369332"/>
          </a:xfrm>
          <a:prstGeom prst="rect">
            <a:avLst/>
          </a:prstGeom>
        </p:spPr>
        <p:txBody>
          <a:bodyPr wrap="none">
            <a:spAutoFit/>
          </a:bodyPr>
          <a:lstStyle/>
          <a:p>
            <a:r>
              <a:rPr lang="en-NZ" dirty="0">
                <a:latin typeface="+mn-lt"/>
                <a:hlinkClick r:id="rId4"/>
              </a:rPr>
              <a:t>https://www.asciitable.com/</a:t>
            </a:r>
            <a:r>
              <a:rPr lang="en-NZ" dirty="0">
                <a:latin typeface="+mn-lt"/>
              </a:rPr>
              <a:t> </a:t>
            </a:r>
          </a:p>
        </p:txBody>
      </p:sp>
      <p:sp>
        <p:nvSpPr>
          <p:cNvPr id="6" name="Rectangle 5"/>
          <p:cNvSpPr/>
          <p:nvPr/>
        </p:nvSpPr>
        <p:spPr>
          <a:xfrm>
            <a:off x="6021195" y="983615"/>
            <a:ext cx="6139544" cy="738664"/>
          </a:xfrm>
          <a:prstGeom prst="rect">
            <a:avLst/>
          </a:prstGeom>
        </p:spPr>
        <p:txBody>
          <a:bodyPr wrap="square">
            <a:spAutoFit/>
          </a:bodyPr>
          <a:lstStyle/>
          <a:p>
            <a:pPr algn="ctr"/>
            <a:r>
              <a:rPr lang="en-NZ" b="1" dirty="0">
                <a:solidFill>
                  <a:srgbClr val="0000FF"/>
                </a:solidFill>
                <a:latin typeface="+mn-lt"/>
              </a:rPr>
              <a:t>ASCII</a:t>
            </a:r>
            <a:r>
              <a:rPr lang="en-NZ" dirty="0">
                <a:solidFill>
                  <a:srgbClr val="0000FF"/>
                </a:solidFill>
                <a:latin typeface="+mn-lt"/>
              </a:rPr>
              <a:t> </a:t>
            </a:r>
            <a:r>
              <a:rPr lang="en-NZ" b="1" dirty="0">
                <a:solidFill>
                  <a:srgbClr val="0000FF"/>
                </a:solidFill>
                <a:latin typeface="+mn-lt"/>
              </a:rPr>
              <a:t>(American Standard Code for Information Interchange) </a:t>
            </a:r>
          </a:p>
          <a:p>
            <a:pPr algn="ctr"/>
            <a:r>
              <a:rPr lang="en-NZ" sz="2400" b="1" dirty="0">
                <a:solidFill>
                  <a:srgbClr val="0000FF"/>
                </a:solidFill>
                <a:latin typeface="+mn-lt"/>
              </a:rPr>
              <a:t>Character Encoding Table</a:t>
            </a:r>
            <a:endParaRPr lang="en-NZ" sz="2400" dirty="0">
              <a:latin typeface="+mn-lt"/>
            </a:endParaRPr>
          </a:p>
        </p:txBody>
      </p:sp>
      <p:cxnSp>
        <p:nvCxnSpPr>
          <p:cNvPr id="8" name="Straight Arrow Connector 7">
            <a:extLst>
              <a:ext uri="{FF2B5EF4-FFF2-40B4-BE49-F238E27FC236}">
                <a16:creationId xmlns:a16="http://schemas.microsoft.com/office/drawing/2014/main" id="{18E35DB0-7D4C-4910-81B4-24CDE27447BF}"/>
              </a:ext>
            </a:extLst>
          </p:cNvPr>
          <p:cNvCxnSpPr>
            <a:cxnSpLocks/>
            <a:endCxn id="10" idx="1"/>
          </p:cNvCxnSpPr>
          <p:nvPr/>
        </p:nvCxnSpPr>
        <p:spPr>
          <a:xfrm>
            <a:off x="3306871" y="4334005"/>
            <a:ext cx="6179487" cy="296499"/>
          </a:xfrm>
          <a:prstGeom prst="straightConnector1">
            <a:avLst/>
          </a:prstGeom>
          <a:ln w="19050">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37A79584-1713-4032-91F4-A3EEC663DD46}"/>
              </a:ext>
            </a:extLst>
          </p:cNvPr>
          <p:cNvSpPr/>
          <p:nvPr/>
        </p:nvSpPr>
        <p:spPr>
          <a:xfrm>
            <a:off x="9486358" y="4541664"/>
            <a:ext cx="1217756" cy="177680"/>
          </a:xfrm>
          <a:prstGeom prst="rect">
            <a:avLst/>
          </a:prstGeom>
          <a:solidFill>
            <a:srgbClr val="FFFF00">
              <a:alpha val="30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cxnSp>
        <p:nvCxnSpPr>
          <p:cNvPr id="12" name="Straight Arrow Connector 11">
            <a:extLst>
              <a:ext uri="{FF2B5EF4-FFF2-40B4-BE49-F238E27FC236}">
                <a16:creationId xmlns:a16="http://schemas.microsoft.com/office/drawing/2014/main" id="{363394C5-A082-45A6-8EC4-28C998FB8F0C}"/>
              </a:ext>
            </a:extLst>
          </p:cNvPr>
          <p:cNvCxnSpPr>
            <a:cxnSpLocks/>
            <a:endCxn id="10" idx="1"/>
          </p:cNvCxnSpPr>
          <p:nvPr/>
        </p:nvCxnSpPr>
        <p:spPr>
          <a:xfrm flipV="1">
            <a:off x="2002646" y="4630504"/>
            <a:ext cx="7483712" cy="1798484"/>
          </a:xfrm>
          <a:prstGeom prst="straightConnector1">
            <a:avLst/>
          </a:prstGeom>
          <a:ln w="19050">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BA332B3F-6FDF-4448-ADD3-2DA94511D16B}"/>
              </a:ext>
            </a:extLst>
          </p:cNvPr>
          <p:cNvSpPr/>
          <p:nvPr/>
        </p:nvSpPr>
        <p:spPr>
          <a:xfrm>
            <a:off x="9486358" y="1722277"/>
            <a:ext cx="193670" cy="2997067"/>
          </a:xfrm>
          <a:prstGeom prst="rect">
            <a:avLst/>
          </a:prstGeom>
          <a:solidFill>
            <a:srgbClr val="FFFF00">
              <a:alpha val="30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11" name="Rectangle 10">
            <a:extLst>
              <a:ext uri="{FF2B5EF4-FFF2-40B4-BE49-F238E27FC236}">
                <a16:creationId xmlns:a16="http://schemas.microsoft.com/office/drawing/2014/main" id="{4F955E27-AEBB-4CF7-8565-55B033C8342B}"/>
              </a:ext>
            </a:extLst>
          </p:cNvPr>
          <p:cNvSpPr/>
          <p:nvPr/>
        </p:nvSpPr>
        <p:spPr>
          <a:xfrm>
            <a:off x="10726712" y="4541664"/>
            <a:ext cx="1316049" cy="177680"/>
          </a:xfrm>
          <a:prstGeom prst="rect">
            <a:avLst/>
          </a:prstGeom>
          <a:solidFill>
            <a:srgbClr val="FFFF00">
              <a:alpha val="30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13" name="Rectangle 12">
            <a:extLst>
              <a:ext uri="{FF2B5EF4-FFF2-40B4-BE49-F238E27FC236}">
                <a16:creationId xmlns:a16="http://schemas.microsoft.com/office/drawing/2014/main" id="{8CBC5DA4-07E8-4B69-B920-1DB60EBED502}"/>
              </a:ext>
            </a:extLst>
          </p:cNvPr>
          <p:cNvSpPr/>
          <p:nvPr/>
        </p:nvSpPr>
        <p:spPr>
          <a:xfrm>
            <a:off x="10759309" y="1736479"/>
            <a:ext cx="248277" cy="2997067"/>
          </a:xfrm>
          <a:prstGeom prst="rect">
            <a:avLst/>
          </a:prstGeom>
          <a:solidFill>
            <a:srgbClr val="FFFF00">
              <a:alpha val="30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Tree>
    <p:extLst>
      <p:ext uri="{BB962C8B-B14F-4D97-AF65-F5344CB8AC3E}">
        <p14:creationId xmlns:p14="http://schemas.microsoft.com/office/powerpoint/2010/main" val="35765945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17D0BF84-24A1-4DBD-8500-6DE6A3387FDD}"/>
              </a:ext>
            </a:extLst>
          </p:cNvPr>
          <p:cNvSpPr>
            <a:spLocks noGrp="1"/>
          </p:cNvSpPr>
          <p:nvPr>
            <p:ph type="title"/>
          </p:nvPr>
        </p:nvSpPr>
        <p:spPr>
          <a:xfrm>
            <a:off x="0" y="1"/>
            <a:ext cx="3901831" cy="629392"/>
          </a:xfrm>
          <a:solidFill>
            <a:schemeClr val="accent2"/>
          </a:solidFill>
        </p:spPr>
        <p:txBody>
          <a:bodyPr>
            <a:normAutofit fontScale="90000"/>
          </a:bodyPr>
          <a:lstStyle/>
          <a:p>
            <a:r>
              <a:rPr lang="en-US" sz="4000" b="1" dirty="0">
                <a:latin typeface="+mn-lt"/>
              </a:rPr>
              <a:t>Character encoding</a:t>
            </a:r>
            <a:endParaRPr lang="en-NZ" sz="5400" b="1" dirty="0">
              <a:latin typeface="+mn-lt"/>
            </a:endParaRPr>
          </a:p>
        </p:txBody>
      </p:sp>
      <p:sp>
        <p:nvSpPr>
          <p:cNvPr id="7" name="TextBox 6">
            <a:extLst>
              <a:ext uri="{FF2B5EF4-FFF2-40B4-BE49-F238E27FC236}">
                <a16:creationId xmlns:a16="http://schemas.microsoft.com/office/drawing/2014/main" id="{4EE9056D-11FA-46BF-8C10-CCCB53778AFE}"/>
              </a:ext>
            </a:extLst>
          </p:cNvPr>
          <p:cNvSpPr txBox="1"/>
          <p:nvPr/>
        </p:nvSpPr>
        <p:spPr>
          <a:xfrm>
            <a:off x="4399156" y="46048"/>
            <a:ext cx="7792844" cy="646331"/>
          </a:xfrm>
          <a:prstGeom prst="rect">
            <a:avLst/>
          </a:prstGeom>
          <a:solidFill>
            <a:srgbClr val="FFFF00"/>
          </a:solidFill>
        </p:spPr>
        <p:txBody>
          <a:bodyPr wrap="square">
            <a:spAutoFit/>
          </a:bodyPr>
          <a:lstStyle/>
          <a:p>
            <a:pPr algn="ctr"/>
            <a:r>
              <a:rPr lang="en-NZ" b="1" i="0" dirty="0">
                <a:solidFill>
                  <a:srgbClr val="1D2125"/>
                </a:solidFill>
                <a:effectLst/>
                <a:latin typeface="+mn-lt"/>
              </a:rPr>
              <a:t>Video: “Understanding ASCII and Unicode (GCSE)”</a:t>
            </a:r>
          </a:p>
          <a:p>
            <a:pPr algn="ctr"/>
            <a:r>
              <a:rPr lang="en-NZ" dirty="0">
                <a:solidFill>
                  <a:srgbClr val="1D2125"/>
                </a:solidFill>
                <a:latin typeface="+mn-lt"/>
              </a:rPr>
              <a:t>Link: </a:t>
            </a:r>
            <a:r>
              <a:rPr lang="en-NZ" dirty="0">
                <a:solidFill>
                  <a:srgbClr val="1D2125"/>
                </a:solidFill>
                <a:latin typeface="+mn-lt"/>
                <a:hlinkClick r:id="rId2"/>
              </a:rPr>
              <a:t>https://youtu.be/5aJKKgSEUnY?si=Re9_UqoQGd4_kgx4</a:t>
            </a:r>
            <a:r>
              <a:rPr lang="en-NZ" dirty="0">
                <a:solidFill>
                  <a:srgbClr val="1D2125"/>
                </a:solidFill>
                <a:latin typeface="+mn-lt"/>
              </a:rPr>
              <a:t> </a:t>
            </a:r>
            <a:endParaRPr lang="en-NZ" dirty="0">
              <a:latin typeface="+mn-lt"/>
            </a:endParaRPr>
          </a:p>
        </p:txBody>
      </p:sp>
      <p:sp>
        <p:nvSpPr>
          <p:cNvPr id="10" name="TextBox 9">
            <a:extLst>
              <a:ext uri="{FF2B5EF4-FFF2-40B4-BE49-F238E27FC236}">
                <a16:creationId xmlns:a16="http://schemas.microsoft.com/office/drawing/2014/main" id="{A52429A1-2024-4408-86CE-C5F9CB3794E9}"/>
              </a:ext>
            </a:extLst>
          </p:cNvPr>
          <p:cNvSpPr txBox="1"/>
          <p:nvPr/>
        </p:nvSpPr>
        <p:spPr>
          <a:xfrm>
            <a:off x="4214648" y="5412465"/>
            <a:ext cx="7893269" cy="523220"/>
          </a:xfrm>
          <a:prstGeom prst="rect">
            <a:avLst/>
          </a:prstGeom>
          <a:solidFill>
            <a:schemeClr val="accent4"/>
          </a:solidFill>
        </p:spPr>
        <p:txBody>
          <a:bodyPr wrap="square">
            <a:spAutoFit/>
          </a:bodyPr>
          <a:lstStyle/>
          <a:p>
            <a:pPr algn="ctr" fontAlgn="base"/>
            <a:r>
              <a:rPr lang="en-NZ" sz="1400" b="1" i="0" dirty="0" err="1">
                <a:solidFill>
                  <a:srgbClr val="444444"/>
                </a:solidFill>
                <a:effectLst/>
                <a:latin typeface="+mn-lt"/>
              </a:rPr>
              <a:t>NotePad</a:t>
            </a:r>
            <a:r>
              <a:rPr lang="en-NZ" sz="1400" b="1" i="0" dirty="0">
                <a:solidFill>
                  <a:srgbClr val="444444"/>
                </a:solidFill>
                <a:effectLst/>
                <a:latin typeface="+mn-lt"/>
              </a:rPr>
              <a:t>++ Open and View Binary File</a:t>
            </a:r>
          </a:p>
          <a:p>
            <a:pPr algn="ctr" fontAlgn="base"/>
            <a:r>
              <a:rPr lang="en-NZ" sz="1400" b="1" u="sng" dirty="0">
                <a:solidFill>
                  <a:srgbClr val="444444"/>
                </a:solidFill>
                <a:latin typeface="+mn-lt"/>
              </a:rPr>
              <a:t>Link</a:t>
            </a:r>
            <a:r>
              <a:rPr lang="en-NZ" sz="1400" dirty="0">
                <a:solidFill>
                  <a:srgbClr val="444444"/>
                </a:solidFill>
                <a:latin typeface="+mn-lt"/>
              </a:rPr>
              <a:t>: </a:t>
            </a:r>
            <a:r>
              <a:rPr lang="en-NZ" sz="1400" dirty="0">
                <a:solidFill>
                  <a:srgbClr val="444444"/>
                </a:solidFill>
                <a:latin typeface="+mn-lt"/>
                <a:hlinkClick r:id="rId3"/>
              </a:rPr>
              <a:t>https://www.tutorialexample.com/notepad-open-and-view-binary-file-a-step-guide/</a:t>
            </a:r>
            <a:r>
              <a:rPr lang="en-NZ" sz="1400" dirty="0">
                <a:solidFill>
                  <a:srgbClr val="444444"/>
                </a:solidFill>
                <a:latin typeface="+mn-lt"/>
              </a:rPr>
              <a:t> </a:t>
            </a:r>
            <a:endParaRPr lang="en-NZ" sz="1400" b="0" i="0" dirty="0">
              <a:solidFill>
                <a:srgbClr val="444444"/>
              </a:solidFill>
              <a:effectLst/>
              <a:latin typeface="+mn-lt"/>
            </a:endParaRPr>
          </a:p>
        </p:txBody>
      </p:sp>
      <p:sp>
        <p:nvSpPr>
          <p:cNvPr id="13" name="TextBox 12">
            <a:extLst>
              <a:ext uri="{FF2B5EF4-FFF2-40B4-BE49-F238E27FC236}">
                <a16:creationId xmlns:a16="http://schemas.microsoft.com/office/drawing/2014/main" id="{1FAC105B-6911-43B3-AEBD-67E20155934C}"/>
              </a:ext>
            </a:extLst>
          </p:cNvPr>
          <p:cNvSpPr txBox="1"/>
          <p:nvPr/>
        </p:nvSpPr>
        <p:spPr>
          <a:xfrm>
            <a:off x="4214648" y="6100190"/>
            <a:ext cx="3678776" cy="469359"/>
          </a:xfrm>
          <a:prstGeom prst="rect">
            <a:avLst/>
          </a:prstGeom>
          <a:solidFill>
            <a:schemeClr val="accent4"/>
          </a:solidFill>
        </p:spPr>
        <p:txBody>
          <a:bodyPr wrap="square">
            <a:spAutoFit/>
          </a:bodyPr>
          <a:lstStyle/>
          <a:p>
            <a:r>
              <a:rPr lang="en-NZ" sz="1400" b="1" dirty="0">
                <a:latin typeface="+mn-lt"/>
              </a:rPr>
              <a:t>List of Unicode Symbols</a:t>
            </a:r>
          </a:p>
          <a:p>
            <a:r>
              <a:rPr lang="en-NZ" sz="1050" dirty="0">
                <a:latin typeface="+mn-lt"/>
              </a:rPr>
              <a:t>Link: </a:t>
            </a:r>
            <a:r>
              <a:rPr lang="en-NZ" sz="1050" dirty="0">
                <a:latin typeface="+mn-lt"/>
                <a:hlinkClick r:id="rId4"/>
              </a:rPr>
              <a:t>https://symbl.cc/en/unicode-table/</a:t>
            </a:r>
            <a:r>
              <a:rPr lang="en-NZ" sz="1050" dirty="0">
                <a:latin typeface="+mn-lt"/>
              </a:rPr>
              <a:t> </a:t>
            </a:r>
          </a:p>
        </p:txBody>
      </p:sp>
      <p:pic>
        <p:nvPicPr>
          <p:cNvPr id="15" name="Picture 14">
            <a:extLst>
              <a:ext uri="{FF2B5EF4-FFF2-40B4-BE49-F238E27FC236}">
                <a16:creationId xmlns:a16="http://schemas.microsoft.com/office/drawing/2014/main" id="{7FE31554-F804-4E23-9A3F-BD425BDEB12E}"/>
              </a:ext>
            </a:extLst>
          </p:cNvPr>
          <p:cNvPicPr>
            <a:picLocks noChangeAspect="1"/>
          </p:cNvPicPr>
          <p:nvPr/>
        </p:nvPicPr>
        <p:blipFill rotWithShape="1">
          <a:blip r:embed="rId5"/>
          <a:srcRect b="67108"/>
          <a:stretch/>
        </p:blipFill>
        <p:spPr>
          <a:xfrm>
            <a:off x="31261" y="5339659"/>
            <a:ext cx="3835516" cy="1437602"/>
          </a:xfrm>
          <a:prstGeom prst="rect">
            <a:avLst/>
          </a:prstGeom>
          <a:ln>
            <a:solidFill>
              <a:srgbClr val="000000"/>
            </a:solidFill>
          </a:ln>
        </p:spPr>
      </p:pic>
      <p:pic>
        <p:nvPicPr>
          <p:cNvPr id="9" name="Picture 8">
            <a:extLst>
              <a:ext uri="{FF2B5EF4-FFF2-40B4-BE49-F238E27FC236}">
                <a16:creationId xmlns:a16="http://schemas.microsoft.com/office/drawing/2014/main" id="{44CCC5E6-B39F-4DFD-A180-9188E4926A32}"/>
              </a:ext>
            </a:extLst>
          </p:cNvPr>
          <p:cNvPicPr>
            <a:picLocks noChangeAspect="1"/>
          </p:cNvPicPr>
          <p:nvPr/>
        </p:nvPicPr>
        <p:blipFill rotWithShape="1">
          <a:blip r:embed="rId6"/>
          <a:srcRect l="38153" b="3026"/>
          <a:stretch/>
        </p:blipFill>
        <p:spPr>
          <a:xfrm>
            <a:off x="31261" y="1084889"/>
            <a:ext cx="3870570" cy="4142171"/>
          </a:xfrm>
          <a:prstGeom prst="rect">
            <a:avLst/>
          </a:prstGeom>
          <a:ln>
            <a:solidFill>
              <a:srgbClr val="000000"/>
            </a:solidFill>
          </a:ln>
        </p:spPr>
      </p:pic>
      <p:sp>
        <p:nvSpPr>
          <p:cNvPr id="11" name="TextBox 10">
            <a:extLst>
              <a:ext uri="{FF2B5EF4-FFF2-40B4-BE49-F238E27FC236}">
                <a16:creationId xmlns:a16="http://schemas.microsoft.com/office/drawing/2014/main" id="{730D7BB0-3449-4400-AFBD-66D239E81CCA}"/>
              </a:ext>
            </a:extLst>
          </p:cNvPr>
          <p:cNvSpPr txBox="1"/>
          <p:nvPr/>
        </p:nvSpPr>
        <p:spPr>
          <a:xfrm>
            <a:off x="31261" y="688324"/>
            <a:ext cx="3870570" cy="369332"/>
          </a:xfrm>
          <a:prstGeom prst="rect">
            <a:avLst/>
          </a:prstGeom>
          <a:noFill/>
        </p:spPr>
        <p:txBody>
          <a:bodyPr wrap="square">
            <a:spAutoFit/>
          </a:bodyPr>
          <a:lstStyle/>
          <a:p>
            <a:pPr algn="ctr"/>
            <a:r>
              <a:rPr lang="en-NZ" b="1" dirty="0">
                <a:solidFill>
                  <a:srgbClr val="0000FF"/>
                </a:solidFill>
                <a:latin typeface="+mn-lt"/>
              </a:rPr>
              <a:t>ASCII</a:t>
            </a:r>
            <a:endParaRPr lang="en-NZ" dirty="0"/>
          </a:p>
        </p:txBody>
      </p:sp>
      <p:sp>
        <p:nvSpPr>
          <p:cNvPr id="12" name="TextBox 11">
            <a:extLst>
              <a:ext uri="{FF2B5EF4-FFF2-40B4-BE49-F238E27FC236}">
                <a16:creationId xmlns:a16="http://schemas.microsoft.com/office/drawing/2014/main" id="{0F93D42D-D2B4-4AFD-B3F0-C0FF1ABE5536}"/>
              </a:ext>
            </a:extLst>
          </p:cNvPr>
          <p:cNvSpPr txBox="1"/>
          <p:nvPr/>
        </p:nvSpPr>
        <p:spPr>
          <a:xfrm>
            <a:off x="8241295" y="6064486"/>
            <a:ext cx="3866622" cy="469359"/>
          </a:xfrm>
          <a:prstGeom prst="rect">
            <a:avLst/>
          </a:prstGeom>
          <a:solidFill>
            <a:schemeClr val="accent4"/>
          </a:solidFill>
        </p:spPr>
        <p:txBody>
          <a:bodyPr wrap="square">
            <a:spAutoFit/>
          </a:bodyPr>
          <a:lstStyle/>
          <a:p>
            <a:r>
              <a:rPr lang="en-NZ" sz="1400" b="1" dirty="0">
                <a:latin typeface="+mn-lt"/>
              </a:rPr>
              <a:t>Emoji Unicode Tables</a:t>
            </a:r>
          </a:p>
          <a:p>
            <a:r>
              <a:rPr lang="en-NZ" sz="1050" dirty="0">
                <a:latin typeface="+mn-lt"/>
              </a:rPr>
              <a:t>Link: </a:t>
            </a:r>
            <a:r>
              <a:rPr lang="en-NZ" sz="1050" dirty="0">
                <a:latin typeface="+mn-lt"/>
                <a:hlinkClick r:id="rId7"/>
              </a:rPr>
              <a:t>https://apps.timwhitlock.info/emoji/tables/unicode</a:t>
            </a:r>
            <a:r>
              <a:rPr lang="en-NZ" sz="1050" dirty="0">
                <a:latin typeface="+mn-lt"/>
              </a:rPr>
              <a:t> </a:t>
            </a:r>
          </a:p>
        </p:txBody>
      </p:sp>
      <p:pic>
        <p:nvPicPr>
          <p:cNvPr id="3" name="Picture 2">
            <a:extLst>
              <a:ext uri="{FF2B5EF4-FFF2-40B4-BE49-F238E27FC236}">
                <a16:creationId xmlns:a16="http://schemas.microsoft.com/office/drawing/2014/main" id="{D7EA84DF-A94A-4E88-B687-C30325729477}"/>
              </a:ext>
            </a:extLst>
          </p:cNvPr>
          <p:cNvPicPr>
            <a:picLocks noChangeAspect="1"/>
          </p:cNvPicPr>
          <p:nvPr/>
        </p:nvPicPr>
        <p:blipFill>
          <a:blip r:embed="rId8"/>
          <a:stretch>
            <a:fillRect/>
          </a:stretch>
        </p:blipFill>
        <p:spPr>
          <a:xfrm>
            <a:off x="4373151" y="785301"/>
            <a:ext cx="7834039" cy="4462659"/>
          </a:xfrm>
          <a:prstGeom prst="rect">
            <a:avLst/>
          </a:prstGeom>
        </p:spPr>
      </p:pic>
    </p:spTree>
    <p:extLst>
      <p:ext uri="{BB962C8B-B14F-4D97-AF65-F5344CB8AC3E}">
        <p14:creationId xmlns:p14="http://schemas.microsoft.com/office/powerpoint/2010/main" val="37802218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17D0BF84-24A1-4DBD-8500-6DE6A3387FDD}"/>
              </a:ext>
            </a:extLst>
          </p:cNvPr>
          <p:cNvSpPr>
            <a:spLocks noGrp="1"/>
          </p:cNvSpPr>
          <p:nvPr>
            <p:ph type="title"/>
          </p:nvPr>
        </p:nvSpPr>
        <p:spPr>
          <a:xfrm>
            <a:off x="0" y="1"/>
            <a:ext cx="12013809" cy="629392"/>
          </a:xfrm>
          <a:solidFill>
            <a:schemeClr val="accent2"/>
          </a:solidFill>
        </p:spPr>
        <p:txBody>
          <a:bodyPr>
            <a:normAutofit/>
          </a:bodyPr>
          <a:lstStyle/>
          <a:p>
            <a:r>
              <a:rPr lang="en-US" sz="3200" b="1" dirty="0"/>
              <a:t>Decoder: convert “binary numbers” to “characters”</a:t>
            </a:r>
            <a:endParaRPr lang="en-NZ" sz="4800" b="1" dirty="0"/>
          </a:p>
        </p:txBody>
      </p:sp>
      <p:sp>
        <p:nvSpPr>
          <p:cNvPr id="7" name="TextBox 6">
            <a:extLst>
              <a:ext uri="{FF2B5EF4-FFF2-40B4-BE49-F238E27FC236}">
                <a16:creationId xmlns:a16="http://schemas.microsoft.com/office/drawing/2014/main" id="{4EE9056D-11FA-46BF-8C10-CCCB53778AFE}"/>
              </a:ext>
            </a:extLst>
          </p:cNvPr>
          <p:cNvSpPr txBox="1"/>
          <p:nvPr/>
        </p:nvSpPr>
        <p:spPr>
          <a:xfrm>
            <a:off x="3799061" y="888332"/>
            <a:ext cx="8392935" cy="646331"/>
          </a:xfrm>
          <a:prstGeom prst="rect">
            <a:avLst/>
          </a:prstGeom>
          <a:solidFill>
            <a:srgbClr val="FFFF00"/>
          </a:solidFill>
        </p:spPr>
        <p:txBody>
          <a:bodyPr wrap="square">
            <a:spAutoFit/>
          </a:bodyPr>
          <a:lstStyle/>
          <a:p>
            <a:pPr algn="ctr"/>
            <a:r>
              <a:rPr lang="en-NZ" b="1" i="0" dirty="0">
                <a:solidFill>
                  <a:srgbClr val="1D2125"/>
                </a:solidFill>
                <a:effectLst/>
                <a:latin typeface="+mn-lt"/>
              </a:rPr>
              <a:t>Video: “ASCII Code and Binary”</a:t>
            </a:r>
          </a:p>
          <a:p>
            <a:pPr algn="ctr"/>
            <a:r>
              <a:rPr lang="en-NZ" dirty="0">
                <a:solidFill>
                  <a:srgbClr val="1D2125"/>
                </a:solidFill>
                <a:latin typeface="+mn-lt"/>
              </a:rPr>
              <a:t>Link: </a:t>
            </a:r>
            <a:r>
              <a:rPr lang="en-NZ" dirty="0">
                <a:solidFill>
                  <a:srgbClr val="1D2125"/>
                </a:solidFill>
                <a:latin typeface="+mn-lt"/>
                <a:hlinkClick r:id="rId2"/>
              </a:rPr>
              <a:t>https://youtu.be/H4l42nbYmrU?si=-4EAWfcKLqjzK3Il</a:t>
            </a:r>
            <a:r>
              <a:rPr lang="en-NZ" dirty="0">
                <a:solidFill>
                  <a:srgbClr val="1D2125"/>
                </a:solidFill>
                <a:latin typeface="+mn-lt"/>
              </a:rPr>
              <a:t> </a:t>
            </a:r>
            <a:endParaRPr lang="en-NZ" dirty="0">
              <a:latin typeface="+mn-lt"/>
            </a:endParaRPr>
          </a:p>
        </p:txBody>
      </p:sp>
      <p:pic>
        <p:nvPicPr>
          <p:cNvPr id="9" name="Picture 8">
            <a:extLst>
              <a:ext uri="{FF2B5EF4-FFF2-40B4-BE49-F238E27FC236}">
                <a16:creationId xmlns:a16="http://schemas.microsoft.com/office/drawing/2014/main" id="{36C24293-4552-4F35-9419-CFF148365ADE}"/>
              </a:ext>
            </a:extLst>
          </p:cNvPr>
          <p:cNvPicPr>
            <a:picLocks noChangeAspect="1"/>
          </p:cNvPicPr>
          <p:nvPr/>
        </p:nvPicPr>
        <p:blipFill>
          <a:blip r:embed="rId3"/>
          <a:stretch>
            <a:fillRect/>
          </a:stretch>
        </p:blipFill>
        <p:spPr>
          <a:xfrm>
            <a:off x="119759" y="1313868"/>
            <a:ext cx="3339203" cy="945855"/>
          </a:xfrm>
          <a:prstGeom prst="rect">
            <a:avLst/>
          </a:prstGeom>
        </p:spPr>
      </p:pic>
      <p:pic>
        <p:nvPicPr>
          <p:cNvPr id="11" name="Picture 10">
            <a:extLst>
              <a:ext uri="{FF2B5EF4-FFF2-40B4-BE49-F238E27FC236}">
                <a16:creationId xmlns:a16="http://schemas.microsoft.com/office/drawing/2014/main" id="{56205F61-262A-455C-A6BD-ACAB190EEE3C}"/>
              </a:ext>
            </a:extLst>
          </p:cNvPr>
          <p:cNvPicPr>
            <a:picLocks noChangeAspect="1"/>
          </p:cNvPicPr>
          <p:nvPr/>
        </p:nvPicPr>
        <p:blipFill>
          <a:blip r:embed="rId4"/>
          <a:stretch>
            <a:fillRect/>
          </a:stretch>
        </p:blipFill>
        <p:spPr>
          <a:xfrm>
            <a:off x="119759" y="2436977"/>
            <a:ext cx="3293820" cy="348264"/>
          </a:xfrm>
          <a:prstGeom prst="rect">
            <a:avLst/>
          </a:prstGeom>
        </p:spPr>
      </p:pic>
      <p:sp>
        <p:nvSpPr>
          <p:cNvPr id="12" name="TextBox 11">
            <a:extLst>
              <a:ext uri="{FF2B5EF4-FFF2-40B4-BE49-F238E27FC236}">
                <a16:creationId xmlns:a16="http://schemas.microsoft.com/office/drawing/2014/main" id="{2173FE05-C95A-47AC-91ED-C5557D3F1345}"/>
              </a:ext>
            </a:extLst>
          </p:cNvPr>
          <p:cNvSpPr txBox="1"/>
          <p:nvPr/>
        </p:nvSpPr>
        <p:spPr>
          <a:xfrm>
            <a:off x="119759" y="3023360"/>
            <a:ext cx="3293820" cy="1754326"/>
          </a:xfrm>
          <a:prstGeom prst="rect">
            <a:avLst/>
          </a:prstGeom>
          <a:solidFill>
            <a:schemeClr val="bg1">
              <a:lumMod val="95000"/>
            </a:schemeClr>
          </a:solidFill>
        </p:spPr>
        <p:txBody>
          <a:bodyPr wrap="square" rtlCol="0">
            <a:spAutoFit/>
          </a:bodyPr>
          <a:lstStyle/>
          <a:p>
            <a:r>
              <a:rPr lang="en-NZ" dirty="0">
                <a:latin typeface="+mn-lt"/>
              </a:rPr>
              <a:t>Using the ASCII table to convert the following “</a:t>
            </a:r>
            <a:r>
              <a:rPr lang="en-NZ" dirty="0">
                <a:solidFill>
                  <a:srgbClr val="FF0000"/>
                </a:solidFill>
                <a:latin typeface="+mn-lt"/>
              </a:rPr>
              <a:t>binary coded message”</a:t>
            </a:r>
            <a:r>
              <a:rPr lang="en-NZ" dirty="0">
                <a:latin typeface="+mn-lt"/>
              </a:rPr>
              <a:t> into a word (characters):</a:t>
            </a:r>
          </a:p>
          <a:p>
            <a:r>
              <a:rPr lang="en-NZ" dirty="0">
                <a:latin typeface="+mn-lt"/>
              </a:rPr>
              <a:t>“1001100   1100101   1101101 1101111   1101110”</a:t>
            </a:r>
          </a:p>
        </p:txBody>
      </p:sp>
      <p:pic>
        <p:nvPicPr>
          <p:cNvPr id="2" name="Picture 1">
            <a:extLst>
              <a:ext uri="{FF2B5EF4-FFF2-40B4-BE49-F238E27FC236}">
                <a16:creationId xmlns:a16="http://schemas.microsoft.com/office/drawing/2014/main" id="{2E9E9C28-F6F6-4E23-B7E5-8D9F530F80F6}"/>
              </a:ext>
            </a:extLst>
          </p:cNvPr>
          <p:cNvPicPr>
            <a:picLocks noChangeAspect="1"/>
          </p:cNvPicPr>
          <p:nvPr/>
        </p:nvPicPr>
        <p:blipFill>
          <a:blip r:embed="rId5"/>
          <a:stretch>
            <a:fillRect/>
          </a:stretch>
        </p:blipFill>
        <p:spPr>
          <a:xfrm>
            <a:off x="3785875" y="1793602"/>
            <a:ext cx="8419306" cy="4749196"/>
          </a:xfrm>
          <a:prstGeom prst="rect">
            <a:avLst/>
          </a:prstGeom>
        </p:spPr>
      </p:pic>
    </p:spTree>
    <p:extLst>
      <p:ext uri="{BB962C8B-B14F-4D97-AF65-F5344CB8AC3E}">
        <p14:creationId xmlns:p14="http://schemas.microsoft.com/office/powerpoint/2010/main" val="12226110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showMasterPhAnim="0">
  <p:cSld>
    <p:bg>
      <p:bgPr>
        <a:gradFill>
          <a:gsLst>
            <a:gs pos="0">
              <a:schemeClr val="tx1"/>
            </a:gs>
            <a:gs pos="18000">
              <a:schemeClr val="accent2">
                <a:lumMod val="75000"/>
              </a:schemeClr>
            </a:gs>
            <a:gs pos="59000">
              <a:srgbClr val="FFFF00"/>
            </a:gs>
            <a:gs pos="100000">
              <a:schemeClr val="accent6">
                <a:lumMod val="50000"/>
              </a:schemeClr>
            </a:gs>
          </a:gsLst>
          <a:lin ang="2700000" scaled="0"/>
        </a:gradFill>
        <a:effectLst/>
      </p:bgPr>
    </p:bg>
    <p:spTree>
      <p:nvGrpSpPr>
        <p:cNvPr id="1" name=""/>
        <p:cNvGrpSpPr/>
        <p:nvPr/>
      </p:nvGrpSpPr>
      <p:grpSpPr>
        <a:xfrm>
          <a:off x="0" y="0"/>
          <a:ext cx="0" cy="0"/>
          <a:chOff x="0" y="0"/>
          <a:chExt cx="0" cy="0"/>
        </a:xfrm>
      </p:grpSpPr>
      <p:sp>
        <p:nvSpPr>
          <p:cNvPr id="3" name="TextBox 2"/>
          <p:cNvSpPr txBox="1"/>
          <p:nvPr/>
        </p:nvSpPr>
        <p:spPr>
          <a:xfrm>
            <a:off x="1886607" y="1782395"/>
            <a:ext cx="8418786" cy="2246769"/>
          </a:xfrm>
          <a:prstGeom prst="rect">
            <a:avLst/>
          </a:prstGeom>
          <a:noFill/>
          <a:ln w="57150">
            <a:solidFill>
              <a:schemeClr val="tx1"/>
            </a:solidFill>
          </a:ln>
        </p:spPr>
        <p:txBody>
          <a:bodyPr wrap="square" rtlCol="0">
            <a:spAutoFit/>
          </a:bodyPr>
          <a:lstStyle/>
          <a:p>
            <a:pPr algn="ctr"/>
            <a:endParaRPr lang="en-US" sz="4000" b="1" dirty="0"/>
          </a:p>
          <a:p>
            <a:pPr algn="ctr"/>
            <a:r>
              <a:rPr lang="en-US" sz="6000" b="1" dirty="0"/>
              <a:t>Hash Table</a:t>
            </a:r>
          </a:p>
          <a:p>
            <a:pPr algn="ctr"/>
            <a:endParaRPr lang="en-US" sz="4000" b="1" dirty="0"/>
          </a:p>
        </p:txBody>
      </p:sp>
    </p:spTree>
    <p:extLst>
      <p:ext uri="{BB962C8B-B14F-4D97-AF65-F5344CB8AC3E}">
        <p14:creationId xmlns:p14="http://schemas.microsoft.com/office/powerpoint/2010/main" val="8446887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A369C0E-397F-4AD1-8822-C168D81A27BB}"/>
              </a:ext>
            </a:extLst>
          </p:cNvPr>
          <p:cNvSpPr>
            <a:spLocks noGrp="1"/>
          </p:cNvSpPr>
          <p:nvPr>
            <p:ph type="title"/>
          </p:nvPr>
        </p:nvSpPr>
        <p:spPr>
          <a:xfrm>
            <a:off x="243240" y="47370"/>
            <a:ext cx="1698102" cy="631371"/>
          </a:xfrm>
          <a:solidFill>
            <a:srgbClr val="FFC000"/>
          </a:solidFill>
        </p:spPr>
        <p:txBody>
          <a:bodyPr>
            <a:normAutofit/>
          </a:bodyPr>
          <a:lstStyle/>
          <a:p>
            <a:r>
              <a:rPr lang="en-US" sz="2400" b="1">
                <a:latin typeface="+mn-lt"/>
              </a:rPr>
              <a:t>ARRAY</a:t>
            </a:r>
            <a:endParaRPr lang="en-NZ" sz="2400" b="1" dirty="0">
              <a:latin typeface="+mn-lt"/>
            </a:endParaRPr>
          </a:p>
        </p:txBody>
      </p:sp>
      <p:sp>
        <p:nvSpPr>
          <p:cNvPr id="5" name="Content Placeholder 2">
            <a:extLst>
              <a:ext uri="{FF2B5EF4-FFF2-40B4-BE49-F238E27FC236}">
                <a16:creationId xmlns:a16="http://schemas.microsoft.com/office/drawing/2014/main" id="{43A10E49-255B-48FB-93B9-FB241E0CDC6D}"/>
              </a:ext>
            </a:extLst>
          </p:cNvPr>
          <p:cNvSpPr>
            <a:spLocks noGrp="1"/>
          </p:cNvSpPr>
          <p:nvPr>
            <p:ph idx="1"/>
          </p:nvPr>
        </p:nvSpPr>
        <p:spPr>
          <a:xfrm>
            <a:off x="188481" y="785081"/>
            <a:ext cx="6525428" cy="1376255"/>
          </a:xfrm>
          <a:solidFill>
            <a:schemeClr val="accent2">
              <a:lumMod val="20000"/>
              <a:lumOff val="80000"/>
            </a:schemeClr>
          </a:solidFill>
        </p:spPr>
        <p:txBody>
          <a:bodyPr>
            <a:noAutofit/>
          </a:bodyPr>
          <a:lstStyle/>
          <a:p>
            <a:pPr marL="0" indent="0">
              <a:lnSpc>
                <a:spcPct val="100000"/>
              </a:lnSpc>
              <a:spcBef>
                <a:spcPts val="0"/>
              </a:spcBef>
              <a:buNone/>
            </a:pPr>
            <a:r>
              <a:rPr lang="en-US" sz="2000" dirty="0"/>
              <a:t>Array is a </a:t>
            </a:r>
            <a:r>
              <a:rPr lang="en-US" sz="2000" b="1" dirty="0"/>
              <a:t>container</a:t>
            </a:r>
            <a:r>
              <a:rPr lang="en-US" sz="2000" dirty="0"/>
              <a:t> which can hold a </a:t>
            </a:r>
            <a:r>
              <a:rPr lang="en-US" sz="2000" b="1" dirty="0">
                <a:solidFill>
                  <a:srgbClr val="FF0000"/>
                </a:solidFill>
              </a:rPr>
              <a:t>fixed number of items </a:t>
            </a:r>
            <a:r>
              <a:rPr lang="en-US" sz="2000" dirty="0"/>
              <a:t>and these items should be of </a:t>
            </a:r>
            <a:r>
              <a:rPr lang="en-US" sz="2000" b="1" dirty="0">
                <a:solidFill>
                  <a:srgbClr val="FF0000"/>
                </a:solidFill>
              </a:rPr>
              <a:t>the </a:t>
            </a:r>
            <a:r>
              <a:rPr lang="en-US" sz="2000" b="1">
                <a:solidFill>
                  <a:srgbClr val="FF0000"/>
                </a:solidFill>
              </a:rPr>
              <a:t>same type</a:t>
            </a:r>
            <a:r>
              <a:rPr lang="en-US" sz="2000"/>
              <a:t>:</a:t>
            </a:r>
          </a:p>
          <a:p>
            <a:pPr lvl="1">
              <a:lnSpc>
                <a:spcPct val="100000"/>
              </a:lnSpc>
              <a:spcBef>
                <a:spcPts val="0"/>
              </a:spcBef>
            </a:pPr>
            <a:r>
              <a:rPr lang="en-US" sz="2000">
                <a:solidFill>
                  <a:srgbClr val="FF0000"/>
                </a:solidFill>
              </a:rPr>
              <a:t>Fixed size</a:t>
            </a:r>
          </a:p>
          <a:p>
            <a:pPr lvl="1">
              <a:lnSpc>
                <a:spcPct val="100000"/>
              </a:lnSpc>
              <a:spcBef>
                <a:spcPts val="0"/>
              </a:spcBef>
            </a:pPr>
            <a:r>
              <a:rPr lang="en-US" sz="2000">
                <a:solidFill>
                  <a:srgbClr val="FF0000"/>
                </a:solidFill>
              </a:rPr>
              <a:t>Random Access: Use index to access to data element</a:t>
            </a:r>
          </a:p>
          <a:p>
            <a:pPr lvl="1">
              <a:lnSpc>
                <a:spcPct val="100000"/>
              </a:lnSpc>
              <a:spcBef>
                <a:spcPts val="0"/>
              </a:spcBef>
            </a:pPr>
            <a:endParaRPr lang="en-NZ" sz="2000" dirty="0">
              <a:solidFill>
                <a:srgbClr val="FF0000"/>
              </a:solidFill>
            </a:endParaRPr>
          </a:p>
        </p:txBody>
      </p:sp>
      <p:graphicFrame>
        <p:nvGraphicFramePr>
          <p:cNvPr id="6" name="Table 5">
            <a:extLst>
              <a:ext uri="{FF2B5EF4-FFF2-40B4-BE49-F238E27FC236}">
                <a16:creationId xmlns:a16="http://schemas.microsoft.com/office/drawing/2014/main" id="{6D31A617-DBA1-4DCA-A748-21013710C055}"/>
              </a:ext>
            </a:extLst>
          </p:cNvPr>
          <p:cNvGraphicFramePr>
            <a:graphicFrameLocks noGrp="1"/>
          </p:cNvGraphicFramePr>
          <p:nvPr>
            <p:extLst>
              <p:ext uri="{D42A27DB-BD31-4B8C-83A1-F6EECF244321}">
                <p14:modId xmlns:p14="http://schemas.microsoft.com/office/powerpoint/2010/main" val="1202001002"/>
              </p:ext>
            </p:extLst>
          </p:nvPr>
        </p:nvGraphicFramePr>
        <p:xfrm>
          <a:off x="3820760" y="118746"/>
          <a:ext cx="8128000" cy="370840"/>
        </p:xfrm>
        <a:graphic>
          <a:graphicData uri="http://schemas.openxmlformats.org/drawingml/2006/table">
            <a:tbl>
              <a:tblPr firstRow="1" bandRow="1">
                <a:solidFill>
                  <a:schemeClr val="bg2"/>
                </a:solidFill>
                <a:tableStyleId>{5C22544A-7EE6-4342-B048-85BDC9FD1C3A}</a:tableStyleId>
              </a:tblPr>
              <a:tblGrid>
                <a:gridCol w="812800">
                  <a:extLst>
                    <a:ext uri="{9D8B030D-6E8A-4147-A177-3AD203B41FA5}">
                      <a16:colId xmlns:a16="http://schemas.microsoft.com/office/drawing/2014/main" val="1008945553"/>
                    </a:ext>
                  </a:extLst>
                </a:gridCol>
                <a:gridCol w="812800">
                  <a:extLst>
                    <a:ext uri="{9D8B030D-6E8A-4147-A177-3AD203B41FA5}">
                      <a16:colId xmlns:a16="http://schemas.microsoft.com/office/drawing/2014/main" val="423777680"/>
                    </a:ext>
                  </a:extLst>
                </a:gridCol>
                <a:gridCol w="812800">
                  <a:extLst>
                    <a:ext uri="{9D8B030D-6E8A-4147-A177-3AD203B41FA5}">
                      <a16:colId xmlns:a16="http://schemas.microsoft.com/office/drawing/2014/main" val="3359211381"/>
                    </a:ext>
                  </a:extLst>
                </a:gridCol>
                <a:gridCol w="812800">
                  <a:extLst>
                    <a:ext uri="{9D8B030D-6E8A-4147-A177-3AD203B41FA5}">
                      <a16:colId xmlns:a16="http://schemas.microsoft.com/office/drawing/2014/main" val="3068820470"/>
                    </a:ext>
                  </a:extLst>
                </a:gridCol>
                <a:gridCol w="812800">
                  <a:extLst>
                    <a:ext uri="{9D8B030D-6E8A-4147-A177-3AD203B41FA5}">
                      <a16:colId xmlns:a16="http://schemas.microsoft.com/office/drawing/2014/main" val="762524572"/>
                    </a:ext>
                  </a:extLst>
                </a:gridCol>
                <a:gridCol w="812800">
                  <a:extLst>
                    <a:ext uri="{9D8B030D-6E8A-4147-A177-3AD203B41FA5}">
                      <a16:colId xmlns:a16="http://schemas.microsoft.com/office/drawing/2014/main" val="1323465992"/>
                    </a:ext>
                  </a:extLst>
                </a:gridCol>
                <a:gridCol w="812800">
                  <a:extLst>
                    <a:ext uri="{9D8B030D-6E8A-4147-A177-3AD203B41FA5}">
                      <a16:colId xmlns:a16="http://schemas.microsoft.com/office/drawing/2014/main" val="1432253089"/>
                    </a:ext>
                  </a:extLst>
                </a:gridCol>
                <a:gridCol w="812800">
                  <a:extLst>
                    <a:ext uri="{9D8B030D-6E8A-4147-A177-3AD203B41FA5}">
                      <a16:colId xmlns:a16="http://schemas.microsoft.com/office/drawing/2014/main" val="2873766051"/>
                    </a:ext>
                  </a:extLst>
                </a:gridCol>
                <a:gridCol w="812800">
                  <a:extLst>
                    <a:ext uri="{9D8B030D-6E8A-4147-A177-3AD203B41FA5}">
                      <a16:colId xmlns:a16="http://schemas.microsoft.com/office/drawing/2014/main" val="1880576392"/>
                    </a:ext>
                  </a:extLst>
                </a:gridCol>
                <a:gridCol w="812800">
                  <a:extLst>
                    <a:ext uri="{9D8B030D-6E8A-4147-A177-3AD203B41FA5}">
                      <a16:colId xmlns:a16="http://schemas.microsoft.com/office/drawing/2014/main" val="633449382"/>
                    </a:ext>
                  </a:extLst>
                </a:gridCol>
              </a:tblGrid>
              <a:tr h="370840">
                <a:tc>
                  <a:txBody>
                    <a:bodyPr/>
                    <a:lstStyle/>
                    <a:p>
                      <a:pPr algn="ctr"/>
                      <a:r>
                        <a:rPr lang="en-US" dirty="0">
                          <a:solidFill>
                            <a:schemeClr val="accent6">
                              <a:lumMod val="50000"/>
                            </a:schemeClr>
                          </a:solidFill>
                        </a:rPr>
                        <a:t>P</a:t>
                      </a:r>
                      <a:endParaRPr lang="en-NZ" dirty="0">
                        <a:solidFill>
                          <a:schemeClr val="accent6">
                            <a:lumMod val="5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solidFill>
                            <a:schemeClr val="accent6">
                              <a:lumMod val="50000"/>
                            </a:schemeClr>
                          </a:solidFill>
                        </a:rPr>
                        <a:t>I</a:t>
                      </a:r>
                      <a:endParaRPr lang="en-NZ" dirty="0">
                        <a:solidFill>
                          <a:schemeClr val="accent6">
                            <a:lumMod val="5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solidFill>
                            <a:schemeClr val="accent6">
                              <a:lumMod val="50000"/>
                            </a:schemeClr>
                          </a:solidFill>
                        </a:rPr>
                        <a:t>N</a:t>
                      </a:r>
                      <a:endParaRPr lang="en-NZ" dirty="0">
                        <a:solidFill>
                          <a:schemeClr val="accent6">
                            <a:lumMod val="5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solidFill>
                            <a:schemeClr val="accent6">
                              <a:lumMod val="50000"/>
                            </a:schemeClr>
                          </a:solidFill>
                        </a:rPr>
                        <a:t>K</a:t>
                      </a:r>
                      <a:endParaRPr lang="en-NZ" dirty="0">
                        <a:solidFill>
                          <a:schemeClr val="accent6">
                            <a:lumMod val="5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solidFill>
                            <a:schemeClr val="accent6">
                              <a:lumMod val="50000"/>
                            </a:schemeClr>
                          </a:solidFill>
                        </a:rPr>
                        <a:t>J</a:t>
                      </a:r>
                      <a:endParaRPr lang="en-NZ" dirty="0">
                        <a:solidFill>
                          <a:schemeClr val="accent6">
                            <a:lumMod val="5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solidFill>
                            <a:schemeClr val="accent6">
                              <a:lumMod val="50000"/>
                            </a:schemeClr>
                          </a:solidFill>
                        </a:rPr>
                        <a:t>A</a:t>
                      </a:r>
                      <a:endParaRPr lang="en-NZ" dirty="0">
                        <a:solidFill>
                          <a:schemeClr val="accent6">
                            <a:lumMod val="5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solidFill>
                            <a:schemeClr val="accent6">
                              <a:lumMod val="50000"/>
                            </a:schemeClr>
                          </a:solidFill>
                        </a:rPr>
                        <a:t>C</a:t>
                      </a:r>
                      <a:endParaRPr lang="en-NZ" dirty="0">
                        <a:solidFill>
                          <a:schemeClr val="accent6">
                            <a:lumMod val="5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solidFill>
                            <a:schemeClr val="accent6">
                              <a:lumMod val="50000"/>
                            </a:schemeClr>
                          </a:solidFill>
                        </a:rPr>
                        <a:t>K</a:t>
                      </a:r>
                      <a:endParaRPr lang="en-NZ" dirty="0">
                        <a:solidFill>
                          <a:schemeClr val="accent6">
                            <a:lumMod val="5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solidFill>
                            <a:schemeClr val="accent6">
                              <a:lumMod val="50000"/>
                            </a:schemeClr>
                          </a:solidFill>
                        </a:rPr>
                        <a:t>E</a:t>
                      </a:r>
                      <a:endParaRPr lang="en-NZ" dirty="0">
                        <a:solidFill>
                          <a:schemeClr val="accent6">
                            <a:lumMod val="5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solidFill>
                            <a:schemeClr val="accent6">
                              <a:lumMod val="50000"/>
                            </a:schemeClr>
                          </a:solidFill>
                        </a:rPr>
                        <a:t>T</a:t>
                      </a:r>
                      <a:endParaRPr lang="en-NZ" dirty="0">
                        <a:solidFill>
                          <a:schemeClr val="accent6">
                            <a:lumMod val="5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26322051"/>
                  </a:ext>
                </a:extLst>
              </a:tr>
            </a:tbl>
          </a:graphicData>
        </a:graphic>
      </p:graphicFrame>
      <p:pic>
        <p:nvPicPr>
          <p:cNvPr id="8" name="Picture 7"/>
          <p:cNvPicPr>
            <a:picLocks noChangeAspect="1"/>
          </p:cNvPicPr>
          <p:nvPr/>
        </p:nvPicPr>
        <p:blipFill>
          <a:blip r:embed="rId3"/>
          <a:stretch>
            <a:fillRect/>
          </a:stretch>
        </p:blipFill>
        <p:spPr>
          <a:xfrm>
            <a:off x="6953064" y="657251"/>
            <a:ext cx="4821594" cy="1701815"/>
          </a:xfrm>
          <a:prstGeom prst="rect">
            <a:avLst/>
          </a:prstGeom>
          <a:ln>
            <a:solidFill>
              <a:schemeClr val="tx1"/>
            </a:solidFill>
          </a:ln>
        </p:spPr>
      </p:pic>
      <p:sp>
        <p:nvSpPr>
          <p:cNvPr id="9" name="Title 1">
            <a:extLst>
              <a:ext uri="{FF2B5EF4-FFF2-40B4-BE49-F238E27FC236}">
                <a16:creationId xmlns:a16="http://schemas.microsoft.com/office/drawing/2014/main" id="{9A369C0E-397F-4AD1-8822-C168D81A27BB}"/>
              </a:ext>
            </a:extLst>
          </p:cNvPr>
          <p:cNvSpPr txBox="1">
            <a:spLocks/>
          </p:cNvSpPr>
          <p:nvPr/>
        </p:nvSpPr>
        <p:spPr>
          <a:xfrm>
            <a:off x="165995" y="3660710"/>
            <a:ext cx="1963711" cy="631371"/>
          </a:xfrm>
          <a:prstGeom prst="rect">
            <a:avLst/>
          </a:prstGeom>
          <a:solidFill>
            <a:srgbClr val="FFC000"/>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pPr>
            <a:r>
              <a:rPr lang="en-US" sz="2400" b="1">
                <a:latin typeface="+mn-lt"/>
              </a:rPr>
              <a:t>HASH TABLE</a:t>
            </a:r>
            <a:endParaRPr lang="en-NZ" sz="2400" b="1" dirty="0">
              <a:latin typeface="+mn-lt"/>
            </a:endParaRPr>
          </a:p>
        </p:txBody>
      </p:sp>
      <p:sp>
        <p:nvSpPr>
          <p:cNvPr id="10" name="Rectangle 9"/>
          <p:cNvSpPr/>
          <p:nvPr/>
        </p:nvSpPr>
        <p:spPr>
          <a:xfrm>
            <a:off x="165995" y="4410233"/>
            <a:ext cx="6547914" cy="1938992"/>
          </a:xfrm>
          <a:prstGeom prst="rect">
            <a:avLst/>
          </a:prstGeom>
          <a:solidFill>
            <a:schemeClr val="accent2">
              <a:lumMod val="40000"/>
              <a:lumOff val="60000"/>
            </a:schemeClr>
          </a:solidFill>
        </p:spPr>
        <p:txBody>
          <a:bodyPr wrap="square">
            <a:spAutoFit/>
          </a:bodyPr>
          <a:lstStyle/>
          <a:p>
            <a:pPr algn="just"/>
            <a:r>
              <a:rPr lang="en-NZ" sz="2000" dirty="0">
                <a:solidFill>
                  <a:srgbClr val="000000"/>
                </a:solidFill>
                <a:latin typeface="+mn-lt"/>
              </a:rPr>
              <a:t>In </a:t>
            </a:r>
            <a:r>
              <a:rPr lang="en-NZ" sz="2000" b="1" dirty="0">
                <a:solidFill>
                  <a:srgbClr val="0000FF"/>
                </a:solidFill>
                <a:latin typeface="+mn-lt"/>
              </a:rPr>
              <a:t>Hash Table</a:t>
            </a:r>
            <a:r>
              <a:rPr lang="en-NZ" sz="2000" dirty="0">
                <a:solidFill>
                  <a:srgbClr val="000000"/>
                </a:solidFill>
                <a:latin typeface="+mn-lt"/>
              </a:rPr>
              <a:t>, </a:t>
            </a:r>
            <a:r>
              <a:rPr lang="en-NZ" sz="2000" b="1" dirty="0">
                <a:solidFill>
                  <a:srgbClr val="000000"/>
                </a:solidFill>
                <a:latin typeface="+mn-lt"/>
              </a:rPr>
              <a:t>data is stored in an </a:t>
            </a:r>
            <a:r>
              <a:rPr lang="en-NZ" sz="2000" b="1" dirty="0">
                <a:solidFill>
                  <a:srgbClr val="0000FF"/>
                </a:solidFill>
                <a:latin typeface="+mn-lt"/>
              </a:rPr>
              <a:t>array</a:t>
            </a:r>
            <a:r>
              <a:rPr lang="en-NZ" sz="2000" b="1" dirty="0">
                <a:solidFill>
                  <a:srgbClr val="000000"/>
                </a:solidFill>
                <a:latin typeface="+mn-lt"/>
              </a:rPr>
              <a:t> where each data value has its own </a:t>
            </a:r>
            <a:r>
              <a:rPr lang="en-NZ" sz="2000" b="1" dirty="0">
                <a:solidFill>
                  <a:srgbClr val="0000FF"/>
                </a:solidFill>
                <a:latin typeface="+mn-lt"/>
              </a:rPr>
              <a:t>unique index value</a:t>
            </a:r>
            <a:r>
              <a:rPr lang="en-NZ" sz="2000" b="1" dirty="0">
                <a:solidFill>
                  <a:srgbClr val="000000"/>
                </a:solidFill>
                <a:latin typeface="+mn-lt"/>
              </a:rPr>
              <a:t> </a:t>
            </a:r>
            <a:r>
              <a:rPr lang="en-NZ" sz="2000" b="1" dirty="0">
                <a:solidFill>
                  <a:srgbClr val="000000"/>
                </a:solidFill>
                <a:latin typeface="+mn-lt"/>
                <a:sym typeface="Wingdings" panose="05000000000000000000" pitchFamily="2" charset="2"/>
              </a:rPr>
              <a:t> </a:t>
            </a:r>
            <a:r>
              <a:rPr lang="en-NZ" sz="2000" dirty="0">
                <a:solidFill>
                  <a:srgbClr val="000000"/>
                </a:solidFill>
                <a:latin typeface="+mn-lt"/>
              </a:rPr>
              <a:t>Access of data becomes very fast because we know the index of the desired data.</a:t>
            </a:r>
          </a:p>
          <a:p>
            <a:pPr algn="just"/>
            <a:r>
              <a:rPr lang="en-NZ" sz="2000" b="1" dirty="0">
                <a:solidFill>
                  <a:srgbClr val="0000FF"/>
                </a:solidFill>
                <a:latin typeface="+mn-lt"/>
              </a:rPr>
              <a:t>Hash function or Hash algorithm </a:t>
            </a:r>
            <a:r>
              <a:rPr lang="en-NZ" sz="2000" dirty="0">
                <a:solidFill>
                  <a:srgbClr val="000000"/>
                </a:solidFill>
                <a:latin typeface="+mn-lt"/>
              </a:rPr>
              <a:t>is technique used to </a:t>
            </a:r>
            <a:r>
              <a:rPr lang="en-NZ" sz="2000" b="1" u="sng" dirty="0">
                <a:solidFill>
                  <a:srgbClr val="000000"/>
                </a:solidFill>
                <a:latin typeface="+mn-lt"/>
              </a:rPr>
              <a:t>generate an index </a:t>
            </a:r>
            <a:r>
              <a:rPr lang="en-NZ" sz="2000" dirty="0">
                <a:solidFill>
                  <a:srgbClr val="000000"/>
                </a:solidFill>
                <a:latin typeface="+mn-lt"/>
              </a:rPr>
              <a:t>where an element is to be inserted.</a:t>
            </a:r>
          </a:p>
        </p:txBody>
      </p:sp>
      <p:graphicFrame>
        <p:nvGraphicFramePr>
          <p:cNvPr id="16" name="Table 15"/>
          <p:cNvGraphicFramePr>
            <a:graphicFrameLocks noGrp="1"/>
          </p:cNvGraphicFramePr>
          <p:nvPr>
            <p:extLst>
              <p:ext uri="{D42A27DB-BD31-4B8C-83A1-F6EECF244321}">
                <p14:modId xmlns:p14="http://schemas.microsoft.com/office/powerpoint/2010/main" val="2015630476"/>
              </p:ext>
            </p:extLst>
          </p:nvPr>
        </p:nvGraphicFramePr>
        <p:xfrm>
          <a:off x="7044401" y="3795398"/>
          <a:ext cx="1003852" cy="2259025"/>
        </p:xfrm>
        <a:graphic>
          <a:graphicData uri="http://schemas.openxmlformats.org/drawingml/2006/table">
            <a:tbl>
              <a:tblPr firstRow="1" bandRow="1">
                <a:tableStyleId>{5C22544A-7EE6-4342-B048-85BDC9FD1C3A}</a:tableStyleId>
              </a:tblPr>
              <a:tblGrid>
                <a:gridCol w="1003852">
                  <a:extLst>
                    <a:ext uri="{9D8B030D-6E8A-4147-A177-3AD203B41FA5}">
                      <a16:colId xmlns:a16="http://schemas.microsoft.com/office/drawing/2014/main" val="2888717661"/>
                    </a:ext>
                  </a:extLst>
                </a:gridCol>
              </a:tblGrid>
              <a:tr h="451805">
                <a:tc>
                  <a:txBody>
                    <a:bodyPr/>
                    <a:lstStyle/>
                    <a:p>
                      <a:pPr algn="ctr"/>
                      <a:r>
                        <a:rPr lang="en-US" sz="1800" b="0" dirty="0">
                          <a:solidFill>
                            <a:srgbClr val="0000FF"/>
                          </a:solidFill>
                        </a:rPr>
                        <a:t>Daniel</a:t>
                      </a:r>
                      <a:endParaRPr lang="en-NZ" sz="1800" b="0" dirty="0">
                        <a:solidFill>
                          <a:srgbClr val="0000FF"/>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639761752"/>
                  </a:ext>
                </a:extLst>
              </a:tr>
              <a:tr h="451805">
                <a:tc>
                  <a:txBody>
                    <a:bodyPr/>
                    <a:lstStyle/>
                    <a:p>
                      <a:pPr algn="ctr"/>
                      <a:r>
                        <a:rPr lang="en-US" sz="1800" b="0" dirty="0">
                          <a:solidFill>
                            <a:srgbClr val="0000FF"/>
                          </a:solidFill>
                        </a:rPr>
                        <a:t>Ian</a:t>
                      </a:r>
                      <a:endParaRPr lang="en-NZ" sz="1800" b="0" dirty="0">
                        <a:solidFill>
                          <a:srgbClr val="0000FF"/>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992471431"/>
                  </a:ext>
                </a:extLst>
              </a:tr>
              <a:tr h="451805">
                <a:tc>
                  <a:txBody>
                    <a:bodyPr/>
                    <a:lstStyle/>
                    <a:p>
                      <a:pPr algn="ctr"/>
                      <a:r>
                        <a:rPr lang="en-US" sz="1800" b="0">
                          <a:solidFill>
                            <a:srgbClr val="0000FF"/>
                          </a:solidFill>
                        </a:rPr>
                        <a:t>Oliver</a:t>
                      </a:r>
                      <a:endParaRPr lang="en-NZ" sz="1800" b="0">
                        <a:solidFill>
                          <a:srgbClr val="0000FF"/>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8431665"/>
                  </a:ext>
                </a:extLst>
              </a:tr>
              <a:tr h="451805">
                <a:tc>
                  <a:txBody>
                    <a:bodyPr/>
                    <a:lstStyle/>
                    <a:p>
                      <a:pPr algn="ctr"/>
                      <a:r>
                        <a:rPr lang="en-US" sz="1800" b="0">
                          <a:solidFill>
                            <a:srgbClr val="0000FF"/>
                          </a:solidFill>
                        </a:rPr>
                        <a:t>Emre</a:t>
                      </a:r>
                      <a:endParaRPr lang="en-NZ" sz="1800" b="0">
                        <a:solidFill>
                          <a:srgbClr val="0000FF"/>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04628039"/>
                  </a:ext>
                </a:extLst>
              </a:tr>
              <a:tr h="451805">
                <a:tc>
                  <a:txBody>
                    <a:bodyPr/>
                    <a:lstStyle/>
                    <a:p>
                      <a:pPr algn="ctr"/>
                      <a:r>
                        <a:rPr lang="en-US" sz="1800" b="0" dirty="0">
                          <a:solidFill>
                            <a:srgbClr val="0000FF"/>
                          </a:solidFill>
                        </a:rPr>
                        <a:t>Noor</a:t>
                      </a:r>
                      <a:endParaRPr lang="en-NZ" sz="1800" b="0" dirty="0">
                        <a:solidFill>
                          <a:srgbClr val="0000FF"/>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06061505"/>
                  </a:ext>
                </a:extLst>
              </a:tr>
            </a:tbl>
          </a:graphicData>
        </a:graphic>
      </p:graphicFrame>
      <p:sp>
        <p:nvSpPr>
          <p:cNvPr id="18" name="TextBox 17"/>
          <p:cNvSpPr txBox="1"/>
          <p:nvPr/>
        </p:nvSpPr>
        <p:spPr>
          <a:xfrm>
            <a:off x="7215146" y="3291378"/>
            <a:ext cx="731290" cy="369332"/>
          </a:xfrm>
          <a:prstGeom prst="rect">
            <a:avLst/>
          </a:prstGeom>
          <a:solidFill>
            <a:srgbClr val="FFFF00"/>
          </a:solidFill>
        </p:spPr>
        <p:txBody>
          <a:bodyPr wrap="none" rtlCol="0">
            <a:spAutoFit/>
          </a:bodyPr>
          <a:lstStyle/>
          <a:p>
            <a:r>
              <a:rPr lang="en-US" b="1"/>
              <a:t>Data</a:t>
            </a:r>
            <a:endParaRPr lang="en-NZ" b="1"/>
          </a:p>
        </p:txBody>
      </p:sp>
      <p:graphicFrame>
        <p:nvGraphicFramePr>
          <p:cNvPr id="20" name="Table 19"/>
          <p:cNvGraphicFramePr>
            <a:graphicFrameLocks noGrp="1"/>
          </p:cNvGraphicFramePr>
          <p:nvPr>
            <p:extLst>
              <p:ext uri="{D42A27DB-BD31-4B8C-83A1-F6EECF244321}">
                <p14:modId xmlns:p14="http://schemas.microsoft.com/office/powerpoint/2010/main" val="364448988"/>
              </p:ext>
            </p:extLst>
          </p:nvPr>
        </p:nvGraphicFramePr>
        <p:xfrm>
          <a:off x="9961913" y="2603028"/>
          <a:ext cx="2083130" cy="4230193"/>
        </p:xfrm>
        <a:graphic>
          <a:graphicData uri="http://schemas.openxmlformats.org/drawingml/2006/table">
            <a:tbl>
              <a:tblPr firstRow="1" bandRow="1">
                <a:tableStyleId>{5C22544A-7EE6-4342-B048-85BDC9FD1C3A}</a:tableStyleId>
              </a:tblPr>
              <a:tblGrid>
                <a:gridCol w="716973">
                  <a:extLst>
                    <a:ext uri="{9D8B030D-6E8A-4147-A177-3AD203B41FA5}">
                      <a16:colId xmlns:a16="http://schemas.microsoft.com/office/drawing/2014/main" val="1720347449"/>
                    </a:ext>
                  </a:extLst>
                </a:gridCol>
                <a:gridCol w="1366157">
                  <a:extLst>
                    <a:ext uri="{9D8B030D-6E8A-4147-A177-3AD203B41FA5}">
                      <a16:colId xmlns:a16="http://schemas.microsoft.com/office/drawing/2014/main" val="3549404079"/>
                    </a:ext>
                  </a:extLst>
                </a:gridCol>
              </a:tblGrid>
              <a:tr h="384563">
                <a:tc>
                  <a:txBody>
                    <a:bodyPr/>
                    <a:lstStyle/>
                    <a:p>
                      <a:pPr algn="ctr"/>
                      <a:r>
                        <a:rPr lang="en-US" sz="1600">
                          <a:solidFill>
                            <a:srgbClr val="990000"/>
                          </a:solidFill>
                        </a:rPr>
                        <a:t>Index</a:t>
                      </a:r>
                      <a:endParaRPr lang="en-NZ" sz="1600">
                        <a:solidFill>
                          <a:srgbClr val="99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solidFill>
                            <a:srgbClr val="990000"/>
                          </a:solidFill>
                        </a:rPr>
                        <a:t>Data</a:t>
                      </a:r>
                      <a:endParaRPr lang="en-NZ" sz="1600">
                        <a:solidFill>
                          <a:srgbClr val="99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82025299"/>
                  </a:ext>
                </a:extLst>
              </a:tr>
              <a:tr h="384563">
                <a:tc>
                  <a:txBody>
                    <a:bodyPr/>
                    <a:lstStyle/>
                    <a:p>
                      <a:pPr algn="ctr"/>
                      <a:r>
                        <a:rPr lang="en-US" sz="1600"/>
                        <a:t>0</a:t>
                      </a:r>
                      <a:endParaRPr lang="en-NZ"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600"/>
                        <a:t>Ian</a:t>
                      </a:r>
                      <a:endParaRPr lang="en-NZ"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13536560"/>
                  </a:ext>
                </a:extLst>
              </a:tr>
              <a:tr h="384563">
                <a:tc>
                  <a:txBody>
                    <a:bodyPr/>
                    <a:lstStyle/>
                    <a:p>
                      <a:pPr algn="ctr"/>
                      <a:r>
                        <a:rPr lang="en-US" sz="1600"/>
                        <a:t>1</a:t>
                      </a:r>
                      <a:endParaRPr lang="en-NZ"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endParaRPr lang="en-NZ"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85275645"/>
                  </a:ext>
                </a:extLst>
              </a:tr>
              <a:tr h="384563">
                <a:tc>
                  <a:txBody>
                    <a:bodyPr/>
                    <a:lstStyle/>
                    <a:p>
                      <a:pPr algn="ctr"/>
                      <a:r>
                        <a:rPr lang="en-US" sz="1600"/>
                        <a:t>2</a:t>
                      </a:r>
                      <a:endParaRPr lang="en-NZ"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endParaRPr lang="en-NZ"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95156092"/>
                  </a:ext>
                </a:extLst>
              </a:tr>
              <a:tr h="384563">
                <a:tc>
                  <a:txBody>
                    <a:bodyPr/>
                    <a:lstStyle/>
                    <a:p>
                      <a:pPr algn="ctr"/>
                      <a:r>
                        <a:rPr lang="en-US" sz="1600"/>
                        <a:t>3</a:t>
                      </a:r>
                      <a:endParaRPr lang="en-NZ"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endParaRPr lang="en-NZ"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58955345"/>
                  </a:ext>
                </a:extLst>
              </a:tr>
              <a:tr h="384563">
                <a:tc>
                  <a:txBody>
                    <a:bodyPr/>
                    <a:lstStyle/>
                    <a:p>
                      <a:pPr algn="ctr"/>
                      <a:r>
                        <a:rPr lang="en-US" sz="1600"/>
                        <a:t>4</a:t>
                      </a:r>
                      <a:endParaRPr lang="en-NZ"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endParaRPr lang="en-NZ"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09388295"/>
                  </a:ext>
                </a:extLst>
              </a:tr>
              <a:tr h="384563">
                <a:tc>
                  <a:txBody>
                    <a:bodyPr/>
                    <a:lstStyle/>
                    <a:p>
                      <a:pPr algn="ctr"/>
                      <a:r>
                        <a:rPr lang="en-US" sz="1600"/>
                        <a:t>5</a:t>
                      </a:r>
                      <a:endParaRPr lang="en-NZ"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endParaRPr lang="en-NZ"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32114916"/>
                  </a:ext>
                </a:extLst>
              </a:tr>
              <a:tr h="384563">
                <a:tc>
                  <a:txBody>
                    <a:bodyPr/>
                    <a:lstStyle/>
                    <a:p>
                      <a:pPr algn="ctr"/>
                      <a:r>
                        <a:rPr lang="en-US" sz="1600"/>
                        <a:t>6</a:t>
                      </a:r>
                      <a:endParaRPr lang="en-NZ"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endParaRPr lang="en-NZ"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75013409"/>
                  </a:ext>
                </a:extLst>
              </a:tr>
              <a:tr h="384563">
                <a:tc>
                  <a:txBody>
                    <a:bodyPr/>
                    <a:lstStyle/>
                    <a:p>
                      <a:pPr algn="ctr"/>
                      <a:r>
                        <a:rPr lang="en-US" sz="1600"/>
                        <a:t>7</a:t>
                      </a:r>
                      <a:endParaRPr lang="en-NZ"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endParaRPr lang="en-NZ"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6337262"/>
                  </a:ext>
                </a:extLst>
              </a:tr>
              <a:tr h="384563">
                <a:tc>
                  <a:txBody>
                    <a:bodyPr/>
                    <a:lstStyle/>
                    <a:p>
                      <a:pPr algn="ctr"/>
                      <a:r>
                        <a:rPr lang="en-US" sz="1600"/>
                        <a:t>8</a:t>
                      </a:r>
                      <a:endParaRPr lang="en-NZ"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endParaRPr lang="en-NZ"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12205236"/>
                  </a:ext>
                </a:extLst>
              </a:tr>
              <a:tr h="384563">
                <a:tc>
                  <a:txBody>
                    <a:bodyPr/>
                    <a:lstStyle/>
                    <a:p>
                      <a:pPr algn="ctr"/>
                      <a:r>
                        <a:rPr lang="en-US" sz="1600"/>
                        <a:t>9</a:t>
                      </a:r>
                      <a:endParaRPr lang="en-NZ"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600"/>
                        <a:t>Daniel</a:t>
                      </a:r>
                      <a:endParaRPr lang="en-NZ"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01507013"/>
                  </a:ext>
                </a:extLst>
              </a:tr>
            </a:tbl>
          </a:graphicData>
        </a:graphic>
      </p:graphicFrame>
      <p:sp>
        <p:nvSpPr>
          <p:cNvPr id="21" name="TextBox 20"/>
          <p:cNvSpPr txBox="1"/>
          <p:nvPr/>
        </p:nvSpPr>
        <p:spPr>
          <a:xfrm>
            <a:off x="10607375" y="2145516"/>
            <a:ext cx="792205" cy="369332"/>
          </a:xfrm>
          <a:prstGeom prst="rect">
            <a:avLst/>
          </a:prstGeom>
          <a:solidFill>
            <a:srgbClr val="FFFF00"/>
          </a:solidFill>
        </p:spPr>
        <p:txBody>
          <a:bodyPr wrap="none" rtlCol="0">
            <a:spAutoFit/>
          </a:bodyPr>
          <a:lstStyle/>
          <a:p>
            <a:r>
              <a:rPr lang="en-US" b="1"/>
              <a:t>array</a:t>
            </a:r>
            <a:endParaRPr lang="en-NZ" b="1"/>
          </a:p>
        </p:txBody>
      </p:sp>
      <p:sp>
        <p:nvSpPr>
          <p:cNvPr id="22" name="Rectangle 21"/>
          <p:cNvSpPr/>
          <p:nvPr/>
        </p:nvSpPr>
        <p:spPr>
          <a:xfrm>
            <a:off x="8497719" y="2866768"/>
            <a:ext cx="942730" cy="3920648"/>
          </a:xfrm>
          <a:prstGeom prst="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sz="3200" b="1" dirty="0">
                <a:solidFill>
                  <a:srgbClr val="990000"/>
                </a:solidFill>
              </a:rPr>
              <a:t>Hash function: Mod</a:t>
            </a:r>
            <a:endParaRPr lang="en-NZ" sz="3200" b="1" dirty="0">
              <a:solidFill>
                <a:srgbClr val="990000"/>
              </a:solidFill>
            </a:endParaRPr>
          </a:p>
        </p:txBody>
      </p:sp>
      <p:grpSp>
        <p:nvGrpSpPr>
          <p:cNvPr id="33" name="Group 32"/>
          <p:cNvGrpSpPr/>
          <p:nvPr/>
        </p:nvGrpSpPr>
        <p:grpSpPr>
          <a:xfrm>
            <a:off x="7946436" y="3976395"/>
            <a:ext cx="2057197" cy="2691442"/>
            <a:chOff x="7946436" y="3976395"/>
            <a:chExt cx="2057197" cy="2691442"/>
          </a:xfrm>
        </p:grpSpPr>
        <p:cxnSp>
          <p:nvCxnSpPr>
            <p:cNvPr id="24" name="Straight Arrow Connector 23"/>
            <p:cNvCxnSpPr/>
            <p:nvPr/>
          </p:nvCxnSpPr>
          <p:spPr>
            <a:xfrm>
              <a:off x="7946436" y="3976395"/>
              <a:ext cx="551283"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a:off x="9450912" y="6610865"/>
              <a:ext cx="552721" cy="56972"/>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a:off x="8497719" y="3976395"/>
              <a:ext cx="953193" cy="2662956"/>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23" name="Group 22"/>
          <p:cNvGrpSpPr/>
          <p:nvPr/>
        </p:nvGrpSpPr>
        <p:grpSpPr>
          <a:xfrm>
            <a:off x="8048253" y="3255264"/>
            <a:ext cx="1955380" cy="1154969"/>
            <a:chOff x="7946436" y="2821426"/>
            <a:chExt cx="1955380" cy="1154969"/>
          </a:xfrm>
        </p:grpSpPr>
        <p:cxnSp>
          <p:nvCxnSpPr>
            <p:cNvPr id="25" name="Straight Arrow Connector 24"/>
            <p:cNvCxnSpPr/>
            <p:nvPr/>
          </p:nvCxnSpPr>
          <p:spPr>
            <a:xfrm>
              <a:off x="7946436" y="3976395"/>
              <a:ext cx="551283"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flipV="1">
              <a:off x="9349095" y="2821426"/>
              <a:ext cx="552721" cy="7627"/>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flipV="1">
              <a:off x="8497719" y="2857540"/>
              <a:ext cx="851376" cy="1118855"/>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cxnSp>
        <p:nvCxnSpPr>
          <p:cNvPr id="3" name="Straight Connector 2">
            <a:extLst>
              <a:ext uri="{FF2B5EF4-FFF2-40B4-BE49-F238E27FC236}">
                <a16:creationId xmlns:a16="http://schemas.microsoft.com/office/drawing/2014/main" id="{F210EB47-67E8-4B77-A76F-37C337686E62}"/>
              </a:ext>
            </a:extLst>
          </p:cNvPr>
          <p:cNvCxnSpPr>
            <a:cxnSpLocks/>
          </p:cNvCxnSpPr>
          <p:nvPr/>
        </p:nvCxnSpPr>
        <p:spPr>
          <a:xfrm flipV="1">
            <a:off x="0" y="2510183"/>
            <a:ext cx="12238892" cy="45021"/>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276087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9A369C0E-397F-4AD1-8822-C168D81A27BB}"/>
              </a:ext>
            </a:extLst>
          </p:cNvPr>
          <p:cNvSpPr txBox="1">
            <a:spLocks/>
          </p:cNvSpPr>
          <p:nvPr/>
        </p:nvSpPr>
        <p:spPr>
          <a:xfrm>
            <a:off x="196209" y="0"/>
            <a:ext cx="6106619" cy="631371"/>
          </a:xfrm>
          <a:prstGeom prst="rect">
            <a:avLst/>
          </a:prstGeom>
          <a:solidFill>
            <a:srgbClr val="FFC000"/>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pPr>
            <a:r>
              <a:rPr lang="en-US" sz="2400" b="1" u="sng" dirty="0">
                <a:latin typeface="+mn-lt"/>
              </a:rPr>
              <a:t>Step 1</a:t>
            </a:r>
            <a:r>
              <a:rPr lang="en-US" sz="2400" b="1" dirty="0">
                <a:latin typeface="+mn-lt"/>
              </a:rPr>
              <a:t>: Calculate Data Hash Key</a:t>
            </a:r>
            <a:endParaRPr lang="en-NZ" sz="2400" b="1" dirty="0">
              <a:latin typeface="+mn-lt"/>
            </a:endParaRPr>
          </a:p>
        </p:txBody>
      </p:sp>
      <p:graphicFrame>
        <p:nvGraphicFramePr>
          <p:cNvPr id="18" name="Table 17"/>
          <p:cNvGraphicFramePr>
            <a:graphicFrameLocks noGrp="1"/>
          </p:cNvGraphicFramePr>
          <p:nvPr>
            <p:extLst>
              <p:ext uri="{D42A27DB-BD31-4B8C-83A1-F6EECF244321}">
                <p14:modId xmlns:p14="http://schemas.microsoft.com/office/powerpoint/2010/main" val="968220753"/>
              </p:ext>
            </p:extLst>
          </p:nvPr>
        </p:nvGraphicFramePr>
        <p:xfrm>
          <a:off x="716466" y="3120025"/>
          <a:ext cx="1003852" cy="1941040"/>
        </p:xfrm>
        <a:graphic>
          <a:graphicData uri="http://schemas.openxmlformats.org/drawingml/2006/table">
            <a:tbl>
              <a:tblPr firstRow="1" bandRow="1">
                <a:tableStyleId>{5C22544A-7EE6-4342-B048-85BDC9FD1C3A}</a:tableStyleId>
              </a:tblPr>
              <a:tblGrid>
                <a:gridCol w="1003852">
                  <a:extLst>
                    <a:ext uri="{9D8B030D-6E8A-4147-A177-3AD203B41FA5}">
                      <a16:colId xmlns:a16="http://schemas.microsoft.com/office/drawing/2014/main" val="2888717661"/>
                    </a:ext>
                  </a:extLst>
                </a:gridCol>
              </a:tblGrid>
              <a:tr h="388208">
                <a:tc>
                  <a:txBody>
                    <a:bodyPr/>
                    <a:lstStyle/>
                    <a:p>
                      <a:pPr algn="l"/>
                      <a:r>
                        <a:rPr lang="en-US" sz="1800" b="0" dirty="0">
                          <a:solidFill>
                            <a:srgbClr val="0000FF"/>
                          </a:solidFill>
                        </a:rPr>
                        <a:t>Daniel</a:t>
                      </a:r>
                      <a:endParaRPr lang="en-NZ" sz="1800" b="0" dirty="0">
                        <a:solidFill>
                          <a:srgbClr val="0000FF"/>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639761752"/>
                  </a:ext>
                </a:extLst>
              </a:tr>
              <a:tr h="388208">
                <a:tc>
                  <a:txBody>
                    <a:bodyPr/>
                    <a:lstStyle/>
                    <a:p>
                      <a:pPr algn="l"/>
                      <a:r>
                        <a:rPr lang="en-US" sz="1800" b="0" dirty="0">
                          <a:solidFill>
                            <a:srgbClr val="0000FF"/>
                          </a:solidFill>
                        </a:rPr>
                        <a:t>Ian</a:t>
                      </a:r>
                      <a:endParaRPr lang="en-NZ" sz="1800" b="0" dirty="0">
                        <a:solidFill>
                          <a:srgbClr val="0000FF"/>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992471431"/>
                  </a:ext>
                </a:extLst>
              </a:tr>
              <a:tr h="388208">
                <a:tc>
                  <a:txBody>
                    <a:bodyPr/>
                    <a:lstStyle/>
                    <a:p>
                      <a:pPr algn="l"/>
                      <a:r>
                        <a:rPr lang="en-US" sz="1800" b="0">
                          <a:solidFill>
                            <a:srgbClr val="0000FF"/>
                          </a:solidFill>
                        </a:rPr>
                        <a:t>Oliver</a:t>
                      </a:r>
                      <a:endParaRPr lang="en-NZ" sz="1800" b="0">
                        <a:solidFill>
                          <a:srgbClr val="0000FF"/>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8431665"/>
                  </a:ext>
                </a:extLst>
              </a:tr>
              <a:tr h="388208">
                <a:tc>
                  <a:txBody>
                    <a:bodyPr/>
                    <a:lstStyle/>
                    <a:p>
                      <a:pPr algn="l"/>
                      <a:r>
                        <a:rPr lang="en-US" sz="1800" b="0">
                          <a:solidFill>
                            <a:srgbClr val="0000FF"/>
                          </a:solidFill>
                        </a:rPr>
                        <a:t>Emre</a:t>
                      </a:r>
                      <a:endParaRPr lang="en-NZ" sz="1800" b="0">
                        <a:solidFill>
                          <a:srgbClr val="0000FF"/>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04628039"/>
                  </a:ext>
                </a:extLst>
              </a:tr>
              <a:tr h="388208">
                <a:tc>
                  <a:txBody>
                    <a:bodyPr/>
                    <a:lstStyle/>
                    <a:p>
                      <a:pPr algn="l"/>
                      <a:r>
                        <a:rPr lang="en-US" sz="1800" b="0" dirty="0">
                          <a:solidFill>
                            <a:srgbClr val="0000FF"/>
                          </a:solidFill>
                        </a:rPr>
                        <a:t>Noor</a:t>
                      </a:r>
                      <a:endParaRPr lang="en-NZ" sz="1800" b="0" dirty="0">
                        <a:solidFill>
                          <a:srgbClr val="0000FF"/>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06061505"/>
                  </a:ext>
                </a:extLst>
              </a:tr>
            </a:tbl>
          </a:graphicData>
        </a:graphic>
      </p:graphicFrame>
      <p:sp>
        <p:nvSpPr>
          <p:cNvPr id="19" name="TextBox 18"/>
          <p:cNvSpPr txBox="1"/>
          <p:nvPr/>
        </p:nvSpPr>
        <p:spPr>
          <a:xfrm>
            <a:off x="887211" y="2616005"/>
            <a:ext cx="731290" cy="369332"/>
          </a:xfrm>
          <a:prstGeom prst="rect">
            <a:avLst/>
          </a:prstGeom>
          <a:solidFill>
            <a:srgbClr val="FFFF00"/>
          </a:solidFill>
        </p:spPr>
        <p:txBody>
          <a:bodyPr wrap="none" rtlCol="0">
            <a:spAutoFit/>
          </a:bodyPr>
          <a:lstStyle/>
          <a:p>
            <a:r>
              <a:rPr lang="en-US" b="1"/>
              <a:t>Data</a:t>
            </a:r>
            <a:endParaRPr lang="en-NZ" b="1"/>
          </a:p>
        </p:txBody>
      </p:sp>
      <p:sp>
        <p:nvSpPr>
          <p:cNvPr id="21" name="Rectangle 20"/>
          <p:cNvSpPr/>
          <p:nvPr/>
        </p:nvSpPr>
        <p:spPr>
          <a:xfrm>
            <a:off x="2271601" y="2008394"/>
            <a:ext cx="942730" cy="4163499"/>
          </a:xfrm>
          <a:prstGeom prst="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sz="3200" b="1">
                <a:solidFill>
                  <a:srgbClr val="990000"/>
                </a:solidFill>
              </a:rPr>
              <a:t>Calculate “data key”</a:t>
            </a:r>
          </a:p>
          <a:p>
            <a:pPr algn="ctr"/>
            <a:r>
              <a:rPr lang="en-US" sz="3200" b="1">
                <a:solidFill>
                  <a:srgbClr val="990000"/>
                </a:solidFill>
              </a:rPr>
              <a:t>By using ASCII code</a:t>
            </a:r>
            <a:endParaRPr lang="en-NZ" sz="3200" b="1">
              <a:solidFill>
                <a:srgbClr val="990000"/>
              </a:solidFill>
            </a:endParaRPr>
          </a:p>
        </p:txBody>
      </p:sp>
      <p:grpSp>
        <p:nvGrpSpPr>
          <p:cNvPr id="22" name="Group 21"/>
          <p:cNvGrpSpPr/>
          <p:nvPr/>
        </p:nvGrpSpPr>
        <p:grpSpPr>
          <a:xfrm>
            <a:off x="1720318" y="3360872"/>
            <a:ext cx="2147113" cy="0"/>
            <a:chOff x="7946436" y="3976395"/>
            <a:chExt cx="2147113" cy="0"/>
          </a:xfrm>
        </p:grpSpPr>
        <p:cxnSp>
          <p:nvCxnSpPr>
            <p:cNvPr id="23" name="Straight Arrow Connector 22"/>
            <p:cNvCxnSpPr/>
            <p:nvPr/>
          </p:nvCxnSpPr>
          <p:spPr>
            <a:xfrm>
              <a:off x="7946436" y="3976395"/>
              <a:ext cx="551283"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a:off x="9376190" y="3976395"/>
              <a:ext cx="717359"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a:off x="8497719" y="3976395"/>
              <a:ext cx="940173"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graphicFrame>
        <p:nvGraphicFramePr>
          <p:cNvPr id="28" name="Table 27"/>
          <p:cNvGraphicFramePr>
            <a:graphicFrameLocks noGrp="1"/>
          </p:cNvGraphicFramePr>
          <p:nvPr>
            <p:extLst>
              <p:ext uri="{D42A27DB-BD31-4B8C-83A1-F6EECF244321}">
                <p14:modId xmlns:p14="http://schemas.microsoft.com/office/powerpoint/2010/main" val="2640444002"/>
              </p:ext>
            </p:extLst>
          </p:nvPr>
        </p:nvGraphicFramePr>
        <p:xfrm>
          <a:off x="3867431" y="3120025"/>
          <a:ext cx="3101480" cy="1941040"/>
        </p:xfrm>
        <a:graphic>
          <a:graphicData uri="http://schemas.openxmlformats.org/drawingml/2006/table">
            <a:tbl>
              <a:tblPr firstRow="1" bandRow="1">
                <a:tableStyleId>{5C22544A-7EE6-4342-B048-85BDC9FD1C3A}</a:tableStyleId>
              </a:tblPr>
              <a:tblGrid>
                <a:gridCol w="3101480">
                  <a:extLst>
                    <a:ext uri="{9D8B030D-6E8A-4147-A177-3AD203B41FA5}">
                      <a16:colId xmlns:a16="http://schemas.microsoft.com/office/drawing/2014/main" val="2888717661"/>
                    </a:ext>
                  </a:extLst>
                </a:gridCol>
              </a:tblGrid>
              <a:tr h="388208">
                <a:tc>
                  <a:txBody>
                    <a:bodyPr/>
                    <a:lstStyle/>
                    <a:p>
                      <a:pPr algn="l"/>
                      <a:r>
                        <a:rPr lang="en-US" sz="1400" b="0">
                          <a:solidFill>
                            <a:srgbClr val="0000FF"/>
                          </a:solidFill>
                        </a:rPr>
                        <a:t>68 + 97 + 110 + 105 + 101 + 108 = 589</a:t>
                      </a:r>
                      <a:endParaRPr lang="en-NZ" sz="1400" b="0" dirty="0">
                        <a:solidFill>
                          <a:srgbClr val="0000FF"/>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60000"/>
                        <a:lumOff val="40000"/>
                      </a:schemeClr>
                    </a:solidFill>
                  </a:tcPr>
                </a:tc>
                <a:extLst>
                  <a:ext uri="{0D108BD9-81ED-4DB2-BD59-A6C34878D82A}">
                    <a16:rowId xmlns:a16="http://schemas.microsoft.com/office/drawing/2014/main" val="1639761752"/>
                  </a:ext>
                </a:extLst>
              </a:tr>
              <a:tr h="388208">
                <a:tc>
                  <a:txBody>
                    <a:bodyPr/>
                    <a:lstStyle/>
                    <a:p>
                      <a:pPr algn="l"/>
                      <a:r>
                        <a:rPr lang="en-US" sz="1400" b="0">
                          <a:solidFill>
                            <a:srgbClr val="0000FF"/>
                          </a:solidFill>
                        </a:rPr>
                        <a:t>73 + 97 +</a:t>
                      </a:r>
                      <a:r>
                        <a:rPr lang="en-US" sz="1400" b="0" baseline="0">
                          <a:solidFill>
                            <a:srgbClr val="0000FF"/>
                          </a:solidFill>
                        </a:rPr>
                        <a:t> 110 = 280</a:t>
                      </a:r>
                      <a:endParaRPr lang="en-NZ" sz="1400" b="0" dirty="0">
                        <a:solidFill>
                          <a:srgbClr val="0000FF"/>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60000"/>
                        <a:lumOff val="40000"/>
                      </a:schemeClr>
                    </a:solidFill>
                  </a:tcPr>
                </a:tc>
                <a:extLst>
                  <a:ext uri="{0D108BD9-81ED-4DB2-BD59-A6C34878D82A}">
                    <a16:rowId xmlns:a16="http://schemas.microsoft.com/office/drawing/2014/main" val="3992471431"/>
                  </a:ext>
                </a:extLst>
              </a:tr>
              <a:tr h="388208">
                <a:tc>
                  <a:txBody>
                    <a:bodyPr/>
                    <a:lstStyle/>
                    <a:p>
                      <a:pPr algn="l"/>
                      <a:r>
                        <a:rPr lang="en-US" sz="1400" b="0">
                          <a:solidFill>
                            <a:srgbClr val="0000FF"/>
                          </a:solidFill>
                        </a:rPr>
                        <a:t>79</a:t>
                      </a:r>
                      <a:r>
                        <a:rPr lang="en-US" sz="1400" b="0" baseline="0">
                          <a:solidFill>
                            <a:srgbClr val="0000FF"/>
                          </a:solidFill>
                        </a:rPr>
                        <a:t> + 108 + 105 + 118 + 101 + 114 = 625</a:t>
                      </a:r>
                      <a:endParaRPr lang="en-NZ" sz="1400" b="0">
                        <a:solidFill>
                          <a:srgbClr val="0000FF"/>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60000"/>
                        <a:lumOff val="40000"/>
                      </a:schemeClr>
                    </a:solidFill>
                  </a:tcPr>
                </a:tc>
                <a:extLst>
                  <a:ext uri="{0D108BD9-81ED-4DB2-BD59-A6C34878D82A}">
                    <a16:rowId xmlns:a16="http://schemas.microsoft.com/office/drawing/2014/main" val="68431665"/>
                  </a:ext>
                </a:extLst>
              </a:tr>
              <a:tr h="388208">
                <a:tc>
                  <a:txBody>
                    <a:bodyPr/>
                    <a:lstStyle/>
                    <a:p>
                      <a:pPr algn="l"/>
                      <a:r>
                        <a:rPr lang="en-US" sz="1400" b="0">
                          <a:solidFill>
                            <a:srgbClr val="0000FF"/>
                          </a:solidFill>
                        </a:rPr>
                        <a:t>69 + 109 + 114 + 101 = 393</a:t>
                      </a:r>
                      <a:endParaRPr lang="en-NZ" sz="1400" b="0">
                        <a:solidFill>
                          <a:srgbClr val="0000FF"/>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60000"/>
                        <a:lumOff val="40000"/>
                      </a:schemeClr>
                    </a:solidFill>
                  </a:tcPr>
                </a:tc>
                <a:extLst>
                  <a:ext uri="{0D108BD9-81ED-4DB2-BD59-A6C34878D82A}">
                    <a16:rowId xmlns:a16="http://schemas.microsoft.com/office/drawing/2014/main" val="2404628039"/>
                  </a:ext>
                </a:extLst>
              </a:tr>
              <a:tr h="388208">
                <a:tc>
                  <a:txBody>
                    <a:bodyPr/>
                    <a:lstStyle/>
                    <a:p>
                      <a:pPr algn="l"/>
                      <a:r>
                        <a:rPr lang="en-US" sz="1400" b="0" dirty="0">
                          <a:solidFill>
                            <a:srgbClr val="0000FF"/>
                          </a:solidFill>
                        </a:rPr>
                        <a:t>78 + 111 + 111 + 114 = 414</a:t>
                      </a:r>
                      <a:endParaRPr lang="en-NZ" sz="1400" b="0" dirty="0">
                        <a:solidFill>
                          <a:srgbClr val="0000FF"/>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60000"/>
                        <a:lumOff val="40000"/>
                      </a:schemeClr>
                    </a:solidFill>
                  </a:tcPr>
                </a:tc>
                <a:extLst>
                  <a:ext uri="{0D108BD9-81ED-4DB2-BD59-A6C34878D82A}">
                    <a16:rowId xmlns:a16="http://schemas.microsoft.com/office/drawing/2014/main" val="1306061505"/>
                  </a:ext>
                </a:extLst>
              </a:tr>
            </a:tbl>
          </a:graphicData>
        </a:graphic>
      </p:graphicFrame>
      <p:sp>
        <p:nvSpPr>
          <p:cNvPr id="29" name="TextBox 28"/>
          <p:cNvSpPr txBox="1"/>
          <p:nvPr/>
        </p:nvSpPr>
        <p:spPr>
          <a:xfrm>
            <a:off x="4011861" y="2684629"/>
            <a:ext cx="1559017" cy="369332"/>
          </a:xfrm>
          <a:prstGeom prst="rect">
            <a:avLst/>
          </a:prstGeom>
          <a:solidFill>
            <a:srgbClr val="FFFF00"/>
          </a:solidFill>
        </p:spPr>
        <p:txBody>
          <a:bodyPr wrap="none" rtlCol="0">
            <a:spAutoFit/>
          </a:bodyPr>
          <a:lstStyle/>
          <a:p>
            <a:r>
              <a:rPr lang="en-US" b="1" dirty="0">
                <a:latin typeface="+mn-lt"/>
              </a:rPr>
              <a:t>Data Hash Key</a:t>
            </a:r>
            <a:endParaRPr lang="en-NZ" b="1" dirty="0">
              <a:latin typeface="+mn-lt"/>
            </a:endParaRPr>
          </a:p>
        </p:txBody>
      </p:sp>
      <p:grpSp>
        <p:nvGrpSpPr>
          <p:cNvPr id="49" name="Group 48"/>
          <p:cNvGrpSpPr/>
          <p:nvPr/>
        </p:nvGrpSpPr>
        <p:grpSpPr>
          <a:xfrm>
            <a:off x="1720318" y="3691072"/>
            <a:ext cx="2147113" cy="0"/>
            <a:chOff x="7946436" y="3976395"/>
            <a:chExt cx="2147113" cy="0"/>
          </a:xfrm>
        </p:grpSpPr>
        <p:cxnSp>
          <p:nvCxnSpPr>
            <p:cNvPr id="50" name="Straight Arrow Connector 49"/>
            <p:cNvCxnSpPr/>
            <p:nvPr/>
          </p:nvCxnSpPr>
          <p:spPr>
            <a:xfrm>
              <a:off x="7946436" y="3976395"/>
              <a:ext cx="551283"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p:cNvCxnSpPr/>
            <p:nvPr/>
          </p:nvCxnSpPr>
          <p:spPr>
            <a:xfrm>
              <a:off x="9376190" y="3976395"/>
              <a:ext cx="717359"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a:xfrm>
              <a:off x="8497719" y="3976395"/>
              <a:ext cx="940173"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53" name="Group 52"/>
          <p:cNvGrpSpPr/>
          <p:nvPr/>
        </p:nvGrpSpPr>
        <p:grpSpPr>
          <a:xfrm>
            <a:off x="1720318" y="4097472"/>
            <a:ext cx="2147113" cy="0"/>
            <a:chOff x="7946436" y="3976395"/>
            <a:chExt cx="2147113" cy="0"/>
          </a:xfrm>
        </p:grpSpPr>
        <p:cxnSp>
          <p:nvCxnSpPr>
            <p:cNvPr id="54" name="Straight Arrow Connector 53"/>
            <p:cNvCxnSpPr/>
            <p:nvPr/>
          </p:nvCxnSpPr>
          <p:spPr>
            <a:xfrm>
              <a:off x="7946436" y="3976395"/>
              <a:ext cx="551283"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p:nvPr/>
          </p:nvCxnSpPr>
          <p:spPr>
            <a:xfrm>
              <a:off x="9376190" y="3976395"/>
              <a:ext cx="717359"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a:xfrm>
              <a:off x="8497719" y="3976395"/>
              <a:ext cx="940173"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57" name="Group 56"/>
          <p:cNvGrpSpPr/>
          <p:nvPr/>
        </p:nvGrpSpPr>
        <p:grpSpPr>
          <a:xfrm>
            <a:off x="1720318" y="4516572"/>
            <a:ext cx="2147113" cy="0"/>
            <a:chOff x="7946436" y="3976395"/>
            <a:chExt cx="2147113" cy="0"/>
          </a:xfrm>
        </p:grpSpPr>
        <p:cxnSp>
          <p:nvCxnSpPr>
            <p:cNvPr id="58" name="Straight Arrow Connector 57"/>
            <p:cNvCxnSpPr/>
            <p:nvPr/>
          </p:nvCxnSpPr>
          <p:spPr>
            <a:xfrm>
              <a:off x="7946436" y="3976395"/>
              <a:ext cx="551283"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p:cNvCxnSpPr/>
            <p:nvPr/>
          </p:nvCxnSpPr>
          <p:spPr>
            <a:xfrm>
              <a:off x="9376190" y="3976395"/>
              <a:ext cx="717359"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0" name="Straight Connector 59"/>
            <p:cNvCxnSpPr/>
            <p:nvPr/>
          </p:nvCxnSpPr>
          <p:spPr>
            <a:xfrm>
              <a:off x="8497719" y="3976395"/>
              <a:ext cx="940173"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61" name="Group 60"/>
          <p:cNvGrpSpPr/>
          <p:nvPr/>
        </p:nvGrpSpPr>
        <p:grpSpPr>
          <a:xfrm>
            <a:off x="1720318" y="4897572"/>
            <a:ext cx="2147113" cy="0"/>
            <a:chOff x="7946436" y="3976395"/>
            <a:chExt cx="2147113" cy="0"/>
          </a:xfrm>
        </p:grpSpPr>
        <p:cxnSp>
          <p:nvCxnSpPr>
            <p:cNvPr id="62" name="Straight Arrow Connector 61"/>
            <p:cNvCxnSpPr/>
            <p:nvPr/>
          </p:nvCxnSpPr>
          <p:spPr>
            <a:xfrm>
              <a:off x="7946436" y="3976395"/>
              <a:ext cx="551283"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p:cNvCxnSpPr/>
            <p:nvPr/>
          </p:nvCxnSpPr>
          <p:spPr>
            <a:xfrm>
              <a:off x="9376190" y="3976395"/>
              <a:ext cx="717359"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4" name="Straight Connector 63"/>
            <p:cNvCxnSpPr/>
            <p:nvPr/>
          </p:nvCxnSpPr>
          <p:spPr>
            <a:xfrm>
              <a:off x="8497719" y="3976395"/>
              <a:ext cx="940173"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33" name="TextBox 32">
            <a:extLst>
              <a:ext uri="{FF2B5EF4-FFF2-40B4-BE49-F238E27FC236}">
                <a16:creationId xmlns:a16="http://schemas.microsoft.com/office/drawing/2014/main" id="{59316204-A435-4D32-9EBA-BD6EB7DF3AA6}"/>
              </a:ext>
            </a:extLst>
          </p:cNvPr>
          <p:cNvSpPr txBox="1"/>
          <p:nvPr/>
        </p:nvSpPr>
        <p:spPr>
          <a:xfrm>
            <a:off x="471804" y="842829"/>
            <a:ext cx="7825874" cy="954107"/>
          </a:xfrm>
          <a:prstGeom prst="rect">
            <a:avLst/>
          </a:prstGeom>
          <a:solidFill>
            <a:srgbClr val="FFFF00"/>
          </a:solidFill>
        </p:spPr>
        <p:txBody>
          <a:bodyPr wrap="square">
            <a:spAutoFit/>
          </a:bodyPr>
          <a:lstStyle/>
          <a:p>
            <a:r>
              <a:rPr lang="en-NZ" sz="2800" b="1" dirty="0">
                <a:latin typeface="+mn-lt"/>
              </a:rPr>
              <a:t>Hash Key = Sum of ASCII values of all characters in the “name” (data) by using ASCII table</a:t>
            </a:r>
          </a:p>
        </p:txBody>
      </p:sp>
      <p:pic>
        <p:nvPicPr>
          <p:cNvPr id="6" name="Picture 5">
            <a:extLst>
              <a:ext uri="{FF2B5EF4-FFF2-40B4-BE49-F238E27FC236}">
                <a16:creationId xmlns:a16="http://schemas.microsoft.com/office/drawing/2014/main" id="{470F30A4-D09F-4E1B-A386-50BD8B390B72}"/>
              </a:ext>
            </a:extLst>
          </p:cNvPr>
          <p:cNvPicPr>
            <a:picLocks noChangeAspect="1"/>
          </p:cNvPicPr>
          <p:nvPr/>
        </p:nvPicPr>
        <p:blipFill>
          <a:blip r:embed="rId3"/>
          <a:stretch>
            <a:fillRect/>
          </a:stretch>
        </p:blipFill>
        <p:spPr>
          <a:xfrm>
            <a:off x="10037679" y="0"/>
            <a:ext cx="2140153" cy="6858000"/>
          </a:xfrm>
          <a:prstGeom prst="rect">
            <a:avLst/>
          </a:prstGeom>
        </p:spPr>
      </p:pic>
    </p:spTree>
    <p:extLst>
      <p:ext uri="{BB962C8B-B14F-4D97-AF65-F5344CB8AC3E}">
        <p14:creationId xmlns:p14="http://schemas.microsoft.com/office/powerpoint/2010/main" val="3851754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9A369C0E-397F-4AD1-8822-C168D81A27BB}"/>
              </a:ext>
            </a:extLst>
          </p:cNvPr>
          <p:cNvSpPr txBox="1">
            <a:spLocks/>
          </p:cNvSpPr>
          <p:nvPr/>
        </p:nvSpPr>
        <p:spPr>
          <a:xfrm>
            <a:off x="196209" y="0"/>
            <a:ext cx="4294147" cy="631371"/>
          </a:xfrm>
          <a:prstGeom prst="rect">
            <a:avLst/>
          </a:prstGeom>
          <a:solidFill>
            <a:srgbClr val="FFC000"/>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pPr>
            <a:r>
              <a:rPr lang="en-US" sz="2400" b="1" u="sng" dirty="0">
                <a:latin typeface="+mn-lt"/>
              </a:rPr>
              <a:t>Step 2</a:t>
            </a:r>
            <a:r>
              <a:rPr lang="en-US" sz="2400" b="1" dirty="0">
                <a:latin typeface="+mn-lt"/>
              </a:rPr>
              <a:t>: Calculate index</a:t>
            </a:r>
            <a:endParaRPr lang="en-NZ" sz="2400" b="1" dirty="0">
              <a:latin typeface="+mn-lt"/>
            </a:endParaRPr>
          </a:p>
        </p:txBody>
      </p:sp>
      <p:sp>
        <p:nvSpPr>
          <p:cNvPr id="7" name="Rectangle 6"/>
          <p:cNvSpPr/>
          <p:nvPr/>
        </p:nvSpPr>
        <p:spPr>
          <a:xfrm>
            <a:off x="196210" y="711001"/>
            <a:ext cx="8441604" cy="830997"/>
          </a:xfrm>
          <a:prstGeom prst="rect">
            <a:avLst/>
          </a:prstGeom>
          <a:solidFill>
            <a:schemeClr val="accent2">
              <a:lumMod val="20000"/>
              <a:lumOff val="80000"/>
            </a:schemeClr>
          </a:solidFill>
        </p:spPr>
        <p:txBody>
          <a:bodyPr wrap="square">
            <a:spAutoFit/>
          </a:bodyPr>
          <a:lstStyle/>
          <a:p>
            <a:r>
              <a:rPr lang="en-NZ" sz="2400" b="1" dirty="0">
                <a:latin typeface="+mn-lt"/>
              </a:rPr>
              <a:t>Hash function </a:t>
            </a:r>
            <a:r>
              <a:rPr lang="en-NZ" sz="2400" dirty="0">
                <a:latin typeface="+mn-lt"/>
              </a:rPr>
              <a:t>is used to convert a “</a:t>
            </a:r>
            <a:r>
              <a:rPr lang="en-NZ" sz="2400" b="1" dirty="0">
                <a:latin typeface="+mn-lt"/>
              </a:rPr>
              <a:t>data hash key” </a:t>
            </a:r>
            <a:r>
              <a:rPr lang="en-NZ" sz="2400" dirty="0">
                <a:latin typeface="+mn-lt"/>
              </a:rPr>
              <a:t>into a range of </a:t>
            </a:r>
            <a:r>
              <a:rPr lang="en-NZ" sz="2400" b="1" dirty="0">
                <a:latin typeface="+mn-lt"/>
              </a:rPr>
              <a:t>indexes</a:t>
            </a:r>
            <a:r>
              <a:rPr lang="en-NZ" sz="2400" dirty="0">
                <a:latin typeface="+mn-lt"/>
              </a:rPr>
              <a:t> of an array by using the </a:t>
            </a:r>
            <a:r>
              <a:rPr lang="en-NZ" sz="2400" b="1" dirty="0">
                <a:solidFill>
                  <a:srgbClr val="990000"/>
                </a:solidFill>
                <a:latin typeface="+mn-lt"/>
              </a:rPr>
              <a:t>MODULO operator</a:t>
            </a:r>
            <a:r>
              <a:rPr lang="en-NZ" sz="2400" dirty="0">
                <a:latin typeface="+mn-lt"/>
              </a:rPr>
              <a:t>.</a:t>
            </a:r>
          </a:p>
        </p:txBody>
      </p:sp>
      <p:pic>
        <p:nvPicPr>
          <p:cNvPr id="14" name="Picture 13"/>
          <p:cNvPicPr>
            <a:picLocks noChangeAspect="1"/>
          </p:cNvPicPr>
          <p:nvPr/>
        </p:nvPicPr>
        <p:blipFill>
          <a:blip r:embed="rId3"/>
          <a:stretch>
            <a:fillRect/>
          </a:stretch>
        </p:blipFill>
        <p:spPr>
          <a:xfrm>
            <a:off x="9211754" y="39952"/>
            <a:ext cx="2929415" cy="2197062"/>
          </a:xfrm>
          <a:prstGeom prst="rect">
            <a:avLst/>
          </a:prstGeom>
        </p:spPr>
      </p:pic>
      <p:cxnSp>
        <p:nvCxnSpPr>
          <p:cNvPr id="16" name="Straight Arrow Connector 15"/>
          <p:cNvCxnSpPr>
            <a:cxnSpLocks/>
          </p:cNvCxnSpPr>
          <p:nvPr/>
        </p:nvCxnSpPr>
        <p:spPr>
          <a:xfrm flipV="1">
            <a:off x="7233557" y="881745"/>
            <a:ext cx="1978197" cy="522512"/>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27" name="Table 26"/>
          <p:cNvGraphicFramePr>
            <a:graphicFrameLocks noGrp="1"/>
          </p:cNvGraphicFramePr>
          <p:nvPr>
            <p:extLst>
              <p:ext uri="{D42A27DB-BD31-4B8C-83A1-F6EECF244321}">
                <p14:modId xmlns:p14="http://schemas.microsoft.com/office/powerpoint/2010/main" val="1739524537"/>
              </p:ext>
            </p:extLst>
          </p:nvPr>
        </p:nvGraphicFramePr>
        <p:xfrm>
          <a:off x="196209" y="3040687"/>
          <a:ext cx="3972663" cy="1808409"/>
        </p:xfrm>
        <a:graphic>
          <a:graphicData uri="http://schemas.openxmlformats.org/drawingml/2006/table">
            <a:tbl>
              <a:tblPr firstRow="1" bandRow="1">
                <a:tableStyleId>{5C22544A-7EE6-4342-B048-85BDC9FD1C3A}</a:tableStyleId>
              </a:tblPr>
              <a:tblGrid>
                <a:gridCol w="802597">
                  <a:extLst>
                    <a:ext uri="{9D8B030D-6E8A-4147-A177-3AD203B41FA5}">
                      <a16:colId xmlns:a16="http://schemas.microsoft.com/office/drawing/2014/main" val="2121394426"/>
                    </a:ext>
                  </a:extLst>
                </a:gridCol>
                <a:gridCol w="3170066">
                  <a:extLst>
                    <a:ext uri="{9D8B030D-6E8A-4147-A177-3AD203B41FA5}">
                      <a16:colId xmlns:a16="http://schemas.microsoft.com/office/drawing/2014/main" val="2888717661"/>
                    </a:ext>
                  </a:extLst>
                </a:gridCol>
              </a:tblGrid>
              <a:tr h="40589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dirty="0">
                          <a:solidFill>
                            <a:srgbClr val="0000FF"/>
                          </a:solidFill>
                        </a:rPr>
                        <a:t>Daniel</a:t>
                      </a:r>
                      <a:endParaRPr lang="en-NZ" sz="1400" b="0" dirty="0">
                        <a:solidFill>
                          <a:srgbClr val="0000FF"/>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1400" b="0" dirty="0">
                          <a:solidFill>
                            <a:srgbClr val="0000FF"/>
                          </a:solidFill>
                        </a:rPr>
                        <a:t>68 + 97 + 110 + 105 + 101 + 108 = 589</a:t>
                      </a:r>
                      <a:endParaRPr lang="en-NZ" sz="1400" b="0" dirty="0">
                        <a:solidFill>
                          <a:srgbClr val="0000FF"/>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60000"/>
                        <a:lumOff val="40000"/>
                      </a:schemeClr>
                    </a:solidFill>
                  </a:tcPr>
                </a:tc>
                <a:extLst>
                  <a:ext uri="{0D108BD9-81ED-4DB2-BD59-A6C34878D82A}">
                    <a16:rowId xmlns:a16="http://schemas.microsoft.com/office/drawing/2014/main" val="1639761752"/>
                  </a:ext>
                </a:extLst>
              </a:tr>
              <a:tr h="345555">
                <a:tc>
                  <a:txBody>
                    <a:bodyPr/>
                    <a:lstStyle/>
                    <a:p>
                      <a:pPr algn="l"/>
                      <a:r>
                        <a:rPr lang="en-US" sz="1400" b="0" dirty="0">
                          <a:solidFill>
                            <a:srgbClr val="0000FF"/>
                          </a:solidFill>
                        </a:rPr>
                        <a:t>Ian</a:t>
                      </a:r>
                      <a:endParaRPr lang="en-NZ" sz="1400" b="0" dirty="0">
                        <a:solidFill>
                          <a:srgbClr val="0000FF"/>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1400" b="0" dirty="0">
                          <a:solidFill>
                            <a:srgbClr val="0000FF"/>
                          </a:solidFill>
                        </a:rPr>
                        <a:t>73 + 97 +</a:t>
                      </a:r>
                      <a:r>
                        <a:rPr lang="en-US" sz="1400" b="0" baseline="0" dirty="0">
                          <a:solidFill>
                            <a:srgbClr val="0000FF"/>
                          </a:solidFill>
                        </a:rPr>
                        <a:t> 110 = 280</a:t>
                      </a:r>
                      <a:endParaRPr lang="en-NZ" sz="1400" b="0" dirty="0">
                        <a:solidFill>
                          <a:srgbClr val="0000FF"/>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60000"/>
                        <a:lumOff val="40000"/>
                      </a:schemeClr>
                    </a:solidFill>
                  </a:tcPr>
                </a:tc>
                <a:extLst>
                  <a:ext uri="{0D108BD9-81ED-4DB2-BD59-A6C34878D82A}">
                    <a16:rowId xmlns:a16="http://schemas.microsoft.com/office/drawing/2014/main" val="3992471431"/>
                  </a:ext>
                </a:extLst>
              </a:tr>
              <a:tr h="338564">
                <a:tc>
                  <a:txBody>
                    <a:bodyPr/>
                    <a:lstStyle/>
                    <a:p>
                      <a:pPr algn="l"/>
                      <a:r>
                        <a:rPr lang="en-US" sz="1400" b="0" dirty="0">
                          <a:solidFill>
                            <a:srgbClr val="0000FF"/>
                          </a:solidFill>
                        </a:rPr>
                        <a:t>Oliver</a:t>
                      </a:r>
                      <a:endParaRPr lang="en-NZ" sz="1400" b="0" dirty="0">
                        <a:solidFill>
                          <a:srgbClr val="0000FF"/>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1400" b="0" dirty="0">
                          <a:solidFill>
                            <a:srgbClr val="0000FF"/>
                          </a:solidFill>
                        </a:rPr>
                        <a:t>79</a:t>
                      </a:r>
                      <a:r>
                        <a:rPr lang="en-US" sz="1400" b="0" baseline="0" dirty="0">
                          <a:solidFill>
                            <a:srgbClr val="0000FF"/>
                          </a:solidFill>
                        </a:rPr>
                        <a:t> + 108 + 105 + 118 + 101 + 114 = 625</a:t>
                      </a:r>
                      <a:endParaRPr lang="en-NZ" sz="1400" b="0" dirty="0">
                        <a:solidFill>
                          <a:srgbClr val="0000FF"/>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60000"/>
                        <a:lumOff val="40000"/>
                      </a:schemeClr>
                    </a:solidFill>
                  </a:tcPr>
                </a:tc>
                <a:extLst>
                  <a:ext uri="{0D108BD9-81ED-4DB2-BD59-A6C34878D82A}">
                    <a16:rowId xmlns:a16="http://schemas.microsoft.com/office/drawing/2014/main" val="68431665"/>
                  </a:ext>
                </a:extLst>
              </a:tr>
              <a:tr h="366699">
                <a:tc>
                  <a:txBody>
                    <a:bodyPr/>
                    <a:lstStyle/>
                    <a:p>
                      <a:pPr algn="l"/>
                      <a:r>
                        <a:rPr lang="en-US" sz="1400" b="0" dirty="0">
                          <a:solidFill>
                            <a:srgbClr val="0000FF"/>
                          </a:solidFill>
                        </a:rPr>
                        <a:t>Emre</a:t>
                      </a:r>
                      <a:endParaRPr lang="en-NZ" sz="1400" b="0" dirty="0">
                        <a:solidFill>
                          <a:srgbClr val="0000FF"/>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1400" b="0" dirty="0">
                          <a:solidFill>
                            <a:srgbClr val="0000FF"/>
                          </a:solidFill>
                        </a:rPr>
                        <a:t>69 + 109 + 114 + 101 = 393</a:t>
                      </a:r>
                      <a:endParaRPr lang="en-NZ" sz="1400" b="0" dirty="0">
                        <a:solidFill>
                          <a:srgbClr val="0000FF"/>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60000"/>
                        <a:lumOff val="40000"/>
                      </a:schemeClr>
                    </a:solidFill>
                  </a:tcPr>
                </a:tc>
                <a:extLst>
                  <a:ext uri="{0D108BD9-81ED-4DB2-BD59-A6C34878D82A}">
                    <a16:rowId xmlns:a16="http://schemas.microsoft.com/office/drawing/2014/main" val="2404628039"/>
                  </a:ext>
                </a:extLst>
              </a:tr>
              <a:tr h="351693">
                <a:tc>
                  <a:txBody>
                    <a:bodyPr/>
                    <a:lstStyle/>
                    <a:p>
                      <a:pPr algn="l"/>
                      <a:r>
                        <a:rPr lang="en-US" sz="1400" b="0" dirty="0">
                          <a:solidFill>
                            <a:srgbClr val="0000FF"/>
                          </a:solidFill>
                        </a:rPr>
                        <a:t>Noor</a:t>
                      </a:r>
                      <a:endParaRPr lang="en-NZ" sz="1400" b="0" dirty="0">
                        <a:solidFill>
                          <a:srgbClr val="0000FF"/>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1400" b="0" dirty="0">
                          <a:solidFill>
                            <a:srgbClr val="0000FF"/>
                          </a:solidFill>
                        </a:rPr>
                        <a:t>78 + 111 + 111 + 114 = 414</a:t>
                      </a:r>
                      <a:endParaRPr lang="en-NZ" sz="1400" b="0" dirty="0">
                        <a:solidFill>
                          <a:srgbClr val="0000FF"/>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60000"/>
                        <a:lumOff val="40000"/>
                      </a:schemeClr>
                    </a:solidFill>
                  </a:tcPr>
                </a:tc>
                <a:extLst>
                  <a:ext uri="{0D108BD9-81ED-4DB2-BD59-A6C34878D82A}">
                    <a16:rowId xmlns:a16="http://schemas.microsoft.com/office/drawing/2014/main" val="1306061505"/>
                  </a:ext>
                </a:extLst>
              </a:tr>
            </a:tbl>
          </a:graphicData>
        </a:graphic>
      </p:graphicFrame>
      <p:sp>
        <p:nvSpPr>
          <p:cNvPr id="31" name="TextBox 30"/>
          <p:cNvSpPr txBox="1"/>
          <p:nvPr/>
        </p:nvSpPr>
        <p:spPr>
          <a:xfrm>
            <a:off x="2054526" y="2549304"/>
            <a:ext cx="1056828" cy="369332"/>
          </a:xfrm>
          <a:prstGeom prst="rect">
            <a:avLst/>
          </a:prstGeom>
          <a:solidFill>
            <a:srgbClr val="FFFF00"/>
          </a:solidFill>
        </p:spPr>
        <p:txBody>
          <a:bodyPr wrap="none" rtlCol="0">
            <a:spAutoFit/>
          </a:bodyPr>
          <a:lstStyle/>
          <a:p>
            <a:r>
              <a:rPr lang="en-US" b="1" dirty="0">
                <a:latin typeface="+mn-lt"/>
              </a:rPr>
              <a:t>Hash Key</a:t>
            </a:r>
            <a:endParaRPr lang="en-NZ" b="1" dirty="0">
              <a:latin typeface="+mn-lt"/>
            </a:endParaRPr>
          </a:p>
        </p:txBody>
      </p:sp>
      <p:sp>
        <p:nvSpPr>
          <p:cNvPr id="32" name="TextBox 31"/>
          <p:cNvSpPr txBox="1"/>
          <p:nvPr/>
        </p:nvSpPr>
        <p:spPr>
          <a:xfrm>
            <a:off x="185820" y="2608992"/>
            <a:ext cx="633956" cy="369332"/>
          </a:xfrm>
          <a:prstGeom prst="rect">
            <a:avLst/>
          </a:prstGeom>
          <a:solidFill>
            <a:srgbClr val="FFFF00"/>
          </a:solidFill>
        </p:spPr>
        <p:txBody>
          <a:bodyPr wrap="none" rtlCol="0">
            <a:spAutoFit/>
          </a:bodyPr>
          <a:lstStyle/>
          <a:p>
            <a:r>
              <a:rPr lang="en-US" b="1">
                <a:latin typeface="+mn-lt"/>
              </a:rPr>
              <a:t>Data</a:t>
            </a:r>
            <a:endParaRPr lang="en-NZ" b="1">
              <a:latin typeface="+mn-lt"/>
            </a:endParaRPr>
          </a:p>
        </p:txBody>
      </p:sp>
      <p:sp>
        <p:nvSpPr>
          <p:cNvPr id="33" name="Rectangle 32"/>
          <p:cNvSpPr/>
          <p:nvPr/>
        </p:nvSpPr>
        <p:spPr>
          <a:xfrm>
            <a:off x="4767894" y="1894203"/>
            <a:ext cx="942730" cy="4650058"/>
          </a:xfrm>
          <a:prstGeom prst="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sz="3200" b="1" dirty="0">
                <a:solidFill>
                  <a:srgbClr val="990000"/>
                </a:solidFill>
              </a:rPr>
              <a:t>Modulo operator</a:t>
            </a:r>
            <a:endParaRPr lang="en-NZ" sz="3200" b="1" dirty="0">
              <a:solidFill>
                <a:srgbClr val="990000"/>
              </a:solidFill>
            </a:endParaRPr>
          </a:p>
          <a:p>
            <a:pPr algn="ctr"/>
            <a:r>
              <a:rPr lang="en-US" sz="3200" b="1" dirty="0">
                <a:solidFill>
                  <a:srgbClr val="990000"/>
                </a:solidFill>
              </a:rPr>
              <a:t>(Modulo 10: % 10)</a:t>
            </a:r>
            <a:endParaRPr lang="en-NZ" sz="3200" b="1" dirty="0">
              <a:solidFill>
                <a:srgbClr val="990000"/>
              </a:solidFill>
            </a:endParaRPr>
          </a:p>
        </p:txBody>
      </p:sp>
      <p:graphicFrame>
        <p:nvGraphicFramePr>
          <p:cNvPr id="36" name="Table 35"/>
          <p:cNvGraphicFramePr>
            <a:graphicFrameLocks noGrp="1"/>
          </p:cNvGraphicFramePr>
          <p:nvPr>
            <p:extLst>
              <p:ext uri="{D42A27DB-BD31-4B8C-83A1-F6EECF244321}">
                <p14:modId xmlns:p14="http://schemas.microsoft.com/office/powerpoint/2010/main" val="3046774593"/>
              </p:ext>
            </p:extLst>
          </p:nvPr>
        </p:nvGraphicFramePr>
        <p:xfrm>
          <a:off x="6850739" y="2076769"/>
          <a:ext cx="2083130" cy="4230193"/>
        </p:xfrm>
        <a:graphic>
          <a:graphicData uri="http://schemas.openxmlformats.org/drawingml/2006/table">
            <a:tbl>
              <a:tblPr firstRow="1" bandRow="1">
                <a:tableStyleId>{5C22544A-7EE6-4342-B048-85BDC9FD1C3A}</a:tableStyleId>
              </a:tblPr>
              <a:tblGrid>
                <a:gridCol w="716973">
                  <a:extLst>
                    <a:ext uri="{9D8B030D-6E8A-4147-A177-3AD203B41FA5}">
                      <a16:colId xmlns:a16="http://schemas.microsoft.com/office/drawing/2014/main" val="1720347449"/>
                    </a:ext>
                  </a:extLst>
                </a:gridCol>
                <a:gridCol w="1366157">
                  <a:extLst>
                    <a:ext uri="{9D8B030D-6E8A-4147-A177-3AD203B41FA5}">
                      <a16:colId xmlns:a16="http://schemas.microsoft.com/office/drawing/2014/main" val="3549404079"/>
                    </a:ext>
                  </a:extLst>
                </a:gridCol>
              </a:tblGrid>
              <a:tr h="384563">
                <a:tc>
                  <a:txBody>
                    <a:bodyPr/>
                    <a:lstStyle/>
                    <a:p>
                      <a:pPr algn="ctr"/>
                      <a:r>
                        <a:rPr lang="en-US" sz="1600">
                          <a:solidFill>
                            <a:srgbClr val="990000"/>
                          </a:solidFill>
                        </a:rPr>
                        <a:t>Index</a:t>
                      </a:r>
                      <a:endParaRPr lang="en-NZ" sz="1600">
                        <a:solidFill>
                          <a:srgbClr val="99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solidFill>
                            <a:srgbClr val="990000"/>
                          </a:solidFill>
                        </a:rPr>
                        <a:t>Data</a:t>
                      </a:r>
                      <a:endParaRPr lang="en-NZ" sz="1600">
                        <a:solidFill>
                          <a:srgbClr val="99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82025299"/>
                  </a:ext>
                </a:extLst>
              </a:tr>
              <a:tr h="384563">
                <a:tc>
                  <a:txBody>
                    <a:bodyPr/>
                    <a:lstStyle/>
                    <a:p>
                      <a:pPr algn="ctr"/>
                      <a:r>
                        <a:rPr lang="en-US" sz="1600"/>
                        <a:t>0</a:t>
                      </a:r>
                      <a:endParaRPr lang="en-NZ"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600"/>
                        <a:t>Ian</a:t>
                      </a:r>
                      <a:endParaRPr lang="en-NZ"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13536560"/>
                  </a:ext>
                </a:extLst>
              </a:tr>
              <a:tr h="384563">
                <a:tc>
                  <a:txBody>
                    <a:bodyPr/>
                    <a:lstStyle/>
                    <a:p>
                      <a:pPr algn="ctr"/>
                      <a:r>
                        <a:rPr lang="en-US" sz="1600"/>
                        <a:t>1</a:t>
                      </a:r>
                      <a:endParaRPr lang="en-NZ"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endParaRPr lang="en-NZ"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85275645"/>
                  </a:ext>
                </a:extLst>
              </a:tr>
              <a:tr h="384563">
                <a:tc>
                  <a:txBody>
                    <a:bodyPr/>
                    <a:lstStyle/>
                    <a:p>
                      <a:pPr algn="ctr"/>
                      <a:r>
                        <a:rPr lang="en-US" sz="1600"/>
                        <a:t>2</a:t>
                      </a:r>
                      <a:endParaRPr lang="en-NZ"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endParaRPr lang="en-NZ"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95156092"/>
                  </a:ext>
                </a:extLst>
              </a:tr>
              <a:tr h="384563">
                <a:tc>
                  <a:txBody>
                    <a:bodyPr/>
                    <a:lstStyle/>
                    <a:p>
                      <a:pPr algn="ctr"/>
                      <a:r>
                        <a:rPr lang="en-US" sz="1600"/>
                        <a:t>3</a:t>
                      </a:r>
                      <a:endParaRPr lang="en-NZ"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600"/>
                        <a:t>Emre</a:t>
                      </a:r>
                      <a:endParaRPr lang="en-NZ"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58955345"/>
                  </a:ext>
                </a:extLst>
              </a:tr>
              <a:tr h="384563">
                <a:tc>
                  <a:txBody>
                    <a:bodyPr/>
                    <a:lstStyle/>
                    <a:p>
                      <a:pPr algn="ctr"/>
                      <a:r>
                        <a:rPr lang="en-US" sz="1600"/>
                        <a:t>4</a:t>
                      </a:r>
                      <a:endParaRPr lang="en-NZ"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600"/>
                        <a:t>Noor</a:t>
                      </a:r>
                      <a:endParaRPr lang="en-NZ"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09388295"/>
                  </a:ext>
                </a:extLst>
              </a:tr>
              <a:tr h="384563">
                <a:tc>
                  <a:txBody>
                    <a:bodyPr/>
                    <a:lstStyle/>
                    <a:p>
                      <a:pPr algn="ctr"/>
                      <a:r>
                        <a:rPr lang="en-US" sz="1600"/>
                        <a:t>5</a:t>
                      </a:r>
                      <a:endParaRPr lang="en-NZ"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600"/>
                        <a:t>Oliver</a:t>
                      </a:r>
                      <a:endParaRPr lang="en-NZ"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32114916"/>
                  </a:ext>
                </a:extLst>
              </a:tr>
              <a:tr h="384563">
                <a:tc>
                  <a:txBody>
                    <a:bodyPr/>
                    <a:lstStyle/>
                    <a:p>
                      <a:pPr algn="ctr"/>
                      <a:r>
                        <a:rPr lang="en-US" sz="1600"/>
                        <a:t>6</a:t>
                      </a:r>
                      <a:endParaRPr lang="en-NZ"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endParaRPr lang="en-NZ"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75013409"/>
                  </a:ext>
                </a:extLst>
              </a:tr>
              <a:tr h="384563">
                <a:tc>
                  <a:txBody>
                    <a:bodyPr/>
                    <a:lstStyle/>
                    <a:p>
                      <a:pPr algn="ctr"/>
                      <a:r>
                        <a:rPr lang="en-US" sz="1600"/>
                        <a:t>7</a:t>
                      </a:r>
                      <a:endParaRPr lang="en-NZ"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endParaRPr lang="en-NZ"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6337262"/>
                  </a:ext>
                </a:extLst>
              </a:tr>
              <a:tr h="384563">
                <a:tc>
                  <a:txBody>
                    <a:bodyPr/>
                    <a:lstStyle/>
                    <a:p>
                      <a:pPr algn="ctr"/>
                      <a:r>
                        <a:rPr lang="en-US" sz="1600"/>
                        <a:t>8</a:t>
                      </a:r>
                      <a:endParaRPr lang="en-NZ"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endParaRPr lang="en-NZ"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12205236"/>
                  </a:ext>
                </a:extLst>
              </a:tr>
              <a:tr h="384563">
                <a:tc>
                  <a:txBody>
                    <a:bodyPr/>
                    <a:lstStyle/>
                    <a:p>
                      <a:pPr algn="ctr"/>
                      <a:r>
                        <a:rPr lang="en-US" sz="1600"/>
                        <a:t>9</a:t>
                      </a:r>
                      <a:endParaRPr lang="en-NZ"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600"/>
                        <a:t>Daniel</a:t>
                      </a:r>
                      <a:endParaRPr lang="en-NZ"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01507013"/>
                  </a:ext>
                </a:extLst>
              </a:tr>
            </a:tbl>
          </a:graphicData>
        </a:graphic>
      </p:graphicFrame>
      <p:sp>
        <p:nvSpPr>
          <p:cNvPr id="38" name="TextBox 37"/>
          <p:cNvSpPr txBox="1"/>
          <p:nvPr/>
        </p:nvSpPr>
        <p:spPr>
          <a:xfrm>
            <a:off x="6663442" y="1621628"/>
            <a:ext cx="2457724" cy="369332"/>
          </a:xfrm>
          <a:prstGeom prst="rect">
            <a:avLst/>
          </a:prstGeom>
          <a:solidFill>
            <a:srgbClr val="FFFF00"/>
          </a:solidFill>
        </p:spPr>
        <p:txBody>
          <a:bodyPr wrap="none" rtlCol="0">
            <a:spAutoFit/>
          </a:bodyPr>
          <a:lstStyle/>
          <a:p>
            <a:r>
              <a:rPr lang="en-US" b="1" dirty="0"/>
              <a:t>Array: 10 elements </a:t>
            </a:r>
            <a:endParaRPr lang="en-NZ" b="1" dirty="0"/>
          </a:p>
        </p:txBody>
      </p:sp>
      <p:cxnSp>
        <p:nvCxnSpPr>
          <p:cNvPr id="40" name="Straight Arrow Connector 39"/>
          <p:cNvCxnSpPr/>
          <p:nvPr/>
        </p:nvCxnSpPr>
        <p:spPr>
          <a:xfrm>
            <a:off x="4203692" y="3201195"/>
            <a:ext cx="551283"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a:xfrm>
            <a:off x="4754975" y="3201195"/>
            <a:ext cx="955649" cy="2908168"/>
          </a:xfrm>
          <a:prstGeom prst="line">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a:off x="4216611" y="3632375"/>
            <a:ext cx="551283"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flipV="1">
            <a:off x="4780813" y="2654606"/>
            <a:ext cx="929811" cy="977769"/>
          </a:xfrm>
          <a:prstGeom prst="line">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a:off x="4203691" y="4017224"/>
            <a:ext cx="551283"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a:off x="4754974" y="4017224"/>
            <a:ext cx="955650" cy="573976"/>
          </a:xfrm>
          <a:prstGeom prst="line">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p:nvPr/>
        </p:nvCxnSpPr>
        <p:spPr>
          <a:xfrm>
            <a:off x="4203691" y="4381497"/>
            <a:ext cx="551283"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p:nvPr/>
        </p:nvCxnSpPr>
        <p:spPr>
          <a:xfrm>
            <a:off x="4216611" y="4801526"/>
            <a:ext cx="551283"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a:xfrm flipV="1">
            <a:off x="4751467" y="3840876"/>
            <a:ext cx="946237" cy="540621"/>
          </a:xfrm>
          <a:prstGeom prst="line">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a:endCxn id="33" idx="3"/>
          </p:cNvCxnSpPr>
          <p:nvPr/>
        </p:nvCxnSpPr>
        <p:spPr>
          <a:xfrm flipV="1">
            <a:off x="4747960" y="4219232"/>
            <a:ext cx="962664" cy="614713"/>
          </a:xfrm>
          <a:prstGeom prst="line">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grpSp>
        <p:nvGrpSpPr>
          <p:cNvPr id="3" name="Group 2"/>
          <p:cNvGrpSpPr/>
          <p:nvPr/>
        </p:nvGrpSpPr>
        <p:grpSpPr>
          <a:xfrm>
            <a:off x="5710624" y="2666962"/>
            <a:ext cx="1183449" cy="3455754"/>
            <a:chOff x="5710624" y="2555749"/>
            <a:chExt cx="587303" cy="3455754"/>
          </a:xfrm>
        </p:grpSpPr>
        <p:cxnSp>
          <p:nvCxnSpPr>
            <p:cNvPr id="41" name="Straight Arrow Connector 40"/>
            <p:cNvCxnSpPr/>
            <p:nvPr/>
          </p:nvCxnSpPr>
          <p:spPr>
            <a:xfrm>
              <a:off x="5710624" y="6010507"/>
              <a:ext cx="587303" cy="996"/>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a:off x="5714131" y="2555749"/>
              <a:ext cx="583796"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a:off x="5710624" y="4492344"/>
              <a:ext cx="583796"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p:nvPr/>
          </p:nvCxnSpPr>
          <p:spPr>
            <a:xfrm>
              <a:off x="5710624" y="3734061"/>
              <a:ext cx="583796"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p:cNvCxnSpPr/>
            <p:nvPr/>
          </p:nvCxnSpPr>
          <p:spPr>
            <a:xfrm>
              <a:off x="5710624" y="4120376"/>
              <a:ext cx="583796"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23" name="TextBox 22"/>
          <p:cNvSpPr txBox="1"/>
          <p:nvPr/>
        </p:nvSpPr>
        <p:spPr>
          <a:xfrm>
            <a:off x="9045498" y="3452427"/>
            <a:ext cx="3146502" cy="1138773"/>
          </a:xfrm>
          <a:prstGeom prst="rect">
            <a:avLst/>
          </a:prstGeom>
          <a:solidFill>
            <a:schemeClr val="accent6">
              <a:lumMod val="60000"/>
              <a:lumOff val="40000"/>
            </a:schemeClr>
          </a:solidFill>
        </p:spPr>
        <p:txBody>
          <a:bodyPr wrap="none" rtlCol="0">
            <a:spAutoFit/>
          </a:bodyPr>
          <a:lstStyle/>
          <a:p>
            <a:r>
              <a:rPr lang="en-US" sz="2000" b="1" dirty="0">
                <a:latin typeface="+mn-lt"/>
              </a:rPr>
              <a:t>Search process:</a:t>
            </a:r>
          </a:p>
          <a:p>
            <a:r>
              <a:rPr lang="en-US" sz="1600" dirty="0">
                <a:latin typeface="+mn-lt"/>
              </a:rPr>
              <a:t>In order to find “Noor” in the array:</a:t>
            </a:r>
          </a:p>
          <a:p>
            <a:r>
              <a:rPr lang="en-US" sz="1600" dirty="0">
                <a:latin typeface="+mn-lt"/>
              </a:rPr>
              <a:t>+ Convert “Noor” into data key.</a:t>
            </a:r>
          </a:p>
          <a:p>
            <a:r>
              <a:rPr lang="en-US" sz="1600" dirty="0">
                <a:latin typeface="+mn-lt"/>
              </a:rPr>
              <a:t>+ Modulo this data key by 10.</a:t>
            </a:r>
            <a:endParaRPr lang="en-NZ" sz="1600" dirty="0">
              <a:latin typeface="+mn-lt"/>
            </a:endParaRPr>
          </a:p>
        </p:txBody>
      </p:sp>
      <p:sp>
        <p:nvSpPr>
          <p:cNvPr id="2" name="Rectangle 1"/>
          <p:cNvSpPr/>
          <p:nvPr/>
        </p:nvSpPr>
        <p:spPr>
          <a:xfrm>
            <a:off x="5706306" y="5834676"/>
            <a:ext cx="1111202" cy="307777"/>
          </a:xfrm>
          <a:prstGeom prst="rect">
            <a:avLst/>
          </a:prstGeom>
        </p:spPr>
        <p:txBody>
          <a:bodyPr wrap="none">
            <a:spAutoFit/>
          </a:bodyPr>
          <a:lstStyle/>
          <a:p>
            <a:r>
              <a:rPr lang="en-US" sz="1400">
                <a:solidFill>
                  <a:srgbClr val="0000FF"/>
                </a:solidFill>
                <a:latin typeface="+mn-lt"/>
              </a:rPr>
              <a:t>589 % 10 = 9</a:t>
            </a:r>
            <a:endParaRPr lang="en-NZ" sz="1400">
              <a:latin typeface="+mn-lt"/>
            </a:endParaRPr>
          </a:p>
        </p:txBody>
      </p:sp>
      <p:sp>
        <p:nvSpPr>
          <p:cNvPr id="30" name="Rectangle 29"/>
          <p:cNvSpPr/>
          <p:nvPr/>
        </p:nvSpPr>
        <p:spPr>
          <a:xfrm>
            <a:off x="5709049" y="4365328"/>
            <a:ext cx="1111202" cy="307777"/>
          </a:xfrm>
          <a:prstGeom prst="rect">
            <a:avLst/>
          </a:prstGeom>
        </p:spPr>
        <p:txBody>
          <a:bodyPr wrap="none">
            <a:spAutoFit/>
          </a:bodyPr>
          <a:lstStyle/>
          <a:p>
            <a:r>
              <a:rPr lang="en-US" sz="1400">
                <a:solidFill>
                  <a:srgbClr val="0000FF"/>
                </a:solidFill>
                <a:latin typeface="+mn-lt"/>
              </a:rPr>
              <a:t>625 % 10 = 5</a:t>
            </a:r>
            <a:endParaRPr lang="en-NZ" sz="1400">
              <a:latin typeface="+mn-lt"/>
            </a:endParaRPr>
          </a:p>
        </p:txBody>
      </p:sp>
      <p:sp>
        <p:nvSpPr>
          <p:cNvPr id="39" name="Rectangle 38"/>
          <p:cNvSpPr/>
          <p:nvPr/>
        </p:nvSpPr>
        <p:spPr>
          <a:xfrm>
            <a:off x="5712160" y="3970508"/>
            <a:ext cx="1111202" cy="307777"/>
          </a:xfrm>
          <a:prstGeom prst="rect">
            <a:avLst/>
          </a:prstGeom>
        </p:spPr>
        <p:txBody>
          <a:bodyPr wrap="none">
            <a:spAutoFit/>
          </a:bodyPr>
          <a:lstStyle/>
          <a:p>
            <a:r>
              <a:rPr lang="en-US" sz="1400">
                <a:solidFill>
                  <a:srgbClr val="0000FF"/>
                </a:solidFill>
                <a:latin typeface="+mn-lt"/>
              </a:rPr>
              <a:t>414 % 10 = 4</a:t>
            </a:r>
            <a:endParaRPr lang="en-NZ" sz="1400">
              <a:latin typeface="+mn-lt"/>
            </a:endParaRPr>
          </a:p>
        </p:txBody>
      </p:sp>
      <p:sp>
        <p:nvSpPr>
          <p:cNvPr id="46" name="Rectangle 45"/>
          <p:cNvSpPr/>
          <p:nvPr/>
        </p:nvSpPr>
        <p:spPr>
          <a:xfrm>
            <a:off x="5704719" y="3580326"/>
            <a:ext cx="1111202" cy="307777"/>
          </a:xfrm>
          <a:prstGeom prst="rect">
            <a:avLst/>
          </a:prstGeom>
        </p:spPr>
        <p:txBody>
          <a:bodyPr wrap="none">
            <a:spAutoFit/>
          </a:bodyPr>
          <a:lstStyle/>
          <a:p>
            <a:r>
              <a:rPr lang="en-US" sz="1400">
                <a:solidFill>
                  <a:srgbClr val="0000FF"/>
                </a:solidFill>
                <a:latin typeface="+mn-lt"/>
              </a:rPr>
              <a:t>393 % 10 = 3</a:t>
            </a:r>
            <a:endParaRPr lang="en-NZ" sz="1400">
              <a:latin typeface="+mn-lt"/>
            </a:endParaRPr>
          </a:p>
        </p:txBody>
      </p:sp>
      <p:sp>
        <p:nvSpPr>
          <p:cNvPr id="47" name="Rectangle 46"/>
          <p:cNvSpPr/>
          <p:nvPr/>
        </p:nvSpPr>
        <p:spPr>
          <a:xfrm>
            <a:off x="5733267" y="2373093"/>
            <a:ext cx="1111202" cy="307777"/>
          </a:xfrm>
          <a:prstGeom prst="rect">
            <a:avLst/>
          </a:prstGeom>
        </p:spPr>
        <p:txBody>
          <a:bodyPr wrap="none">
            <a:spAutoFit/>
          </a:bodyPr>
          <a:lstStyle/>
          <a:p>
            <a:r>
              <a:rPr lang="en-US" sz="1400">
                <a:solidFill>
                  <a:srgbClr val="0000FF"/>
                </a:solidFill>
                <a:latin typeface="+mn-lt"/>
              </a:rPr>
              <a:t>280 % 10 = 0</a:t>
            </a:r>
            <a:endParaRPr lang="en-NZ" sz="1400">
              <a:latin typeface="+mn-lt"/>
            </a:endParaRPr>
          </a:p>
        </p:txBody>
      </p:sp>
      <p:sp>
        <p:nvSpPr>
          <p:cNvPr id="49" name="TextBox 48">
            <a:extLst>
              <a:ext uri="{FF2B5EF4-FFF2-40B4-BE49-F238E27FC236}">
                <a16:creationId xmlns:a16="http://schemas.microsoft.com/office/drawing/2014/main" id="{A2E0EAF5-0214-4E18-8D2B-A37E58C822FB}"/>
              </a:ext>
            </a:extLst>
          </p:cNvPr>
          <p:cNvSpPr txBox="1"/>
          <p:nvPr/>
        </p:nvSpPr>
        <p:spPr>
          <a:xfrm>
            <a:off x="218802" y="1694664"/>
            <a:ext cx="4389631" cy="646331"/>
          </a:xfrm>
          <a:prstGeom prst="rect">
            <a:avLst/>
          </a:prstGeom>
          <a:solidFill>
            <a:srgbClr val="FFFF00"/>
          </a:solidFill>
        </p:spPr>
        <p:txBody>
          <a:bodyPr wrap="square">
            <a:spAutoFit/>
          </a:bodyPr>
          <a:lstStyle/>
          <a:p>
            <a:r>
              <a:rPr lang="en-NZ" b="1" dirty="0">
                <a:latin typeface="+mn-lt"/>
              </a:rPr>
              <a:t>Index = “Data Key” mod 10  (because array size = 10)</a:t>
            </a:r>
          </a:p>
        </p:txBody>
      </p:sp>
    </p:spTree>
    <p:extLst>
      <p:ext uri="{BB962C8B-B14F-4D97-AF65-F5344CB8AC3E}">
        <p14:creationId xmlns:p14="http://schemas.microsoft.com/office/powerpoint/2010/main" val="9138000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9A369C0E-397F-4AD1-8822-C168D81A27BB}"/>
              </a:ext>
            </a:extLst>
          </p:cNvPr>
          <p:cNvSpPr txBox="1">
            <a:spLocks/>
          </p:cNvSpPr>
          <p:nvPr/>
        </p:nvSpPr>
        <p:spPr>
          <a:xfrm>
            <a:off x="148045" y="0"/>
            <a:ext cx="4007482" cy="631371"/>
          </a:xfrm>
          <a:prstGeom prst="rect">
            <a:avLst/>
          </a:prstGeom>
          <a:solidFill>
            <a:srgbClr val="FFC000"/>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pPr>
            <a:r>
              <a:rPr lang="en-US" sz="2400" b="1" u="sng" dirty="0">
                <a:latin typeface="+mn-lt"/>
              </a:rPr>
              <a:t>Step 3</a:t>
            </a:r>
            <a:r>
              <a:rPr lang="en-US" sz="2400" b="1" dirty="0">
                <a:latin typeface="+mn-lt"/>
              </a:rPr>
              <a:t>: COLLISION</a:t>
            </a:r>
            <a:endParaRPr lang="en-NZ" sz="2400" b="1" dirty="0">
              <a:latin typeface="+mn-lt"/>
            </a:endParaRPr>
          </a:p>
        </p:txBody>
      </p:sp>
      <p:graphicFrame>
        <p:nvGraphicFramePr>
          <p:cNvPr id="58" name="Table 57"/>
          <p:cNvGraphicFramePr>
            <a:graphicFrameLocks noGrp="1"/>
          </p:cNvGraphicFramePr>
          <p:nvPr>
            <p:extLst>
              <p:ext uri="{D42A27DB-BD31-4B8C-83A1-F6EECF244321}">
                <p14:modId xmlns:p14="http://schemas.microsoft.com/office/powerpoint/2010/main" val="2885960064"/>
              </p:ext>
            </p:extLst>
          </p:nvPr>
        </p:nvGraphicFramePr>
        <p:xfrm>
          <a:off x="148045" y="2617318"/>
          <a:ext cx="1003852" cy="2717456"/>
        </p:xfrm>
        <a:graphic>
          <a:graphicData uri="http://schemas.openxmlformats.org/drawingml/2006/table">
            <a:tbl>
              <a:tblPr firstRow="1" bandRow="1">
                <a:tableStyleId>{5C22544A-7EE6-4342-B048-85BDC9FD1C3A}</a:tableStyleId>
              </a:tblPr>
              <a:tblGrid>
                <a:gridCol w="1003852">
                  <a:extLst>
                    <a:ext uri="{9D8B030D-6E8A-4147-A177-3AD203B41FA5}">
                      <a16:colId xmlns:a16="http://schemas.microsoft.com/office/drawing/2014/main" val="2888717661"/>
                    </a:ext>
                  </a:extLst>
                </a:gridCol>
              </a:tblGrid>
              <a:tr h="388208">
                <a:tc>
                  <a:txBody>
                    <a:bodyPr/>
                    <a:lstStyle/>
                    <a:p>
                      <a:pPr algn="l"/>
                      <a:r>
                        <a:rPr lang="en-US" sz="1800" b="0" dirty="0">
                          <a:solidFill>
                            <a:srgbClr val="0000FF"/>
                          </a:solidFill>
                        </a:rPr>
                        <a:t>Daniel</a:t>
                      </a:r>
                      <a:endParaRPr lang="en-NZ" sz="1800" b="0" dirty="0">
                        <a:solidFill>
                          <a:srgbClr val="0000FF"/>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639761752"/>
                  </a:ext>
                </a:extLst>
              </a:tr>
              <a:tr h="388208">
                <a:tc>
                  <a:txBody>
                    <a:bodyPr/>
                    <a:lstStyle/>
                    <a:p>
                      <a:pPr algn="l"/>
                      <a:r>
                        <a:rPr lang="en-US" sz="1800" b="0" dirty="0">
                          <a:solidFill>
                            <a:srgbClr val="0000FF"/>
                          </a:solidFill>
                        </a:rPr>
                        <a:t>Ian</a:t>
                      </a:r>
                      <a:endParaRPr lang="en-NZ" sz="1800" b="0" dirty="0">
                        <a:solidFill>
                          <a:srgbClr val="0000FF"/>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992471431"/>
                  </a:ext>
                </a:extLst>
              </a:tr>
              <a:tr h="388208">
                <a:tc>
                  <a:txBody>
                    <a:bodyPr/>
                    <a:lstStyle/>
                    <a:p>
                      <a:pPr algn="l"/>
                      <a:r>
                        <a:rPr lang="en-US" sz="1800" b="0" dirty="0">
                          <a:solidFill>
                            <a:srgbClr val="FF0000"/>
                          </a:solidFill>
                        </a:rPr>
                        <a:t>John</a:t>
                      </a:r>
                      <a:endParaRPr lang="en-NZ" sz="1800" b="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438175812"/>
                  </a:ext>
                </a:extLst>
              </a:tr>
              <a:tr h="388208">
                <a:tc>
                  <a:txBody>
                    <a:bodyPr/>
                    <a:lstStyle/>
                    <a:p>
                      <a:pPr algn="l"/>
                      <a:r>
                        <a:rPr lang="en-US" sz="1800" b="0">
                          <a:solidFill>
                            <a:srgbClr val="0000FF"/>
                          </a:solidFill>
                        </a:rPr>
                        <a:t>Oliver</a:t>
                      </a:r>
                      <a:endParaRPr lang="en-NZ" sz="1800" b="0">
                        <a:solidFill>
                          <a:srgbClr val="0000FF"/>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8431665"/>
                  </a:ext>
                </a:extLst>
              </a:tr>
              <a:tr h="388208">
                <a:tc>
                  <a:txBody>
                    <a:bodyPr/>
                    <a:lstStyle/>
                    <a:p>
                      <a:pPr algn="l"/>
                      <a:r>
                        <a:rPr lang="en-US" sz="1800" b="0">
                          <a:solidFill>
                            <a:srgbClr val="0000FF"/>
                          </a:solidFill>
                        </a:rPr>
                        <a:t>Emre</a:t>
                      </a:r>
                      <a:endParaRPr lang="en-NZ" sz="1800" b="0">
                        <a:solidFill>
                          <a:srgbClr val="0000FF"/>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04628039"/>
                  </a:ext>
                </a:extLst>
              </a:tr>
              <a:tr h="388208">
                <a:tc>
                  <a:txBody>
                    <a:bodyPr/>
                    <a:lstStyle/>
                    <a:p>
                      <a:pPr algn="l"/>
                      <a:r>
                        <a:rPr lang="en-US" sz="1800" b="0" dirty="0">
                          <a:solidFill>
                            <a:srgbClr val="0000FF"/>
                          </a:solidFill>
                        </a:rPr>
                        <a:t>Noor</a:t>
                      </a:r>
                      <a:endParaRPr lang="en-NZ" sz="1800" b="0" dirty="0">
                        <a:solidFill>
                          <a:srgbClr val="0000FF"/>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06061505"/>
                  </a:ext>
                </a:extLst>
              </a:tr>
              <a:tr h="388208">
                <a:tc>
                  <a:txBody>
                    <a:bodyPr/>
                    <a:lstStyle/>
                    <a:p>
                      <a:pPr algn="l"/>
                      <a:r>
                        <a:rPr lang="en-US" sz="1800" b="0" dirty="0">
                          <a:solidFill>
                            <a:srgbClr val="FF0000"/>
                          </a:solidFill>
                        </a:rPr>
                        <a:t>Aman</a:t>
                      </a:r>
                      <a:endParaRPr lang="en-NZ" sz="1800" b="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4124836209"/>
                  </a:ext>
                </a:extLst>
              </a:tr>
            </a:tbl>
          </a:graphicData>
        </a:graphic>
      </p:graphicFrame>
      <p:sp>
        <p:nvSpPr>
          <p:cNvPr id="59" name="TextBox 58"/>
          <p:cNvSpPr txBox="1"/>
          <p:nvPr/>
        </p:nvSpPr>
        <p:spPr>
          <a:xfrm>
            <a:off x="318790" y="2113298"/>
            <a:ext cx="731290" cy="369332"/>
          </a:xfrm>
          <a:prstGeom prst="rect">
            <a:avLst/>
          </a:prstGeom>
          <a:solidFill>
            <a:srgbClr val="FFFF00"/>
          </a:solidFill>
        </p:spPr>
        <p:txBody>
          <a:bodyPr wrap="none" rtlCol="0">
            <a:spAutoFit/>
          </a:bodyPr>
          <a:lstStyle/>
          <a:p>
            <a:r>
              <a:rPr lang="en-US" b="1"/>
              <a:t>Data</a:t>
            </a:r>
            <a:endParaRPr lang="en-NZ" b="1"/>
          </a:p>
        </p:txBody>
      </p:sp>
      <p:sp>
        <p:nvSpPr>
          <p:cNvPr id="60" name="Rectangle 59"/>
          <p:cNvSpPr/>
          <p:nvPr/>
        </p:nvSpPr>
        <p:spPr>
          <a:xfrm>
            <a:off x="1703180" y="1894698"/>
            <a:ext cx="942730" cy="3774488"/>
          </a:xfrm>
          <a:prstGeom prst="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sz="3200" b="1" dirty="0">
                <a:solidFill>
                  <a:srgbClr val="990000"/>
                </a:solidFill>
              </a:rPr>
              <a:t>Calculate “data key”</a:t>
            </a:r>
          </a:p>
          <a:p>
            <a:pPr algn="ctr"/>
            <a:r>
              <a:rPr lang="en-US" sz="3200" b="1" dirty="0">
                <a:solidFill>
                  <a:srgbClr val="990000"/>
                </a:solidFill>
              </a:rPr>
              <a:t>By using ASCII code</a:t>
            </a:r>
            <a:endParaRPr lang="en-NZ" sz="3200" b="1" dirty="0">
              <a:solidFill>
                <a:srgbClr val="990000"/>
              </a:solidFill>
            </a:endParaRPr>
          </a:p>
        </p:txBody>
      </p:sp>
      <p:grpSp>
        <p:nvGrpSpPr>
          <p:cNvPr id="61" name="Group 60"/>
          <p:cNvGrpSpPr/>
          <p:nvPr/>
        </p:nvGrpSpPr>
        <p:grpSpPr>
          <a:xfrm>
            <a:off x="1151897" y="2858165"/>
            <a:ext cx="2147113" cy="0"/>
            <a:chOff x="7946436" y="3976395"/>
            <a:chExt cx="2147113" cy="0"/>
          </a:xfrm>
        </p:grpSpPr>
        <p:cxnSp>
          <p:nvCxnSpPr>
            <p:cNvPr id="62" name="Straight Arrow Connector 61"/>
            <p:cNvCxnSpPr/>
            <p:nvPr/>
          </p:nvCxnSpPr>
          <p:spPr>
            <a:xfrm>
              <a:off x="7946436" y="3976395"/>
              <a:ext cx="551283"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p:cNvCxnSpPr/>
            <p:nvPr/>
          </p:nvCxnSpPr>
          <p:spPr>
            <a:xfrm>
              <a:off x="9376190" y="3976395"/>
              <a:ext cx="717359"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4" name="Straight Connector 63"/>
            <p:cNvCxnSpPr/>
            <p:nvPr/>
          </p:nvCxnSpPr>
          <p:spPr>
            <a:xfrm>
              <a:off x="8497719" y="3976395"/>
              <a:ext cx="940173"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graphicFrame>
        <p:nvGraphicFramePr>
          <p:cNvPr id="65" name="Table 64"/>
          <p:cNvGraphicFramePr>
            <a:graphicFrameLocks noGrp="1"/>
          </p:cNvGraphicFramePr>
          <p:nvPr>
            <p:extLst>
              <p:ext uri="{D42A27DB-BD31-4B8C-83A1-F6EECF244321}">
                <p14:modId xmlns:p14="http://schemas.microsoft.com/office/powerpoint/2010/main" val="2255310659"/>
              </p:ext>
            </p:extLst>
          </p:nvPr>
        </p:nvGraphicFramePr>
        <p:xfrm>
          <a:off x="3299010" y="2617318"/>
          <a:ext cx="4007482" cy="2717456"/>
        </p:xfrm>
        <a:graphic>
          <a:graphicData uri="http://schemas.openxmlformats.org/drawingml/2006/table">
            <a:tbl>
              <a:tblPr firstRow="1" bandRow="1">
                <a:tableStyleId>{5C22544A-7EE6-4342-B048-85BDC9FD1C3A}</a:tableStyleId>
              </a:tblPr>
              <a:tblGrid>
                <a:gridCol w="3101480">
                  <a:extLst>
                    <a:ext uri="{9D8B030D-6E8A-4147-A177-3AD203B41FA5}">
                      <a16:colId xmlns:a16="http://schemas.microsoft.com/office/drawing/2014/main" val="2888717661"/>
                    </a:ext>
                  </a:extLst>
                </a:gridCol>
                <a:gridCol w="906002">
                  <a:extLst>
                    <a:ext uri="{9D8B030D-6E8A-4147-A177-3AD203B41FA5}">
                      <a16:colId xmlns:a16="http://schemas.microsoft.com/office/drawing/2014/main" val="3260840905"/>
                    </a:ext>
                  </a:extLst>
                </a:gridCol>
              </a:tblGrid>
              <a:tr h="388208">
                <a:tc>
                  <a:txBody>
                    <a:bodyPr/>
                    <a:lstStyle/>
                    <a:p>
                      <a:pPr algn="l"/>
                      <a:r>
                        <a:rPr lang="en-US" sz="1400" b="0">
                          <a:solidFill>
                            <a:srgbClr val="0000FF"/>
                          </a:solidFill>
                        </a:rPr>
                        <a:t>68 + 97 + 110 + 105 + 101 + 108 </a:t>
                      </a:r>
                      <a:r>
                        <a:rPr lang="en-US" sz="1400" b="0">
                          <a:solidFill>
                            <a:srgbClr val="FF0000"/>
                          </a:solidFill>
                        </a:rPr>
                        <a:t>= 589</a:t>
                      </a:r>
                      <a:endParaRPr lang="en-NZ" sz="1400" b="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60000"/>
                        <a:lumOff val="40000"/>
                      </a:schemeClr>
                    </a:solidFill>
                  </a:tcPr>
                </a:tc>
                <a:tc>
                  <a:txBody>
                    <a:bodyPr/>
                    <a:lstStyle/>
                    <a:p>
                      <a:pPr algn="l"/>
                      <a:r>
                        <a:rPr lang="en-US" sz="1800" b="0" dirty="0">
                          <a:solidFill>
                            <a:srgbClr val="0000FF"/>
                          </a:solidFill>
                        </a:rPr>
                        <a:t>Daniel</a:t>
                      </a:r>
                      <a:endParaRPr lang="en-NZ" sz="1800" b="0" dirty="0">
                        <a:solidFill>
                          <a:srgbClr val="0000FF"/>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639761752"/>
                  </a:ext>
                </a:extLst>
              </a:tr>
              <a:tr h="388208">
                <a:tc>
                  <a:txBody>
                    <a:bodyPr/>
                    <a:lstStyle/>
                    <a:p>
                      <a:pPr algn="l"/>
                      <a:r>
                        <a:rPr lang="en-US" sz="1400" b="0">
                          <a:solidFill>
                            <a:srgbClr val="0000FF"/>
                          </a:solidFill>
                        </a:rPr>
                        <a:t>73 + 97 +</a:t>
                      </a:r>
                      <a:r>
                        <a:rPr lang="en-US" sz="1400" b="0" baseline="0">
                          <a:solidFill>
                            <a:srgbClr val="0000FF"/>
                          </a:solidFill>
                        </a:rPr>
                        <a:t> 110 = 280</a:t>
                      </a:r>
                      <a:endParaRPr lang="en-NZ" sz="1400" b="0" dirty="0">
                        <a:solidFill>
                          <a:srgbClr val="0000FF"/>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60000"/>
                        <a:lumOff val="40000"/>
                      </a:schemeClr>
                    </a:solidFill>
                  </a:tcPr>
                </a:tc>
                <a:tc>
                  <a:txBody>
                    <a:bodyPr/>
                    <a:lstStyle/>
                    <a:p>
                      <a:pPr algn="l"/>
                      <a:r>
                        <a:rPr lang="en-US" sz="1800" b="0" dirty="0">
                          <a:solidFill>
                            <a:srgbClr val="0000FF"/>
                          </a:solidFill>
                        </a:rPr>
                        <a:t>Ian</a:t>
                      </a:r>
                      <a:endParaRPr lang="en-NZ" sz="1800" b="0" dirty="0">
                        <a:solidFill>
                          <a:srgbClr val="0000FF"/>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992471431"/>
                  </a:ext>
                </a:extLst>
              </a:tr>
              <a:tr h="388208">
                <a:tc>
                  <a:txBody>
                    <a:bodyPr/>
                    <a:lstStyle/>
                    <a:p>
                      <a:pPr algn="l"/>
                      <a:r>
                        <a:rPr lang="en-US" sz="1400" b="0" dirty="0">
                          <a:solidFill>
                            <a:srgbClr val="0000FF"/>
                          </a:solidFill>
                        </a:rPr>
                        <a:t>74 + 111 + 104 + 110 = </a:t>
                      </a:r>
                      <a:r>
                        <a:rPr lang="en-US" sz="1400" b="0" dirty="0">
                          <a:solidFill>
                            <a:srgbClr val="FF0000"/>
                          </a:solidFill>
                        </a:rPr>
                        <a:t>399</a:t>
                      </a:r>
                      <a:endParaRPr lang="en-NZ" sz="1400" b="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l"/>
                      <a:r>
                        <a:rPr lang="en-US" sz="1800" b="0" dirty="0">
                          <a:solidFill>
                            <a:srgbClr val="FF0000"/>
                          </a:solidFill>
                        </a:rPr>
                        <a:t>John</a:t>
                      </a:r>
                      <a:endParaRPr lang="en-NZ" sz="1800" b="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438175812"/>
                  </a:ext>
                </a:extLst>
              </a:tr>
              <a:tr h="388208">
                <a:tc>
                  <a:txBody>
                    <a:bodyPr/>
                    <a:lstStyle/>
                    <a:p>
                      <a:pPr algn="l"/>
                      <a:r>
                        <a:rPr lang="en-US" sz="1400" b="0">
                          <a:solidFill>
                            <a:srgbClr val="0000FF"/>
                          </a:solidFill>
                        </a:rPr>
                        <a:t>79</a:t>
                      </a:r>
                      <a:r>
                        <a:rPr lang="en-US" sz="1400" b="0" baseline="0">
                          <a:solidFill>
                            <a:srgbClr val="0000FF"/>
                          </a:solidFill>
                        </a:rPr>
                        <a:t> + 108 + 105 + 118 + 101 + 114 = 625</a:t>
                      </a:r>
                      <a:endParaRPr lang="en-NZ" sz="1400" b="0">
                        <a:solidFill>
                          <a:srgbClr val="0000FF"/>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60000"/>
                        <a:lumOff val="40000"/>
                      </a:schemeClr>
                    </a:solidFill>
                  </a:tcPr>
                </a:tc>
                <a:tc>
                  <a:txBody>
                    <a:bodyPr/>
                    <a:lstStyle/>
                    <a:p>
                      <a:pPr algn="l"/>
                      <a:r>
                        <a:rPr lang="en-US" sz="1800" b="0">
                          <a:solidFill>
                            <a:srgbClr val="0000FF"/>
                          </a:solidFill>
                        </a:rPr>
                        <a:t>Oliver</a:t>
                      </a:r>
                      <a:endParaRPr lang="en-NZ" sz="1800" b="0">
                        <a:solidFill>
                          <a:srgbClr val="0000FF"/>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8431665"/>
                  </a:ext>
                </a:extLst>
              </a:tr>
              <a:tr h="388208">
                <a:tc>
                  <a:txBody>
                    <a:bodyPr/>
                    <a:lstStyle/>
                    <a:p>
                      <a:pPr algn="l"/>
                      <a:r>
                        <a:rPr lang="en-US" sz="1400" b="0">
                          <a:solidFill>
                            <a:srgbClr val="0000FF"/>
                          </a:solidFill>
                        </a:rPr>
                        <a:t>69 + 109 + 114 + 101 = 393</a:t>
                      </a:r>
                      <a:endParaRPr lang="en-NZ" sz="1400" b="0">
                        <a:solidFill>
                          <a:srgbClr val="0000FF"/>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60000"/>
                        <a:lumOff val="40000"/>
                      </a:schemeClr>
                    </a:solidFill>
                  </a:tcPr>
                </a:tc>
                <a:tc>
                  <a:txBody>
                    <a:bodyPr/>
                    <a:lstStyle/>
                    <a:p>
                      <a:pPr algn="l"/>
                      <a:r>
                        <a:rPr lang="en-US" sz="1800" b="0">
                          <a:solidFill>
                            <a:srgbClr val="0000FF"/>
                          </a:solidFill>
                        </a:rPr>
                        <a:t>Emre</a:t>
                      </a:r>
                      <a:endParaRPr lang="en-NZ" sz="1800" b="0">
                        <a:solidFill>
                          <a:srgbClr val="0000FF"/>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04628039"/>
                  </a:ext>
                </a:extLst>
              </a:tr>
              <a:tr h="388208">
                <a:tc>
                  <a:txBody>
                    <a:bodyPr/>
                    <a:lstStyle/>
                    <a:p>
                      <a:pPr algn="l"/>
                      <a:r>
                        <a:rPr lang="en-US" sz="1400" b="0">
                          <a:solidFill>
                            <a:srgbClr val="0000FF"/>
                          </a:solidFill>
                        </a:rPr>
                        <a:t>78 + 111 + 111 + 114 = 414</a:t>
                      </a:r>
                      <a:endParaRPr lang="en-NZ" sz="1400" b="0" dirty="0">
                        <a:solidFill>
                          <a:srgbClr val="0000FF"/>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60000"/>
                        <a:lumOff val="40000"/>
                      </a:schemeClr>
                    </a:solidFill>
                  </a:tcPr>
                </a:tc>
                <a:tc>
                  <a:txBody>
                    <a:bodyPr/>
                    <a:lstStyle/>
                    <a:p>
                      <a:pPr algn="l"/>
                      <a:r>
                        <a:rPr lang="en-US" sz="1800" b="0" dirty="0">
                          <a:solidFill>
                            <a:srgbClr val="0000FF"/>
                          </a:solidFill>
                        </a:rPr>
                        <a:t>Noor</a:t>
                      </a:r>
                      <a:endParaRPr lang="en-NZ" sz="1800" b="0" dirty="0">
                        <a:solidFill>
                          <a:srgbClr val="0000FF"/>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06061505"/>
                  </a:ext>
                </a:extLst>
              </a:tr>
              <a:tr h="388208">
                <a:tc>
                  <a:txBody>
                    <a:bodyPr/>
                    <a:lstStyle/>
                    <a:p>
                      <a:pPr algn="l"/>
                      <a:r>
                        <a:rPr lang="en-US" sz="1400" b="0" dirty="0">
                          <a:solidFill>
                            <a:srgbClr val="FF0000"/>
                          </a:solidFill>
                        </a:rPr>
                        <a:t>65 + 109 + 97 + 110 = 381</a:t>
                      </a:r>
                      <a:endParaRPr lang="en-NZ" sz="1400" b="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l"/>
                      <a:r>
                        <a:rPr lang="en-US" sz="1800" b="0" dirty="0">
                          <a:solidFill>
                            <a:srgbClr val="FF0000"/>
                          </a:solidFill>
                        </a:rPr>
                        <a:t>Aman</a:t>
                      </a:r>
                      <a:endParaRPr lang="en-NZ" sz="1800" b="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2142797811"/>
                  </a:ext>
                </a:extLst>
              </a:tr>
            </a:tbl>
          </a:graphicData>
        </a:graphic>
      </p:graphicFrame>
      <p:sp>
        <p:nvSpPr>
          <p:cNvPr id="66" name="TextBox 65"/>
          <p:cNvSpPr txBox="1"/>
          <p:nvPr/>
        </p:nvSpPr>
        <p:spPr>
          <a:xfrm>
            <a:off x="3443440" y="2181922"/>
            <a:ext cx="1056828" cy="369332"/>
          </a:xfrm>
          <a:prstGeom prst="rect">
            <a:avLst/>
          </a:prstGeom>
          <a:solidFill>
            <a:srgbClr val="FFFF00"/>
          </a:solidFill>
        </p:spPr>
        <p:txBody>
          <a:bodyPr wrap="none" rtlCol="0">
            <a:spAutoFit/>
          </a:bodyPr>
          <a:lstStyle/>
          <a:p>
            <a:r>
              <a:rPr lang="en-US" b="1" dirty="0">
                <a:latin typeface="+mn-lt"/>
              </a:rPr>
              <a:t>Hash Key</a:t>
            </a:r>
            <a:endParaRPr lang="en-NZ" b="1" dirty="0">
              <a:latin typeface="+mn-lt"/>
            </a:endParaRPr>
          </a:p>
        </p:txBody>
      </p:sp>
      <p:sp>
        <p:nvSpPr>
          <p:cNvPr id="67" name="TextBox 66"/>
          <p:cNvSpPr txBox="1"/>
          <p:nvPr/>
        </p:nvSpPr>
        <p:spPr>
          <a:xfrm>
            <a:off x="6618073" y="2208473"/>
            <a:ext cx="633956" cy="369332"/>
          </a:xfrm>
          <a:prstGeom prst="rect">
            <a:avLst/>
          </a:prstGeom>
          <a:solidFill>
            <a:srgbClr val="FFFF00"/>
          </a:solidFill>
        </p:spPr>
        <p:txBody>
          <a:bodyPr wrap="none" rtlCol="0">
            <a:spAutoFit/>
          </a:bodyPr>
          <a:lstStyle/>
          <a:p>
            <a:r>
              <a:rPr lang="en-US" b="1">
                <a:latin typeface="+mn-lt"/>
              </a:rPr>
              <a:t>Data</a:t>
            </a:r>
            <a:endParaRPr lang="en-NZ" b="1">
              <a:latin typeface="+mn-lt"/>
            </a:endParaRPr>
          </a:p>
        </p:txBody>
      </p:sp>
      <p:grpSp>
        <p:nvGrpSpPr>
          <p:cNvPr id="68" name="Group 67"/>
          <p:cNvGrpSpPr/>
          <p:nvPr/>
        </p:nvGrpSpPr>
        <p:grpSpPr>
          <a:xfrm>
            <a:off x="1151897" y="3188365"/>
            <a:ext cx="2147113" cy="0"/>
            <a:chOff x="7946436" y="3976395"/>
            <a:chExt cx="2147113" cy="0"/>
          </a:xfrm>
        </p:grpSpPr>
        <p:cxnSp>
          <p:nvCxnSpPr>
            <p:cNvPr id="69" name="Straight Arrow Connector 68"/>
            <p:cNvCxnSpPr/>
            <p:nvPr/>
          </p:nvCxnSpPr>
          <p:spPr>
            <a:xfrm>
              <a:off x="7946436" y="3976395"/>
              <a:ext cx="551283"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0" name="Straight Arrow Connector 69"/>
            <p:cNvCxnSpPr/>
            <p:nvPr/>
          </p:nvCxnSpPr>
          <p:spPr>
            <a:xfrm>
              <a:off x="9376190" y="3976395"/>
              <a:ext cx="717359"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1" name="Straight Connector 70"/>
            <p:cNvCxnSpPr/>
            <p:nvPr/>
          </p:nvCxnSpPr>
          <p:spPr>
            <a:xfrm>
              <a:off x="8497719" y="3976395"/>
              <a:ext cx="940173"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72" name="Group 71"/>
          <p:cNvGrpSpPr/>
          <p:nvPr/>
        </p:nvGrpSpPr>
        <p:grpSpPr>
          <a:xfrm>
            <a:off x="1151897" y="3594765"/>
            <a:ext cx="2147113" cy="0"/>
            <a:chOff x="7946436" y="3976395"/>
            <a:chExt cx="2147113" cy="0"/>
          </a:xfrm>
        </p:grpSpPr>
        <p:cxnSp>
          <p:nvCxnSpPr>
            <p:cNvPr id="73" name="Straight Arrow Connector 72"/>
            <p:cNvCxnSpPr/>
            <p:nvPr/>
          </p:nvCxnSpPr>
          <p:spPr>
            <a:xfrm>
              <a:off x="7946436" y="3976395"/>
              <a:ext cx="551283"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p:cNvCxnSpPr/>
            <p:nvPr/>
          </p:nvCxnSpPr>
          <p:spPr>
            <a:xfrm>
              <a:off x="9376190" y="3976395"/>
              <a:ext cx="717359"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5" name="Straight Connector 74"/>
            <p:cNvCxnSpPr/>
            <p:nvPr/>
          </p:nvCxnSpPr>
          <p:spPr>
            <a:xfrm>
              <a:off x="8497719" y="3976395"/>
              <a:ext cx="940173"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76" name="Group 75"/>
          <p:cNvGrpSpPr/>
          <p:nvPr/>
        </p:nvGrpSpPr>
        <p:grpSpPr>
          <a:xfrm>
            <a:off x="1151897" y="4013865"/>
            <a:ext cx="2147113" cy="0"/>
            <a:chOff x="7946436" y="3976395"/>
            <a:chExt cx="2147113" cy="0"/>
          </a:xfrm>
        </p:grpSpPr>
        <p:cxnSp>
          <p:nvCxnSpPr>
            <p:cNvPr id="77" name="Straight Arrow Connector 76"/>
            <p:cNvCxnSpPr/>
            <p:nvPr/>
          </p:nvCxnSpPr>
          <p:spPr>
            <a:xfrm>
              <a:off x="7946436" y="3976395"/>
              <a:ext cx="551283"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8" name="Straight Arrow Connector 77"/>
            <p:cNvCxnSpPr/>
            <p:nvPr/>
          </p:nvCxnSpPr>
          <p:spPr>
            <a:xfrm>
              <a:off x="9376190" y="3976395"/>
              <a:ext cx="717359"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9" name="Straight Connector 78"/>
            <p:cNvCxnSpPr/>
            <p:nvPr/>
          </p:nvCxnSpPr>
          <p:spPr>
            <a:xfrm>
              <a:off x="8497719" y="3976395"/>
              <a:ext cx="940173"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80" name="Group 79"/>
          <p:cNvGrpSpPr/>
          <p:nvPr/>
        </p:nvGrpSpPr>
        <p:grpSpPr>
          <a:xfrm>
            <a:off x="1151897" y="4394865"/>
            <a:ext cx="2147113" cy="0"/>
            <a:chOff x="7946436" y="3976395"/>
            <a:chExt cx="2147113" cy="0"/>
          </a:xfrm>
        </p:grpSpPr>
        <p:cxnSp>
          <p:nvCxnSpPr>
            <p:cNvPr id="81" name="Straight Arrow Connector 80"/>
            <p:cNvCxnSpPr/>
            <p:nvPr/>
          </p:nvCxnSpPr>
          <p:spPr>
            <a:xfrm>
              <a:off x="7946436" y="3976395"/>
              <a:ext cx="551283"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2" name="Straight Arrow Connector 81"/>
            <p:cNvCxnSpPr/>
            <p:nvPr/>
          </p:nvCxnSpPr>
          <p:spPr>
            <a:xfrm>
              <a:off x="9376190" y="3976395"/>
              <a:ext cx="717359"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3" name="Straight Connector 82"/>
            <p:cNvCxnSpPr/>
            <p:nvPr/>
          </p:nvCxnSpPr>
          <p:spPr>
            <a:xfrm>
              <a:off x="8497719" y="3976395"/>
              <a:ext cx="940173"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84" name="Group 83"/>
          <p:cNvGrpSpPr/>
          <p:nvPr/>
        </p:nvGrpSpPr>
        <p:grpSpPr>
          <a:xfrm>
            <a:off x="1151897" y="4712365"/>
            <a:ext cx="2147113" cy="0"/>
            <a:chOff x="7946436" y="3976395"/>
            <a:chExt cx="2147113" cy="0"/>
          </a:xfrm>
        </p:grpSpPr>
        <p:cxnSp>
          <p:nvCxnSpPr>
            <p:cNvPr id="85" name="Straight Arrow Connector 84"/>
            <p:cNvCxnSpPr/>
            <p:nvPr/>
          </p:nvCxnSpPr>
          <p:spPr>
            <a:xfrm>
              <a:off x="7946436" y="3976395"/>
              <a:ext cx="551283"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6" name="Straight Arrow Connector 85"/>
            <p:cNvCxnSpPr/>
            <p:nvPr/>
          </p:nvCxnSpPr>
          <p:spPr>
            <a:xfrm>
              <a:off x="9376190" y="3976395"/>
              <a:ext cx="717359"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7" name="Straight Connector 86"/>
            <p:cNvCxnSpPr/>
            <p:nvPr/>
          </p:nvCxnSpPr>
          <p:spPr>
            <a:xfrm>
              <a:off x="8497719" y="3976395"/>
              <a:ext cx="940173"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88" name="Rectangle 87"/>
          <p:cNvSpPr/>
          <p:nvPr/>
        </p:nvSpPr>
        <p:spPr>
          <a:xfrm>
            <a:off x="7879084" y="832756"/>
            <a:ext cx="942730" cy="5655911"/>
          </a:xfrm>
          <a:prstGeom prst="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sz="3200" b="1" dirty="0">
                <a:solidFill>
                  <a:srgbClr val="990000"/>
                </a:solidFill>
              </a:rPr>
              <a:t>Modulo operator</a:t>
            </a:r>
            <a:endParaRPr lang="en-NZ" sz="3200" b="1" dirty="0">
              <a:solidFill>
                <a:srgbClr val="990000"/>
              </a:solidFill>
            </a:endParaRPr>
          </a:p>
          <a:p>
            <a:pPr algn="ctr"/>
            <a:r>
              <a:rPr lang="en-US" sz="3200" b="1" dirty="0">
                <a:solidFill>
                  <a:srgbClr val="990000"/>
                </a:solidFill>
              </a:rPr>
              <a:t>(Modulo 10: % 10)</a:t>
            </a:r>
            <a:endParaRPr lang="en-NZ" sz="3200" b="1" dirty="0">
              <a:solidFill>
                <a:srgbClr val="990000"/>
              </a:solidFill>
            </a:endParaRPr>
          </a:p>
        </p:txBody>
      </p:sp>
      <p:graphicFrame>
        <p:nvGraphicFramePr>
          <p:cNvPr id="89" name="Table 88"/>
          <p:cNvGraphicFramePr>
            <a:graphicFrameLocks noGrp="1"/>
          </p:cNvGraphicFramePr>
          <p:nvPr>
            <p:extLst>
              <p:ext uri="{D42A27DB-BD31-4B8C-83A1-F6EECF244321}">
                <p14:modId xmlns:p14="http://schemas.microsoft.com/office/powerpoint/2010/main" val="1247056984"/>
              </p:ext>
            </p:extLst>
          </p:nvPr>
        </p:nvGraphicFramePr>
        <p:xfrm>
          <a:off x="9409117" y="1751261"/>
          <a:ext cx="2083130" cy="4230193"/>
        </p:xfrm>
        <a:graphic>
          <a:graphicData uri="http://schemas.openxmlformats.org/drawingml/2006/table">
            <a:tbl>
              <a:tblPr firstRow="1" bandRow="1">
                <a:tableStyleId>{5C22544A-7EE6-4342-B048-85BDC9FD1C3A}</a:tableStyleId>
              </a:tblPr>
              <a:tblGrid>
                <a:gridCol w="716973">
                  <a:extLst>
                    <a:ext uri="{9D8B030D-6E8A-4147-A177-3AD203B41FA5}">
                      <a16:colId xmlns:a16="http://schemas.microsoft.com/office/drawing/2014/main" val="1720347449"/>
                    </a:ext>
                  </a:extLst>
                </a:gridCol>
                <a:gridCol w="1366157">
                  <a:extLst>
                    <a:ext uri="{9D8B030D-6E8A-4147-A177-3AD203B41FA5}">
                      <a16:colId xmlns:a16="http://schemas.microsoft.com/office/drawing/2014/main" val="3549404079"/>
                    </a:ext>
                  </a:extLst>
                </a:gridCol>
              </a:tblGrid>
              <a:tr h="384563">
                <a:tc>
                  <a:txBody>
                    <a:bodyPr/>
                    <a:lstStyle/>
                    <a:p>
                      <a:pPr algn="ctr"/>
                      <a:r>
                        <a:rPr lang="en-US" sz="1600">
                          <a:solidFill>
                            <a:srgbClr val="990000"/>
                          </a:solidFill>
                        </a:rPr>
                        <a:t>Index</a:t>
                      </a:r>
                      <a:endParaRPr lang="en-NZ" sz="1600">
                        <a:solidFill>
                          <a:srgbClr val="99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solidFill>
                            <a:srgbClr val="990000"/>
                          </a:solidFill>
                        </a:rPr>
                        <a:t>Data</a:t>
                      </a:r>
                      <a:endParaRPr lang="en-NZ" sz="1600" dirty="0">
                        <a:solidFill>
                          <a:srgbClr val="99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82025299"/>
                  </a:ext>
                </a:extLst>
              </a:tr>
              <a:tr h="384563">
                <a:tc>
                  <a:txBody>
                    <a:bodyPr/>
                    <a:lstStyle/>
                    <a:p>
                      <a:pPr algn="ctr"/>
                      <a:r>
                        <a:rPr lang="en-US" sz="1600"/>
                        <a:t>0</a:t>
                      </a:r>
                      <a:endParaRPr lang="en-NZ"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600"/>
                        <a:t>Ian</a:t>
                      </a:r>
                      <a:endParaRPr lang="en-NZ"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13536560"/>
                  </a:ext>
                </a:extLst>
              </a:tr>
              <a:tr h="384563">
                <a:tc>
                  <a:txBody>
                    <a:bodyPr/>
                    <a:lstStyle/>
                    <a:p>
                      <a:pPr algn="ctr"/>
                      <a:r>
                        <a:rPr lang="en-US" sz="1600"/>
                        <a:t>1</a:t>
                      </a:r>
                      <a:endParaRPr lang="en-NZ"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600" dirty="0">
                          <a:solidFill>
                            <a:srgbClr val="FF0000"/>
                          </a:solidFill>
                        </a:rPr>
                        <a:t>Aman</a:t>
                      </a:r>
                      <a:endParaRPr lang="en-NZ" sz="16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85275645"/>
                  </a:ext>
                </a:extLst>
              </a:tr>
              <a:tr h="384563">
                <a:tc>
                  <a:txBody>
                    <a:bodyPr/>
                    <a:lstStyle/>
                    <a:p>
                      <a:pPr algn="ctr"/>
                      <a:r>
                        <a:rPr lang="en-US" sz="1600"/>
                        <a:t>2</a:t>
                      </a:r>
                      <a:endParaRPr lang="en-NZ"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endParaRPr lang="en-NZ"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95156092"/>
                  </a:ext>
                </a:extLst>
              </a:tr>
              <a:tr h="384563">
                <a:tc>
                  <a:txBody>
                    <a:bodyPr/>
                    <a:lstStyle/>
                    <a:p>
                      <a:pPr algn="ctr"/>
                      <a:r>
                        <a:rPr lang="en-US" sz="1600"/>
                        <a:t>3</a:t>
                      </a:r>
                      <a:endParaRPr lang="en-NZ"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600"/>
                        <a:t>Emre</a:t>
                      </a:r>
                      <a:endParaRPr lang="en-NZ"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58955345"/>
                  </a:ext>
                </a:extLst>
              </a:tr>
              <a:tr h="384563">
                <a:tc>
                  <a:txBody>
                    <a:bodyPr/>
                    <a:lstStyle/>
                    <a:p>
                      <a:pPr algn="ctr"/>
                      <a:r>
                        <a:rPr lang="en-US" sz="1600"/>
                        <a:t>4</a:t>
                      </a:r>
                      <a:endParaRPr lang="en-NZ"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600"/>
                        <a:t>Noor</a:t>
                      </a:r>
                      <a:endParaRPr lang="en-NZ"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09388295"/>
                  </a:ext>
                </a:extLst>
              </a:tr>
              <a:tr h="384563">
                <a:tc>
                  <a:txBody>
                    <a:bodyPr/>
                    <a:lstStyle/>
                    <a:p>
                      <a:pPr algn="ctr"/>
                      <a:r>
                        <a:rPr lang="en-US" sz="1600"/>
                        <a:t>5</a:t>
                      </a:r>
                      <a:endParaRPr lang="en-NZ"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600"/>
                        <a:t>Oliver</a:t>
                      </a:r>
                      <a:endParaRPr lang="en-NZ"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32114916"/>
                  </a:ext>
                </a:extLst>
              </a:tr>
              <a:tr h="384563">
                <a:tc>
                  <a:txBody>
                    <a:bodyPr/>
                    <a:lstStyle/>
                    <a:p>
                      <a:pPr algn="ctr"/>
                      <a:r>
                        <a:rPr lang="en-US" sz="1600"/>
                        <a:t>6</a:t>
                      </a:r>
                      <a:endParaRPr lang="en-NZ"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endParaRPr lang="en-NZ"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75013409"/>
                  </a:ext>
                </a:extLst>
              </a:tr>
              <a:tr h="384563">
                <a:tc>
                  <a:txBody>
                    <a:bodyPr/>
                    <a:lstStyle/>
                    <a:p>
                      <a:pPr algn="ctr"/>
                      <a:r>
                        <a:rPr lang="en-US" sz="1600"/>
                        <a:t>7</a:t>
                      </a:r>
                      <a:endParaRPr lang="en-NZ"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endParaRPr lang="en-NZ"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6337262"/>
                  </a:ext>
                </a:extLst>
              </a:tr>
              <a:tr h="384563">
                <a:tc>
                  <a:txBody>
                    <a:bodyPr/>
                    <a:lstStyle/>
                    <a:p>
                      <a:pPr algn="ctr"/>
                      <a:r>
                        <a:rPr lang="en-US" sz="1600"/>
                        <a:t>8</a:t>
                      </a:r>
                      <a:endParaRPr lang="en-NZ"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endParaRPr lang="en-NZ"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12205236"/>
                  </a:ext>
                </a:extLst>
              </a:tr>
              <a:tr h="384563">
                <a:tc>
                  <a:txBody>
                    <a:bodyPr/>
                    <a:lstStyle/>
                    <a:p>
                      <a:pPr algn="ctr"/>
                      <a:r>
                        <a:rPr lang="en-US" sz="1600"/>
                        <a:t>9</a:t>
                      </a:r>
                      <a:endParaRPr lang="en-NZ"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600" dirty="0"/>
                        <a:t>Daniel,</a:t>
                      </a:r>
                      <a:r>
                        <a:rPr lang="en-US" sz="1600" dirty="0">
                          <a:solidFill>
                            <a:srgbClr val="FF0000"/>
                          </a:solidFill>
                        </a:rPr>
                        <a:t> John</a:t>
                      </a:r>
                      <a:endParaRPr lang="en-NZ" sz="16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01507013"/>
                  </a:ext>
                </a:extLst>
              </a:tr>
            </a:tbl>
          </a:graphicData>
        </a:graphic>
      </p:graphicFrame>
      <p:sp>
        <p:nvSpPr>
          <p:cNvPr id="90" name="TextBox 89"/>
          <p:cNvSpPr txBox="1"/>
          <p:nvPr/>
        </p:nvSpPr>
        <p:spPr>
          <a:xfrm>
            <a:off x="9221820" y="1296120"/>
            <a:ext cx="2457724" cy="369332"/>
          </a:xfrm>
          <a:prstGeom prst="rect">
            <a:avLst/>
          </a:prstGeom>
          <a:solidFill>
            <a:srgbClr val="FFFF00"/>
          </a:solidFill>
        </p:spPr>
        <p:txBody>
          <a:bodyPr wrap="none" rtlCol="0">
            <a:spAutoFit/>
          </a:bodyPr>
          <a:lstStyle/>
          <a:p>
            <a:r>
              <a:rPr lang="en-US" b="1" dirty="0"/>
              <a:t>Array: 10 elements </a:t>
            </a:r>
            <a:endParaRPr lang="en-NZ" b="1" dirty="0"/>
          </a:p>
        </p:txBody>
      </p:sp>
      <p:cxnSp>
        <p:nvCxnSpPr>
          <p:cNvPr id="91" name="Straight Arrow Connector 90"/>
          <p:cNvCxnSpPr/>
          <p:nvPr/>
        </p:nvCxnSpPr>
        <p:spPr>
          <a:xfrm>
            <a:off x="7314882" y="2844439"/>
            <a:ext cx="551283"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2" name="Straight Arrow Connector 91"/>
          <p:cNvCxnSpPr/>
          <p:nvPr/>
        </p:nvCxnSpPr>
        <p:spPr>
          <a:xfrm>
            <a:off x="8820061" y="5838978"/>
            <a:ext cx="587303" cy="996"/>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93" name="Straight Connector 92"/>
          <p:cNvCxnSpPr/>
          <p:nvPr/>
        </p:nvCxnSpPr>
        <p:spPr>
          <a:xfrm>
            <a:off x="7866165" y="2844439"/>
            <a:ext cx="955649" cy="2908168"/>
          </a:xfrm>
          <a:prstGeom prst="line">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94" name="Straight Arrow Connector 93"/>
          <p:cNvCxnSpPr/>
          <p:nvPr/>
        </p:nvCxnSpPr>
        <p:spPr>
          <a:xfrm>
            <a:off x="7293573" y="3198098"/>
            <a:ext cx="551283"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5" name="Straight Connector 94"/>
          <p:cNvCxnSpPr/>
          <p:nvPr/>
        </p:nvCxnSpPr>
        <p:spPr>
          <a:xfrm flipV="1">
            <a:off x="7862658" y="2297851"/>
            <a:ext cx="959156" cy="927588"/>
          </a:xfrm>
          <a:prstGeom prst="line">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96" name="Straight Arrow Connector 95"/>
          <p:cNvCxnSpPr/>
          <p:nvPr/>
        </p:nvCxnSpPr>
        <p:spPr>
          <a:xfrm>
            <a:off x="8825321" y="2297849"/>
            <a:ext cx="583796"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7" name="Straight Arrow Connector 96"/>
          <p:cNvCxnSpPr/>
          <p:nvPr/>
        </p:nvCxnSpPr>
        <p:spPr>
          <a:xfrm>
            <a:off x="7293573" y="4013865"/>
            <a:ext cx="551283"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8" name="Straight Arrow Connector 97"/>
          <p:cNvCxnSpPr/>
          <p:nvPr/>
        </p:nvCxnSpPr>
        <p:spPr>
          <a:xfrm>
            <a:off x="8821814" y="4234444"/>
            <a:ext cx="583796"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9" name="Straight Connector 98"/>
          <p:cNvCxnSpPr/>
          <p:nvPr/>
        </p:nvCxnSpPr>
        <p:spPr>
          <a:xfrm>
            <a:off x="7853246" y="4022750"/>
            <a:ext cx="968568" cy="211694"/>
          </a:xfrm>
          <a:prstGeom prst="line">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100" name="Straight Arrow Connector 99"/>
          <p:cNvCxnSpPr/>
          <p:nvPr/>
        </p:nvCxnSpPr>
        <p:spPr>
          <a:xfrm>
            <a:off x="7306492" y="4394865"/>
            <a:ext cx="551283"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1" name="Straight Arrow Connector 100"/>
          <p:cNvCxnSpPr/>
          <p:nvPr/>
        </p:nvCxnSpPr>
        <p:spPr>
          <a:xfrm>
            <a:off x="7306492" y="4731522"/>
            <a:ext cx="551283"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2" name="Straight Arrow Connector 101"/>
          <p:cNvCxnSpPr/>
          <p:nvPr/>
        </p:nvCxnSpPr>
        <p:spPr>
          <a:xfrm>
            <a:off x="8821814" y="3476161"/>
            <a:ext cx="583796"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3" name="Straight Connector 102"/>
          <p:cNvCxnSpPr/>
          <p:nvPr/>
        </p:nvCxnSpPr>
        <p:spPr>
          <a:xfrm flipV="1">
            <a:off x="7844856" y="3484121"/>
            <a:ext cx="964038" cy="891587"/>
          </a:xfrm>
          <a:prstGeom prst="line">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104" name="Straight Connector 103"/>
          <p:cNvCxnSpPr>
            <a:cxnSpLocks/>
            <a:endCxn id="88" idx="3"/>
          </p:cNvCxnSpPr>
          <p:nvPr/>
        </p:nvCxnSpPr>
        <p:spPr>
          <a:xfrm flipV="1">
            <a:off x="7857775" y="3660712"/>
            <a:ext cx="964039" cy="1051656"/>
          </a:xfrm>
          <a:prstGeom prst="line">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105" name="Straight Arrow Connector 104"/>
          <p:cNvCxnSpPr/>
          <p:nvPr/>
        </p:nvCxnSpPr>
        <p:spPr>
          <a:xfrm>
            <a:off x="8821814" y="3862476"/>
            <a:ext cx="583796"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6" name="Straight Arrow Connector 105"/>
          <p:cNvCxnSpPr/>
          <p:nvPr/>
        </p:nvCxnSpPr>
        <p:spPr>
          <a:xfrm>
            <a:off x="7327801" y="3594765"/>
            <a:ext cx="551283" cy="0"/>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07" name="Straight Connector 106"/>
          <p:cNvCxnSpPr/>
          <p:nvPr/>
        </p:nvCxnSpPr>
        <p:spPr>
          <a:xfrm>
            <a:off x="7872625" y="3594765"/>
            <a:ext cx="936269" cy="2268486"/>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8857682" y="6488668"/>
            <a:ext cx="3186000" cy="369332"/>
          </a:xfrm>
          <a:prstGeom prst="rect">
            <a:avLst/>
          </a:prstGeom>
          <a:solidFill>
            <a:srgbClr val="FFC000"/>
          </a:solidFill>
        </p:spPr>
        <p:txBody>
          <a:bodyPr wrap="none" rtlCol="0">
            <a:spAutoFit/>
          </a:bodyPr>
          <a:lstStyle/>
          <a:p>
            <a:r>
              <a:rPr lang="en-US" b="1" u="sng">
                <a:solidFill>
                  <a:srgbClr val="FF0000"/>
                </a:solidFill>
                <a:latin typeface="+mn-lt"/>
              </a:rPr>
              <a:t>Problem</a:t>
            </a:r>
            <a:r>
              <a:rPr lang="en-US" b="1">
                <a:solidFill>
                  <a:srgbClr val="FF0000"/>
                </a:solidFill>
                <a:latin typeface="+mn-lt"/>
              </a:rPr>
              <a:t>: Collision or Duplicate </a:t>
            </a:r>
            <a:endParaRPr lang="en-NZ" b="1">
              <a:solidFill>
                <a:srgbClr val="FF0000"/>
              </a:solidFill>
              <a:latin typeface="+mn-lt"/>
            </a:endParaRPr>
          </a:p>
        </p:txBody>
      </p:sp>
      <p:cxnSp>
        <p:nvCxnSpPr>
          <p:cNvPr id="13" name="Straight Arrow Connector 12"/>
          <p:cNvCxnSpPr>
            <a:endCxn id="11" idx="0"/>
          </p:cNvCxnSpPr>
          <p:nvPr/>
        </p:nvCxnSpPr>
        <p:spPr>
          <a:xfrm flipH="1">
            <a:off x="10450682" y="5910714"/>
            <a:ext cx="555572" cy="577954"/>
          </a:xfrm>
          <a:prstGeom prst="straightConnector1">
            <a:avLst/>
          </a:prstGeom>
          <a:ln w="38100">
            <a:solidFill>
              <a:srgbClr val="FF9900"/>
            </a:solidFill>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p:cNvCxnSpPr/>
          <p:nvPr/>
        </p:nvCxnSpPr>
        <p:spPr>
          <a:xfrm>
            <a:off x="8821814" y="5733225"/>
            <a:ext cx="583796"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08" name="TextBox 107">
            <a:extLst>
              <a:ext uri="{FF2B5EF4-FFF2-40B4-BE49-F238E27FC236}">
                <a16:creationId xmlns:a16="http://schemas.microsoft.com/office/drawing/2014/main" id="{7CEA4D63-7521-408A-8289-BA22966B33DE}"/>
              </a:ext>
            </a:extLst>
          </p:cNvPr>
          <p:cNvSpPr txBox="1"/>
          <p:nvPr/>
        </p:nvSpPr>
        <p:spPr>
          <a:xfrm>
            <a:off x="97838" y="5698076"/>
            <a:ext cx="7393863" cy="1200329"/>
          </a:xfrm>
          <a:prstGeom prst="rect">
            <a:avLst/>
          </a:prstGeom>
          <a:noFill/>
        </p:spPr>
        <p:txBody>
          <a:bodyPr wrap="square">
            <a:spAutoFit/>
          </a:bodyPr>
          <a:lstStyle/>
          <a:p>
            <a:r>
              <a:rPr lang="en-NZ" b="1" i="1" dirty="0">
                <a:solidFill>
                  <a:srgbClr val="FF0000"/>
                </a:solidFill>
                <a:latin typeface="+mn-lt"/>
              </a:rPr>
              <a:t>“A collision occurs in a hash table when two different data items produce the same hash index. Since both items try to occupy the same position in the array, the hash table must use a collision‑handling strategy to decide where to store the second item.”</a:t>
            </a:r>
          </a:p>
        </p:txBody>
      </p:sp>
      <p:sp>
        <p:nvSpPr>
          <p:cNvPr id="110" name="TextBox 109">
            <a:extLst>
              <a:ext uri="{FF2B5EF4-FFF2-40B4-BE49-F238E27FC236}">
                <a16:creationId xmlns:a16="http://schemas.microsoft.com/office/drawing/2014/main" id="{DDACC713-372D-40FC-8F37-80046ACC2CE6}"/>
              </a:ext>
            </a:extLst>
          </p:cNvPr>
          <p:cNvSpPr txBox="1"/>
          <p:nvPr/>
        </p:nvSpPr>
        <p:spPr>
          <a:xfrm>
            <a:off x="148045" y="622507"/>
            <a:ext cx="7559041" cy="1200329"/>
          </a:xfrm>
          <a:prstGeom prst="rect">
            <a:avLst/>
          </a:prstGeom>
          <a:noFill/>
        </p:spPr>
        <p:txBody>
          <a:bodyPr wrap="square">
            <a:spAutoFit/>
          </a:bodyPr>
          <a:lstStyle/>
          <a:p>
            <a:r>
              <a:rPr lang="en-NZ" dirty="0">
                <a:latin typeface="+mn-lt"/>
              </a:rPr>
              <a:t>Assume there are now 7 data items as shown below. Two additional data items — “John” and “Aman” — are to be inserted. Calculate the hash key for each new data item, determine the corresponding index in the hash table using the hash function, and then insert the items into the array accordingly.</a:t>
            </a:r>
          </a:p>
        </p:txBody>
      </p:sp>
      <p:cxnSp>
        <p:nvCxnSpPr>
          <p:cNvPr id="111" name="Straight Arrow Connector 110">
            <a:extLst>
              <a:ext uri="{FF2B5EF4-FFF2-40B4-BE49-F238E27FC236}">
                <a16:creationId xmlns:a16="http://schemas.microsoft.com/office/drawing/2014/main" id="{03F2B7D3-E4A0-44A5-BDE7-0475D6A072B8}"/>
              </a:ext>
            </a:extLst>
          </p:cNvPr>
          <p:cNvCxnSpPr>
            <a:cxnSpLocks/>
          </p:cNvCxnSpPr>
          <p:nvPr/>
        </p:nvCxnSpPr>
        <p:spPr>
          <a:xfrm flipH="1">
            <a:off x="7080517" y="5892141"/>
            <a:ext cx="3777983" cy="492216"/>
          </a:xfrm>
          <a:prstGeom prst="straightConnector1">
            <a:avLst/>
          </a:prstGeom>
          <a:ln w="38100">
            <a:solidFill>
              <a:srgbClr val="FF9900"/>
            </a:solidFill>
            <a:tailEnd type="triangle"/>
          </a:ln>
        </p:spPr>
        <p:style>
          <a:lnRef idx="1">
            <a:schemeClr val="accent1"/>
          </a:lnRef>
          <a:fillRef idx="0">
            <a:schemeClr val="accent1"/>
          </a:fillRef>
          <a:effectRef idx="0">
            <a:schemeClr val="accent1"/>
          </a:effectRef>
          <a:fontRef idx="minor">
            <a:schemeClr val="tx1"/>
          </a:fontRef>
        </p:style>
      </p:cxnSp>
      <p:cxnSp>
        <p:nvCxnSpPr>
          <p:cNvPr id="112" name="Straight Arrow Connector 111">
            <a:extLst>
              <a:ext uri="{FF2B5EF4-FFF2-40B4-BE49-F238E27FC236}">
                <a16:creationId xmlns:a16="http://schemas.microsoft.com/office/drawing/2014/main" id="{DC0592ED-D1DA-41C1-8FDA-E64E507B667B}"/>
              </a:ext>
            </a:extLst>
          </p:cNvPr>
          <p:cNvCxnSpPr/>
          <p:nvPr/>
        </p:nvCxnSpPr>
        <p:spPr>
          <a:xfrm>
            <a:off x="7252029" y="5118765"/>
            <a:ext cx="551283" cy="0"/>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13" name="Straight Arrow Connector 112">
            <a:extLst>
              <a:ext uri="{FF2B5EF4-FFF2-40B4-BE49-F238E27FC236}">
                <a16:creationId xmlns:a16="http://schemas.microsoft.com/office/drawing/2014/main" id="{69F6DB4B-394C-459B-B78A-6A35F262A3E2}"/>
              </a:ext>
            </a:extLst>
          </p:cNvPr>
          <p:cNvCxnSpPr/>
          <p:nvPr/>
        </p:nvCxnSpPr>
        <p:spPr>
          <a:xfrm>
            <a:off x="8857682" y="2691342"/>
            <a:ext cx="587303" cy="996"/>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14" name="Straight Connector 113">
            <a:extLst>
              <a:ext uri="{FF2B5EF4-FFF2-40B4-BE49-F238E27FC236}">
                <a16:creationId xmlns:a16="http://schemas.microsoft.com/office/drawing/2014/main" id="{FE7971C2-8709-4CB4-8B88-FAECA1D52750}"/>
              </a:ext>
            </a:extLst>
          </p:cNvPr>
          <p:cNvCxnSpPr>
            <a:cxnSpLocks/>
          </p:cNvCxnSpPr>
          <p:nvPr/>
        </p:nvCxnSpPr>
        <p:spPr>
          <a:xfrm flipV="1">
            <a:off x="7920628" y="2730997"/>
            <a:ext cx="854742" cy="2418086"/>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810638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Content Placeholder 2"/>
          <p:cNvSpPr>
            <a:spLocks noGrp="1"/>
          </p:cNvSpPr>
          <p:nvPr>
            <p:ph idx="1"/>
          </p:nvPr>
        </p:nvSpPr>
        <p:spPr>
          <a:xfrm>
            <a:off x="234749" y="596758"/>
            <a:ext cx="11722502" cy="915789"/>
          </a:xfrm>
          <a:solidFill>
            <a:schemeClr val="bg1">
              <a:lumMod val="95000"/>
            </a:schemeClr>
          </a:solidFill>
        </p:spPr>
        <p:txBody>
          <a:bodyPr>
            <a:noAutofit/>
          </a:bodyPr>
          <a:lstStyle/>
          <a:p>
            <a:pPr marL="114300" indent="0">
              <a:lnSpc>
                <a:spcPct val="110000"/>
              </a:lnSpc>
              <a:spcBef>
                <a:spcPts val="0"/>
              </a:spcBef>
              <a:buNone/>
            </a:pPr>
            <a:r>
              <a:rPr lang="en-US" altLang="en-US" sz="2400" b="1" dirty="0">
                <a:solidFill>
                  <a:schemeClr val="tx1">
                    <a:lumMod val="50000"/>
                  </a:schemeClr>
                </a:solidFill>
                <a:cs typeface="Courier New" panose="02070309020205020404" pitchFamily="49" charset="0"/>
              </a:rPr>
              <a:t>This is the major problem. Fewer collisions the better. </a:t>
            </a:r>
          </a:p>
          <a:p>
            <a:pPr marL="114300" indent="0">
              <a:lnSpc>
                <a:spcPct val="110000"/>
              </a:lnSpc>
              <a:spcBef>
                <a:spcPts val="0"/>
              </a:spcBef>
              <a:buNone/>
            </a:pPr>
            <a:r>
              <a:rPr lang="en-NZ" sz="2400" b="1" dirty="0">
                <a:solidFill>
                  <a:schemeClr val="tx1">
                    <a:lumMod val="50000"/>
                  </a:schemeClr>
                </a:solidFill>
                <a:cs typeface="Courier New" panose="02070309020205020404" pitchFamily="49" charset="0"/>
              </a:rPr>
              <a:t>Accept collisions and work with them.</a:t>
            </a:r>
          </a:p>
        </p:txBody>
      </p:sp>
      <p:graphicFrame>
        <p:nvGraphicFramePr>
          <p:cNvPr id="4" name="Table 3"/>
          <p:cNvGraphicFramePr>
            <a:graphicFrameLocks noGrp="1"/>
          </p:cNvGraphicFramePr>
          <p:nvPr>
            <p:extLst>
              <p:ext uri="{D42A27DB-BD31-4B8C-83A1-F6EECF244321}">
                <p14:modId xmlns:p14="http://schemas.microsoft.com/office/powerpoint/2010/main" val="4225418480"/>
              </p:ext>
            </p:extLst>
          </p:nvPr>
        </p:nvGraphicFramePr>
        <p:xfrm>
          <a:off x="9099933" y="3090385"/>
          <a:ext cx="1650415" cy="3017520"/>
        </p:xfrm>
        <a:graphic>
          <a:graphicData uri="http://schemas.openxmlformats.org/drawingml/2006/table">
            <a:tbl>
              <a:tblPr firstRow="1" bandRow="1">
                <a:tableStyleId>{5C22544A-7EE6-4342-B048-85BDC9FD1C3A}</a:tableStyleId>
              </a:tblPr>
              <a:tblGrid>
                <a:gridCol w="568040">
                  <a:extLst>
                    <a:ext uri="{9D8B030D-6E8A-4147-A177-3AD203B41FA5}">
                      <a16:colId xmlns:a16="http://schemas.microsoft.com/office/drawing/2014/main" val="1720347449"/>
                    </a:ext>
                  </a:extLst>
                </a:gridCol>
                <a:gridCol w="1082375">
                  <a:extLst>
                    <a:ext uri="{9D8B030D-6E8A-4147-A177-3AD203B41FA5}">
                      <a16:colId xmlns:a16="http://schemas.microsoft.com/office/drawing/2014/main" val="3549404079"/>
                    </a:ext>
                  </a:extLst>
                </a:gridCol>
              </a:tblGrid>
              <a:tr h="234076">
                <a:tc>
                  <a:txBody>
                    <a:bodyPr/>
                    <a:lstStyle/>
                    <a:p>
                      <a:pPr algn="ctr"/>
                      <a:r>
                        <a:rPr lang="en-US" sz="1200">
                          <a:solidFill>
                            <a:srgbClr val="990000"/>
                          </a:solidFill>
                        </a:rPr>
                        <a:t>Index</a:t>
                      </a:r>
                      <a:endParaRPr lang="en-NZ" sz="1200">
                        <a:solidFill>
                          <a:srgbClr val="99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a:solidFill>
                            <a:srgbClr val="990000"/>
                          </a:solidFill>
                        </a:rPr>
                        <a:t>Data</a:t>
                      </a:r>
                      <a:endParaRPr lang="en-NZ" sz="1200">
                        <a:solidFill>
                          <a:srgbClr val="99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82025299"/>
                  </a:ext>
                </a:extLst>
              </a:tr>
              <a:tr h="234076">
                <a:tc>
                  <a:txBody>
                    <a:bodyPr/>
                    <a:lstStyle/>
                    <a:p>
                      <a:pPr algn="ctr"/>
                      <a:r>
                        <a:rPr lang="en-US" sz="1200"/>
                        <a:t>0</a:t>
                      </a:r>
                      <a:endParaRPr lang="en-NZ"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200"/>
                        <a:t>Ian</a:t>
                      </a:r>
                      <a:endParaRPr lang="en-NZ"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13536560"/>
                  </a:ext>
                </a:extLst>
              </a:tr>
              <a:tr h="234076">
                <a:tc>
                  <a:txBody>
                    <a:bodyPr/>
                    <a:lstStyle/>
                    <a:p>
                      <a:pPr algn="ctr"/>
                      <a:r>
                        <a:rPr lang="en-US" sz="1200"/>
                        <a:t>1</a:t>
                      </a:r>
                      <a:endParaRPr lang="en-NZ"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endParaRPr lang="en-NZ"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85275645"/>
                  </a:ext>
                </a:extLst>
              </a:tr>
              <a:tr h="234076">
                <a:tc>
                  <a:txBody>
                    <a:bodyPr/>
                    <a:lstStyle/>
                    <a:p>
                      <a:pPr algn="ctr"/>
                      <a:r>
                        <a:rPr lang="en-US" sz="1200"/>
                        <a:t>2</a:t>
                      </a:r>
                      <a:endParaRPr lang="en-NZ"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endParaRPr lang="en-NZ"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95156092"/>
                  </a:ext>
                </a:extLst>
              </a:tr>
              <a:tr h="234076">
                <a:tc>
                  <a:txBody>
                    <a:bodyPr/>
                    <a:lstStyle/>
                    <a:p>
                      <a:pPr algn="ctr"/>
                      <a:r>
                        <a:rPr lang="en-US" sz="1200"/>
                        <a:t>3</a:t>
                      </a:r>
                      <a:endParaRPr lang="en-NZ"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200"/>
                        <a:t>Emre</a:t>
                      </a:r>
                      <a:endParaRPr lang="en-NZ"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58955345"/>
                  </a:ext>
                </a:extLst>
              </a:tr>
              <a:tr h="234076">
                <a:tc>
                  <a:txBody>
                    <a:bodyPr/>
                    <a:lstStyle/>
                    <a:p>
                      <a:pPr algn="ctr"/>
                      <a:r>
                        <a:rPr lang="en-US" sz="1200"/>
                        <a:t>4</a:t>
                      </a:r>
                      <a:endParaRPr lang="en-NZ"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200"/>
                        <a:t>Noor</a:t>
                      </a:r>
                      <a:endParaRPr lang="en-NZ"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09388295"/>
                  </a:ext>
                </a:extLst>
              </a:tr>
              <a:tr h="234076">
                <a:tc>
                  <a:txBody>
                    <a:bodyPr/>
                    <a:lstStyle/>
                    <a:p>
                      <a:pPr algn="ctr"/>
                      <a:r>
                        <a:rPr lang="en-US" sz="1200"/>
                        <a:t>5</a:t>
                      </a:r>
                      <a:endParaRPr lang="en-NZ"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200"/>
                        <a:t>Oliver</a:t>
                      </a:r>
                      <a:endParaRPr lang="en-NZ"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32114916"/>
                  </a:ext>
                </a:extLst>
              </a:tr>
              <a:tr h="234076">
                <a:tc>
                  <a:txBody>
                    <a:bodyPr/>
                    <a:lstStyle/>
                    <a:p>
                      <a:pPr algn="ctr"/>
                      <a:r>
                        <a:rPr lang="en-US" sz="1200"/>
                        <a:t>6</a:t>
                      </a:r>
                      <a:endParaRPr lang="en-NZ"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endParaRPr lang="en-NZ"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75013409"/>
                  </a:ext>
                </a:extLst>
              </a:tr>
              <a:tr h="234076">
                <a:tc>
                  <a:txBody>
                    <a:bodyPr/>
                    <a:lstStyle/>
                    <a:p>
                      <a:pPr algn="ctr"/>
                      <a:r>
                        <a:rPr lang="en-US" sz="1200"/>
                        <a:t>7</a:t>
                      </a:r>
                      <a:endParaRPr lang="en-NZ"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endParaRPr lang="en-NZ"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6337262"/>
                  </a:ext>
                </a:extLst>
              </a:tr>
              <a:tr h="234076">
                <a:tc>
                  <a:txBody>
                    <a:bodyPr/>
                    <a:lstStyle/>
                    <a:p>
                      <a:pPr algn="ctr"/>
                      <a:r>
                        <a:rPr lang="en-US" sz="1200"/>
                        <a:t>8</a:t>
                      </a:r>
                      <a:endParaRPr lang="en-NZ"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endParaRPr lang="en-NZ"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12205236"/>
                  </a:ext>
                </a:extLst>
              </a:tr>
              <a:tr h="234076">
                <a:tc>
                  <a:txBody>
                    <a:bodyPr/>
                    <a:lstStyle/>
                    <a:p>
                      <a:pPr algn="ctr"/>
                      <a:r>
                        <a:rPr lang="en-US" sz="1200"/>
                        <a:t>9</a:t>
                      </a:r>
                      <a:endParaRPr lang="en-NZ"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200"/>
                        <a:t>Daniel</a:t>
                      </a:r>
                      <a:endParaRPr lang="en-NZ" sz="120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01507013"/>
                  </a:ext>
                </a:extLst>
              </a:tr>
            </a:tbl>
          </a:graphicData>
        </a:graphic>
      </p:graphicFrame>
      <p:pic>
        <p:nvPicPr>
          <p:cNvPr id="3" name="Picture 2"/>
          <p:cNvPicPr>
            <a:picLocks noChangeAspect="1"/>
          </p:cNvPicPr>
          <p:nvPr/>
        </p:nvPicPr>
        <p:blipFill>
          <a:blip r:embed="rId2"/>
          <a:stretch>
            <a:fillRect/>
          </a:stretch>
        </p:blipFill>
        <p:spPr>
          <a:xfrm>
            <a:off x="5799455" y="3126852"/>
            <a:ext cx="2892543" cy="2743200"/>
          </a:xfrm>
          <a:prstGeom prst="rect">
            <a:avLst/>
          </a:prstGeom>
        </p:spPr>
      </p:pic>
      <p:sp>
        <p:nvSpPr>
          <p:cNvPr id="5" name="Right Arrow 4"/>
          <p:cNvSpPr/>
          <p:nvPr/>
        </p:nvSpPr>
        <p:spPr>
          <a:xfrm>
            <a:off x="8421377" y="4424974"/>
            <a:ext cx="541242" cy="39188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6" name="Rectangle 5"/>
          <p:cNvSpPr/>
          <p:nvPr/>
        </p:nvSpPr>
        <p:spPr>
          <a:xfrm>
            <a:off x="11055148" y="5839391"/>
            <a:ext cx="928915" cy="2685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rgbClr val="FF0000"/>
                </a:solidFill>
              </a:rPr>
              <a:t>John</a:t>
            </a:r>
            <a:endParaRPr lang="en-NZ" sz="1200">
              <a:solidFill>
                <a:srgbClr val="FF0000"/>
              </a:solidFill>
            </a:endParaRPr>
          </a:p>
        </p:txBody>
      </p:sp>
      <p:cxnSp>
        <p:nvCxnSpPr>
          <p:cNvPr id="8" name="Straight Arrow Connector 7"/>
          <p:cNvCxnSpPr>
            <a:endCxn id="6" idx="1"/>
          </p:cNvCxnSpPr>
          <p:nvPr/>
        </p:nvCxnSpPr>
        <p:spPr>
          <a:xfrm>
            <a:off x="10750348" y="5973648"/>
            <a:ext cx="304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Rectangle 8"/>
          <p:cNvSpPr/>
          <p:nvPr/>
        </p:nvSpPr>
        <p:spPr>
          <a:xfrm>
            <a:off x="234748" y="2003873"/>
            <a:ext cx="5198050" cy="1091068"/>
          </a:xfrm>
          <a:prstGeom prst="rect">
            <a:avLst/>
          </a:prstGeom>
          <a:solidFill>
            <a:schemeClr val="accent6">
              <a:lumMod val="60000"/>
              <a:lumOff val="40000"/>
            </a:schemeClr>
          </a:solidFill>
        </p:spPr>
        <p:txBody>
          <a:bodyPr wrap="square">
            <a:spAutoFit/>
          </a:bodyPr>
          <a:lstStyle/>
          <a:p>
            <a:pPr algn="ctr">
              <a:lnSpc>
                <a:spcPct val="110000"/>
              </a:lnSpc>
              <a:spcBef>
                <a:spcPts val="0"/>
              </a:spcBef>
            </a:pPr>
            <a:r>
              <a:rPr lang="en-NZ" sz="2000" b="1" u="sng" dirty="0">
                <a:solidFill>
                  <a:schemeClr val="tx1">
                    <a:lumMod val="50000"/>
                  </a:schemeClr>
                </a:solidFill>
                <a:latin typeface="+mn-lt"/>
                <a:cs typeface="Courier New" panose="02070309020205020404" pitchFamily="49" charset="0"/>
              </a:rPr>
              <a:t>Solution 1: </a:t>
            </a:r>
            <a:r>
              <a:rPr lang="en-NZ" sz="2000" b="1" dirty="0">
                <a:solidFill>
                  <a:schemeClr val="tx1">
                    <a:lumMod val="50000"/>
                  </a:schemeClr>
                </a:solidFill>
                <a:latin typeface="+mn-lt"/>
                <a:cs typeface="Courier New" panose="02070309020205020404" pitchFamily="49" charset="0"/>
              </a:rPr>
              <a:t>Look into the hash table and tries to find another </a:t>
            </a:r>
            <a:r>
              <a:rPr lang="en-NZ" sz="2000" b="1" dirty="0">
                <a:solidFill>
                  <a:srgbClr val="FF0000"/>
                </a:solidFill>
                <a:latin typeface="+mn-lt"/>
                <a:cs typeface="Courier New" panose="02070309020205020404" pitchFamily="49" charset="0"/>
              </a:rPr>
              <a:t>open slot </a:t>
            </a:r>
            <a:r>
              <a:rPr lang="en-NZ" sz="2000" b="1" dirty="0">
                <a:solidFill>
                  <a:schemeClr val="tx1">
                    <a:lumMod val="50000"/>
                  </a:schemeClr>
                </a:solidFill>
                <a:latin typeface="+mn-lt"/>
                <a:cs typeface="Courier New" panose="02070309020205020404" pitchFamily="49" charset="0"/>
              </a:rPr>
              <a:t>to hold the item that caused the collision. </a:t>
            </a:r>
          </a:p>
        </p:txBody>
      </p:sp>
      <p:sp>
        <p:nvSpPr>
          <p:cNvPr id="10" name="Rectangle 9"/>
          <p:cNvSpPr/>
          <p:nvPr/>
        </p:nvSpPr>
        <p:spPr>
          <a:xfrm>
            <a:off x="5888063" y="2118393"/>
            <a:ext cx="6069189" cy="752514"/>
          </a:xfrm>
          <a:prstGeom prst="rect">
            <a:avLst/>
          </a:prstGeom>
          <a:solidFill>
            <a:schemeClr val="accent6">
              <a:lumMod val="60000"/>
              <a:lumOff val="40000"/>
            </a:schemeClr>
          </a:solidFill>
        </p:spPr>
        <p:txBody>
          <a:bodyPr wrap="square">
            <a:spAutoFit/>
          </a:bodyPr>
          <a:lstStyle/>
          <a:p>
            <a:pPr algn="ctr">
              <a:lnSpc>
                <a:spcPct val="110000"/>
              </a:lnSpc>
              <a:spcBef>
                <a:spcPts val="0"/>
              </a:spcBef>
            </a:pPr>
            <a:r>
              <a:rPr lang="en-NZ" sz="2000" b="1" dirty="0">
                <a:solidFill>
                  <a:schemeClr val="tx1">
                    <a:lumMod val="50000"/>
                  </a:schemeClr>
                </a:solidFill>
                <a:latin typeface="+mn-lt"/>
                <a:cs typeface="Courier New" panose="02070309020205020404" pitchFamily="49" charset="0"/>
              </a:rPr>
              <a:t> </a:t>
            </a:r>
            <a:r>
              <a:rPr lang="en-NZ" sz="2000" b="1" u="sng" dirty="0">
                <a:solidFill>
                  <a:schemeClr val="tx1">
                    <a:lumMod val="50000"/>
                  </a:schemeClr>
                </a:solidFill>
                <a:latin typeface="+mn-lt"/>
                <a:cs typeface="Courier New" panose="02070309020205020404" pitchFamily="49" charset="0"/>
              </a:rPr>
              <a:t>Solution 2</a:t>
            </a:r>
            <a:r>
              <a:rPr lang="en-NZ" sz="2000" b="1" dirty="0">
                <a:solidFill>
                  <a:schemeClr val="tx1">
                    <a:lumMod val="50000"/>
                  </a:schemeClr>
                </a:solidFill>
                <a:latin typeface="+mn-lt"/>
                <a:cs typeface="Courier New" panose="02070309020205020404" pitchFamily="49" charset="0"/>
              </a:rPr>
              <a:t>: </a:t>
            </a:r>
          </a:p>
          <a:p>
            <a:pPr algn="ctr">
              <a:lnSpc>
                <a:spcPct val="110000"/>
              </a:lnSpc>
              <a:spcBef>
                <a:spcPts val="0"/>
              </a:spcBef>
            </a:pPr>
            <a:r>
              <a:rPr lang="en-NZ" sz="2000" b="1" dirty="0">
                <a:solidFill>
                  <a:schemeClr val="tx1">
                    <a:lumMod val="50000"/>
                  </a:schemeClr>
                </a:solidFill>
                <a:latin typeface="+mn-lt"/>
                <a:cs typeface="Courier New" panose="02070309020205020404" pitchFamily="49" charset="0"/>
              </a:rPr>
              <a:t>Use </a:t>
            </a:r>
            <a:r>
              <a:rPr lang="en-NZ" sz="2000" b="1" dirty="0">
                <a:solidFill>
                  <a:srgbClr val="FF0000"/>
                </a:solidFill>
                <a:latin typeface="+mn-lt"/>
                <a:cs typeface="Courier New" panose="02070309020205020404" pitchFamily="49" charset="0"/>
              </a:rPr>
              <a:t>Linked List </a:t>
            </a:r>
            <a:r>
              <a:rPr lang="en-NZ" sz="2000" b="1" dirty="0">
                <a:solidFill>
                  <a:schemeClr val="tx1">
                    <a:lumMod val="50000"/>
                  </a:schemeClr>
                </a:solidFill>
                <a:latin typeface="+mn-lt"/>
                <a:cs typeface="Courier New" panose="02070309020205020404" pitchFamily="49" charset="0"/>
              </a:rPr>
              <a:t>to store all data in the same slot.</a:t>
            </a:r>
            <a:endParaRPr lang="en-US" altLang="en-US" sz="2000" dirty="0">
              <a:latin typeface="+mn-lt"/>
            </a:endParaRPr>
          </a:p>
        </p:txBody>
      </p:sp>
      <p:cxnSp>
        <p:nvCxnSpPr>
          <p:cNvPr id="12" name="Straight Connector 11"/>
          <p:cNvCxnSpPr/>
          <p:nvPr/>
        </p:nvCxnSpPr>
        <p:spPr>
          <a:xfrm>
            <a:off x="5662141" y="1905943"/>
            <a:ext cx="0" cy="4201962"/>
          </a:xfrm>
          <a:prstGeom prst="line">
            <a:avLst/>
          </a:prstGeom>
          <a:ln w="57150"/>
        </p:spPr>
        <p:style>
          <a:lnRef idx="1">
            <a:schemeClr val="accent1"/>
          </a:lnRef>
          <a:fillRef idx="0">
            <a:schemeClr val="accent1"/>
          </a:fillRef>
          <a:effectRef idx="0">
            <a:schemeClr val="accent1"/>
          </a:effectRef>
          <a:fontRef idx="minor">
            <a:schemeClr val="tx1"/>
          </a:fontRef>
        </p:style>
      </p:cxnSp>
      <p:graphicFrame>
        <p:nvGraphicFramePr>
          <p:cNvPr id="17" name="Table 16"/>
          <p:cNvGraphicFramePr>
            <a:graphicFrameLocks noGrp="1"/>
          </p:cNvGraphicFramePr>
          <p:nvPr>
            <p:extLst>
              <p:ext uri="{D42A27DB-BD31-4B8C-83A1-F6EECF244321}">
                <p14:modId xmlns:p14="http://schemas.microsoft.com/office/powerpoint/2010/main" val="3126267363"/>
              </p:ext>
            </p:extLst>
          </p:nvPr>
        </p:nvGraphicFramePr>
        <p:xfrm>
          <a:off x="3220125" y="3137551"/>
          <a:ext cx="1650415" cy="3017520"/>
        </p:xfrm>
        <a:graphic>
          <a:graphicData uri="http://schemas.openxmlformats.org/drawingml/2006/table">
            <a:tbl>
              <a:tblPr firstRow="1" bandRow="1">
                <a:tableStyleId>{5C22544A-7EE6-4342-B048-85BDC9FD1C3A}</a:tableStyleId>
              </a:tblPr>
              <a:tblGrid>
                <a:gridCol w="568040">
                  <a:extLst>
                    <a:ext uri="{9D8B030D-6E8A-4147-A177-3AD203B41FA5}">
                      <a16:colId xmlns:a16="http://schemas.microsoft.com/office/drawing/2014/main" val="1720347449"/>
                    </a:ext>
                  </a:extLst>
                </a:gridCol>
                <a:gridCol w="1082375">
                  <a:extLst>
                    <a:ext uri="{9D8B030D-6E8A-4147-A177-3AD203B41FA5}">
                      <a16:colId xmlns:a16="http://schemas.microsoft.com/office/drawing/2014/main" val="3549404079"/>
                    </a:ext>
                  </a:extLst>
                </a:gridCol>
              </a:tblGrid>
              <a:tr h="234076">
                <a:tc>
                  <a:txBody>
                    <a:bodyPr/>
                    <a:lstStyle/>
                    <a:p>
                      <a:pPr algn="ctr"/>
                      <a:r>
                        <a:rPr lang="en-US" sz="1200">
                          <a:solidFill>
                            <a:srgbClr val="990000"/>
                          </a:solidFill>
                        </a:rPr>
                        <a:t>Index</a:t>
                      </a:r>
                      <a:endParaRPr lang="en-NZ" sz="1200">
                        <a:solidFill>
                          <a:srgbClr val="99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a:solidFill>
                            <a:srgbClr val="990000"/>
                          </a:solidFill>
                        </a:rPr>
                        <a:t>Data</a:t>
                      </a:r>
                      <a:endParaRPr lang="en-NZ" sz="1200">
                        <a:solidFill>
                          <a:srgbClr val="99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82025299"/>
                  </a:ext>
                </a:extLst>
              </a:tr>
              <a:tr h="234076">
                <a:tc>
                  <a:txBody>
                    <a:bodyPr/>
                    <a:lstStyle/>
                    <a:p>
                      <a:pPr algn="ctr"/>
                      <a:r>
                        <a:rPr lang="en-US" sz="1200"/>
                        <a:t>0</a:t>
                      </a:r>
                      <a:endParaRPr lang="en-NZ"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200"/>
                        <a:t>Ian</a:t>
                      </a:r>
                      <a:endParaRPr lang="en-NZ"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13536560"/>
                  </a:ext>
                </a:extLst>
              </a:tr>
              <a:tr h="234076">
                <a:tc>
                  <a:txBody>
                    <a:bodyPr/>
                    <a:lstStyle/>
                    <a:p>
                      <a:pPr algn="ctr"/>
                      <a:r>
                        <a:rPr lang="en-US" sz="1200"/>
                        <a:t>1</a:t>
                      </a:r>
                      <a:endParaRPr lang="en-NZ"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200">
                          <a:solidFill>
                            <a:srgbClr val="FF0000"/>
                          </a:solidFill>
                        </a:rPr>
                        <a:t>John</a:t>
                      </a:r>
                      <a:endParaRPr lang="en-NZ" sz="120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85275645"/>
                  </a:ext>
                </a:extLst>
              </a:tr>
              <a:tr h="234076">
                <a:tc>
                  <a:txBody>
                    <a:bodyPr/>
                    <a:lstStyle/>
                    <a:p>
                      <a:pPr algn="ctr"/>
                      <a:r>
                        <a:rPr lang="en-US" sz="1200"/>
                        <a:t>2</a:t>
                      </a:r>
                      <a:endParaRPr lang="en-NZ"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endParaRPr lang="en-NZ"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95156092"/>
                  </a:ext>
                </a:extLst>
              </a:tr>
              <a:tr h="234076">
                <a:tc>
                  <a:txBody>
                    <a:bodyPr/>
                    <a:lstStyle/>
                    <a:p>
                      <a:pPr algn="ctr"/>
                      <a:r>
                        <a:rPr lang="en-US" sz="1200"/>
                        <a:t>3</a:t>
                      </a:r>
                      <a:endParaRPr lang="en-NZ"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200"/>
                        <a:t>Emre</a:t>
                      </a:r>
                      <a:endParaRPr lang="en-NZ"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58955345"/>
                  </a:ext>
                </a:extLst>
              </a:tr>
              <a:tr h="234076">
                <a:tc>
                  <a:txBody>
                    <a:bodyPr/>
                    <a:lstStyle/>
                    <a:p>
                      <a:pPr algn="ctr"/>
                      <a:r>
                        <a:rPr lang="en-US" sz="1200"/>
                        <a:t>4</a:t>
                      </a:r>
                      <a:endParaRPr lang="en-NZ"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200"/>
                        <a:t>Noor</a:t>
                      </a:r>
                      <a:endParaRPr lang="en-NZ"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09388295"/>
                  </a:ext>
                </a:extLst>
              </a:tr>
              <a:tr h="234076">
                <a:tc>
                  <a:txBody>
                    <a:bodyPr/>
                    <a:lstStyle/>
                    <a:p>
                      <a:pPr algn="ctr"/>
                      <a:r>
                        <a:rPr lang="en-US" sz="1200"/>
                        <a:t>5</a:t>
                      </a:r>
                      <a:endParaRPr lang="en-NZ"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200"/>
                        <a:t>Oliver</a:t>
                      </a:r>
                      <a:endParaRPr lang="en-NZ"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32114916"/>
                  </a:ext>
                </a:extLst>
              </a:tr>
              <a:tr h="234076">
                <a:tc>
                  <a:txBody>
                    <a:bodyPr/>
                    <a:lstStyle/>
                    <a:p>
                      <a:pPr algn="ctr"/>
                      <a:r>
                        <a:rPr lang="en-US" sz="1200"/>
                        <a:t>6</a:t>
                      </a:r>
                      <a:endParaRPr lang="en-NZ"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endParaRPr lang="en-NZ"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75013409"/>
                  </a:ext>
                </a:extLst>
              </a:tr>
              <a:tr h="234076">
                <a:tc>
                  <a:txBody>
                    <a:bodyPr/>
                    <a:lstStyle/>
                    <a:p>
                      <a:pPr algn="ctr"/>
                      <a:r>
                        <a:rPr lang="en-US" sz="1200"/>
                        <a:t>7</a:t>
                      </a:r>
                      <a:endParaRPr lang="en-NZ"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endParaRPr lang="en-NZ"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6337262"/>
                  </a:ext>
                </a:extLst>
              </a:tr>
              <a:tr h="234076">
                <a:tc>
                  <a:txBody>
                    <a:bodyPr/>
                    <a:lstStyle/>
                    <a:p>
                      <a:pPr algn="ctr"/>
                      <a:r>
                        <a:rPr lang="en-US" sz="1200"/>
                        <a:t>8</a:t>
                      </a:r>
                      <a:endParaRPr lang="en-NZ"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endParaRPr lang="en-NZ"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12205236"/>
                  </a:ext>
                </a:extLst>
              </a:tr>
              <a:tr h="234076">
                <a:tc>
                  <a:txBody>
                    <a:bodyPr/>
                    <a:lstStyle/>
                    <a:p>
                      <a:pPr algn="ctr"/>
                      <a:r>
                        <a:rPr lang="en-US" sz="1200"/>
                        <a:t>9</a:t>
                      </a:r>
                      <a:endParaRPr lang="en-NZ"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200"/>
                        <a:t>Daniel</a:t>
                      </a:r>
                      <a:endParaRPr lang="en-NZ" sz="120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01507013"/>
                  </a:ext>
                </a:extLst>
              </a:tr>
            </a:tbl>
          </a:graphicData>
        </a:graphic>
      </p:graphicFrame>
      <p:sp>
        <p:nvSpPr>
          <p:cNvPr id="16" name="Rectangle 15"/>
          <p:cNvSpPr/>
          <p:nvPr/>
        </p:nvSpPr>
        <p:spPr>
          <a:xfrm>
            <a:off x="217573" y="3505579"/>
            <a:ext cx="2657666" cy="646331"/>
          </a:xfrm>
          <a:prstGeom prst="rect">
            <a:avLst/>
          </a:prstGeom>
          <a:solidFill>
            <a:srgbClr val="FFFF00"/>
          </a:solidFill>
        </p:spPr>
        <p:txBody>
          <a:bodyPr wrap="square">
            <a:spAutoFit/>
          </a:bodyPr>
          <a:lstStyle/>
          <a:p>
            <a:r>
              <a:rPr lang="en-NZ" b="1" dirty="0">
                <a:solidFill>
                  <a:srgbClr val="FF0000"/>
                </a:solidFill>
                <a:latin typeface="+mn-lt"/>
              </a:rPr>
              <a:t>Linear Probing </a:t>
            </a:r>
          </a:p>
          <a:p>
            <a:r>
              <a:rPr lang="en-NZ" b="1" dirty="0">
                <a:solidFill>
                  <a:srgbClr val="FF0000"/>
                </a:solidFill>
                <a:latin typeface="+mn-lt"/>
              </a:rPr>
              <a:t>/ Open addressing</a:t>
            </a:r>
            <a:endParaRPr lang="en-NZ" dirty="0">
              <a:solidFill>
                <a:srgbClr val="FF0000"/>
              </a:solidFill>
              <a:latin typeface="+mn-lt"/>
            </a:endParaRPr>
          </a:p>
        </p:txBody>
      </p:sp>
      <p:sp>
        <p:nvSpPr>
          <p:cNvPr id="21" name="Rectangle 20"/>
          <p:cNvSpPr/>
          <p:nvPr/>
        </p:nvSpPr>
        <p:spPr>
          <a:xfrm>
            <a:off x="151876" y="4599145"/>
            <a:ext cx="3068249" cy="830997"/>
          </a:xfrm>
          <a:prstGeom prst="rect">
            <a:avLst/>
          </a:prstGeom>
        </p:spPr>
        <p:txBody>
          <a:bodyPr wrap="square">
            <a:spAutoFit/>
          </a:bodyPr>
          <a:lstStyle/>
          <a:p>
            <a:r>
              <a:rPr lang="en-NZ" sz="1600" b="1">
                <a:latin typeface="+mn-lt"/>
              </a:rPr>
              <a:t>Reading more: </a:t>
            </a:r>
            <a:r>
              <a:rPr lang="en-NZ" sz="1600">
                <a:latin typeface="+mn-lt"/>
                <a:hlinkClick r:id="rId3"/>
              </a:rPr>
              <a:t>https://en.wikipedia.org/wiki/Linear_probing</a:t>
            </a:r>
            <a:r>
              <a:rPr lang="en-NZ" sz="1600">
                <a:latin typeface="+mn-lt"/>
              </a:rPr>
              <a:t> </a:t>
            </a:r>
          </a:p>
        </p:txBody>
      </p:sp>
      <p:sp>
        <p:nvSpPr>
          <p:cNvPr id="22" name="Rectangle 21"/>
          <p:cNvSpPr/>
          <p:nvPr/>
        </p:nvSpPr>
        <p:spPr>
          <a:xfrm>
            <a:off x="6765656" y="5470059"/>
            <a:ext cx="1881862" cy="369332"/>
          </a:xfrm>
          <a:prstGeom prst="rect">
            <a:avLst/>
          </a:prstGeom>
          <a:solidFill>
            <a:srgbClr val="FFFF00"/>
          </a:solidFill>
        </p:spPr>
        <p:txBody>
          <a:bodyPr wrap="none">
            <a:spAutoFit/>
          </a:bodyPr>
          <a:lstStyle/>
          <a:p>
            <a:r>
              <a:rPr lang="en-NZ" b="1" dirty="0">
                <a:solidFill>
                  <a:srgbClr val="FF0000"/>
                </a:solidFill>
                <a:latin typeface="+mn-lt"/>
              </a:rPr>
              <a:t>Separate chaining</a:t>
            </a:r>
            <a:endParaRPr lang="en-NZ" b="1" i="0" dirty="0">
              <a:solidFill>
                <a:srgbClr val="FF0000"/>
              </a:solidFill>
              <a:effectLst/>
              <a:latin typeface="+mn-lt"/>
            </a:endParaRPr>
          </a:p>
        </p:txBody>
      </p:sp>
      <p:sp>
        <p:nvSpPr>
          <p:cNvPr id="24" name="Rectangle 23"/>
          <p:cNvSpPr/>
          <p:nvPr/>
        </p:nvSpPr>
        <p:spPr>
          <a:xfrm>
            <a:off x="10887662" y="3347368"/>
            <a:ext cx="1304338" cy="1446550"/>
          </a:xfrm>
          <a:prstGeom prst="rect">
            <a:avLst/>
          </a:prstGeom>
        </p:spPr>
        <p:txBody>
          <a:bodyPr wrap="square">
            <a:spAutoFit/>
          </a:bodyPr>
          <a:lstStyle/>
          <a:p>
            <a:r>
              <a:rPr lang="en-NZ" sz="1100" b="1">
                <a:latin typeface="+mn-lt"/>
              </a:rPr>
              <a:t>Reading more: </a:t>
            </a:r>
            <a:r>
              <a:rPr lang="en-NZ" sz="1100">
                <a:latin typeface="+mn-lt"/>
                <a:hlinkClick r:id="rId4"/>
              </a:rPr>
              <a:t>https://tutorialspoint.dev/data-structure/hashing-data-structure/hashing-set-2-separate-chaining</a:t>
            </a:r>
            <a:r>
              <a:rPr lang="en-NZ" sz="1100">
                <a:latin typeface="+mn-lt"/>
              </a:rPr>
              <a:t> </a:t>
            </a:r>
          </a:p>
        </p:txBody>
      </p:sp>
      <p:sp>
        <p:nvSpPr>
          <p:cNvPr id="18" name="Title 1">
            <a:extLst>
              <a:ext uri="{FF2B5EF4-FFF2-40B4-BE49-F238E27FC236}">
                <a16:creationId xmlns:a16="http://schemas.microsoft.com/office/drawing/2014/main" id="{215CC474-73B8-4B41-A52E-6107405D58B1}"/>
              </a:ext>
            </a:extLst>
          </p:cNvPr>
          <p:cNvSpPr txBox="1">
            <a:spLocks/>
          </p:cNvSpPr>
          <p:nvPr/>
        </p:nvSpPr>
        <p:spPr>
          <a:xfrm>
            <a:off x="148044" y="0"/>
            <a:ext cx="6617611" cy="554147"/>
          </a:xfrm>
          <a:prstGeom prst="rect">
            <a:avLst/>
          </a:prstGeom>
          <a:solidFill>
            <a:srgbClr val="FFC000"/>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pPr>
            <a:r>
              <a:rPr lang="en-US" sz="2400" b="1" u="sng" dirty="0">
                <a:latin typeface="+mn-lt"/>
              </a:rPr>
              <a:t>Step 4</a:t>
            </a:r>
            <a:r>
              <a:rPr lang="en-US" sz="2400" b="1" dirty="0">
                <a:latin typeface="+mn-lt"/>
              </a:rPr>
              <a:t>: COLLISION </a:t>
            </a:r>
            <a:r>
              <a:rPr lang="en-US" sz="2400" b="1" dirty="0">
                <a:latin typeface="+mn-lt"/>
                <a:sym typeface="Wingdings" panose="05000000000000000000" pitchFamily="2" charset="2"/>
              </a:rPr>
              <a:t>HANDLING</a:t>
            </a:r>
            <a:endParaRPr lang="en-NZ" sz="2400" b="1" dirty="0">
              <a:latin typeface="+mn-lt"/>
            </a:endParaRPr>
          </a:p>
        </p:txBody>
      </p:sp>
    </p:spTree>
    <p:extLst>
      <p:ext uri="{BB962C8B-B14F-4D97-AF65-F5344CB8AC3E}">
        <p14:creationId xmlns:p14="http://schemas.microsoft.com/office/powerpoint/2010/main" val="19751604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9" grpId="0" animBg="1"/>
      <p:bldP spid="10" grpId="0" animBg="1"/>
      <p:bldP spid="16" grpId="0" animBg="1"/>
      <p:bldP spid="21" grpId="0"/>
      <p:bldP spid="22" grpId="0" animBg="1"/>
      <p:bldP spid="2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3363867" y="194953"/>
            <a:ext cx="8672912" cy="707886"/>
          </a:xfrm>
          <a:prstGeom prst="rect">
            <a:avLst/>
          </a:prstGeom>
          <a:solidFill>
            <a:srgbClr val="FFFF00"/>
          </a:solidFill>
        </p:spPr>
        <p:txBody>
          <a:bodyPr wrap="square">
            <a:spAutoFit/>
          </a:bodyPr>
          <a:lstStyle/>
          <a:p>
            <a:pPr algn="ctr"/>
            <a:r>
              <a:rPr lang="en-NZ" sz="2000" b="1" u="sng" dirty="0">
                <a:latin typeface="+mn-lt"/>
              </a:rPr>
              <a:t>VIDEO CLIP: “</a:t>
            </a:r>
            <a:r>
              <a:rPr lang="en-NZ" sz="2000" dirty="0">
                <a:latin typeface="+mn-lt"/>
              </a:rPr>
              <a:t>Hash Tables and Hash Functions”</a:t>
            </a:r>
          </a:p>
          <a:p>
            <a:pPr algn="ctr"/>
            <a:r>
              <a:rPr lang="en-NZ" sz="2000" dirty="0">
                <a:latin typeface="+mn-lt"/>
                <a:hlinkClick r:id="rId2"/>
              </a:rPr>
              <a:t>https://www.youtube.com/watch?v=KyUTuwz_b7Q&amp;t=2s</a:t>
            </a:r>
            <a:r>
              <a:rPr lang="en-NZ" sz="2000" dirty="0">
                <a:latin typeface="+mn-lt"/>
              </a:rPr>
              <a:t> </a:t>
            </a:r>
            <a:endParaRPr lang="en-NZ" sz="2000" b="0" i="0" dirty="0">
              <a:effectLst/>
              <a:latin typeface="+mn-lt"/>
            </a:endParaRPr>
          </a:p>
        </p:txBody>
      </p:sp>
      <p:sp>
        <p:nvSpPr>
          <p:cNvPr id="4" name="Title 1">
            <a:extLst>
              <a:ext uri="{FF2B5EF4-FFF2-40B4-BE49-F238E27FC236}">
                <a16:creationId xmlns:a16="http://schemas.microsoft.com/office/drawing/2014/main" id="{D9280258-702F-41F5-8749-D4C418BA51B0}"/>
              </a:ext>
            </a:extLst>
          </p:cNvPr>
          <p:cNvSpPr>
            <a:spLocks noGrp="1"/>
          </p:cNvSpPr>
          <p:nvPr>
            <p:ph type="title"/>
          </p:nvPr>
        </p:nvSpPr>
        <p:spPr>
          <a:xfrm>
            <a:off x="0" y="1049321"/>
            <a:ext cx="3237186" cy="5057190"/>
          </a:xfrm>
          <a:solidFill>
            <a:schemeClr val="bg1">
              <a:lumMod val="95000"/>
            </a:schemeClr>
          </a:solidFill>
        </p:spPr>
        <p:txBody>
          <a:bodyPr>
            <a:noAutofit/>
          </a:bodyPr>
          <a:lstStyle/>
          <a:p>
            <a:pPr>
              <a:lnSpc>
                <a:spcPct val="100000"/>
              </a:lnSpc>
              <a:defRPr/>
            </a:pPr>
            <a:r>
              <a:rPr lang="en-NZ" sz="1800" b="1" u="sng" dirty="0">
                <a:latin typeface="+mn-lt"/>
                <a:cs typeface="Courier New" panose="02070309020205020404" pitchFamily="49" charset="0"/>
              </a:rPr>
              <a:t>Hash Table</a:t>
            </a:r>
            <a:r>
              <a:rPr lang="en-NZ" sz="1800" dirty="0">
                <a:latin typeface="+mn-lt"/>
                <a:cs typeface="Courier New" panose="02070309020205020404" pitchFamily="49" charset="0"/>
              </a:rPr>
              <a:t>: A data structure that stores </a:t>
            </a:r>
            <a:r>
              <a:rPr lang="en-NZ" sz="1800" u="sng" dirty="0">
                <a:latin typeface="+mn-lt"/>
                <a:cs typeface="Courier New" panose="02070309020205020404" pitchFamily="49" charset="0"/>
              </a:rPr>
              <a:t>key-value pairs</a:t>
            </a:r>
            <a:r>
              <a:rPr lang="en-NZ" sz="1800" dirty="0">
                <a:latin typeface="+mn-lt"/>
                <a:cs typeface="Courier New" panose="02070309020205020404" pitchFamily="49" charset="0"/>
              </a:rPr>
              <a:t>, where the key is used to determine the location (index) of the value within the table. </a:t>
            </a:r>
            <a:br>
              <a:rPr lang="en-NZ" sz="1800" dirty="0">
                <a:latin typeface="+mn-lt"/>
                <a:cs typeface="Courier New" panose="02070309020205020404" pitchFamily="49" charset="0"/>
              </a:rPr>
            </a:br>
            <a:br>
              <a:rPr lang="en-NZ" sz="1800" dirty="0">
                <a:latin typeface="+mn-lt"/>
                <a:cs typeface="Courier New" panose="02070309020205020404" pitchFamily="49" charset="0"/>
              </a:rPr>
            </a:br>
            <a:r>
              <a:rPr lang="en-NZ" sz="1800" dirty="0">
                <a:latin typeface="+mn-lt"/>
                <a:cs typeface="Courier New" panose="02070309020205020404" pitchFamily="49" charset="0"/>
              </a:rPr>
              <a:t>In hash tables, collisions occur when different keys map to the same index. </a:t>
            </a:r>
            <a:br>
              <a:rPr lang="en-NZ" sz="1800" dirty="0">
                <a:latin typeface="+mn-lt"/>
                <a:cs typeface="Courier New" panose="02070309020205020404" pitchFamily="49" charset="0"/>
              </a:rPr>
            </a:br>
            <a:br>
              <a:rPr lang="en-NZ" sz="1800" dirty="0">
                <a:latin typeface="+mn-lt"/>
                <a:cs typeface="Courier New" panose="02070309020205020404" pitchFamily="49" charset="0"/>
              </a:rPr>
            </a:br>
            <a:r>
              <a:rPr lang="en-NZ" sz="1800" dirty="0">
                <a:latin typeface="+mn-lt"/>
                <a:cs typeface="Courier New" panose="02070309020205020404" pitchFamily="49" charset="0"/>
              </a:rPr>
              <a:t>To resolve this, common techniques include separate </a:t>
            </a:r>
            <a:r>
              <a:rPr lang="en-NZ" sz="1800" u="sng" dirty="0">
                <a:latin typeface="+mn-lt"/>
                <a:cs typeface="Courier New" panose="02070309020205020404" pitchFamily="49" charset="0"/>
              </a:rPr>
              <a:t>chaining</a:t>
            </a:r>
            <a:r>
              <a:rPr lang="en-NZ" sz="1800" dirty="0">
                <a:latin typeface="+mn-lt"/>
                <a:cs typeface="Courier New" panose="02070309020205020404" pitchFamily="49" charset="0"/>
              </a:rPr>
              <a:t> (using </a:t>
            </a:r>
            <a:r>
              <a:rPr lang="en-NZ" sz="1800" u="sng" dirty="0">
                <a:latin typeface="+mn-lt"/>
                <a:cs typeface="Courier New" panose="02070309020205020404" pitchFamily="49" charset="0"/>
              </a:rPr>
              <a:t>linked lists </a:t>
            </a:r>
            <a:r>
              <a:rPr lang="en-NZ" sz="1800" dirty="0">
                <a:latin typeface="+mn-lt"/>
                <a:cs typeface="Courier New" panose="02070309020205020404" pitchFamily="49" charset="0"/>
              </a:rPr>
              <a:t>to store multiple values at the same index) and </a:t>
            </a:r>
            <a:r>
              <a:rPr lang="en-NZ" sz="1800" u="sng" dirty="0">
                <a:latin typeface="+mn-lt"/>
                <a:cs typeface="Courier New" panose="02070309020205020404" pitchFamily="49" charset="0"/>
              </a:rPr>
              <a:t>open addressing</a:t>
            </a:r>
            <a:r>
              <a:rPr lang="en-NZ" sz="1800" dirty="0">
                <a:latin typeface="+mn-lt"/>
                <a:cs typeface="Courier New" panose="02070309020205020404" pitchFamily="49" charset="0"/>
              </a:rPr>
              <a:t> (finding an alternative empty slot). </a:t>
            </a:r>
            <a:endParaRPr lang="en-US" sz="1800" dirty="0">
              <a:latin typeface="+mn-lt"/>
              <a:cs typeface="Courier New" panose="02070309020205020404" pitchFamily="49" charset="0"/>
            </a:endParaRPr>
          </a:p>
        </p:txBody>
      </p:sp>
      <p:pic>
        <p:nvPicPr>
          <p:cNvPr id="6" name="Picture 5">
            <a:extLst>
              <a:ext uri="{FF2B5EF4-FFF2-40B4-BE49-F238E27FC236}">
                <a16:creationId xmlns:a16="http://schemas.microsoft.com/office/drawing/2014/main" id="{0B07ABE6-9FE7-4287-AA89-A5DF90953711}"/>
              </a:ext>
            </a:extLst>
          </p:cNvPr>
          <p:cNvPicPr>
            <a:picLocks noChangeAspect="1"/>
          </p:cNvPicPr>
          <p:nvPr/>
        </p:nvPicPr>
        <p:blipFill>
          <a:blip r:embed="rId3"/>
          <a:stretch>
            <a:fillRect/>
          </a:stretch>
        </p:blipFill>
        <p:spPr>
          <a:xfrm>
            <a:off x="3363867" y="983517"/>
            <a:ext cx="8569936" cy="4890966"/>
          </a:xfrm>
          <a:prstGeom prst="rect">
            <a:avLst/>
          </a:prstGeom>
          <a:ln>
            <a:solidFill>
              <a:schemeClr val="tx1"/>
            </a:solidFill>
          </a:ln>
        </p:spPr>
      </p:pic>
    </p:spTree>
    <p:extLst>
      <p:ext uri="{BB962C8B-B14F-4D97-AF65-F5344CB8AC3E}">
        <p14:creationId xmlns:p14="http://schemas.microsoft.com/office/powerpoint/2010/main" val="10568834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graphicFrame>
        <p:nvGraphicFramePr>
          <p:cNvPr id="4" name="Content Placeholder 4">
            <a:extLst>
              <a:ext uri="{FF2B5EF4-FFF2-40B4-BE49-F238E27FC236}">
                <a16:creationId xmlns:a16="http://schemas.microsoft.com/office/drawing/2014/main" id="{A97460E0-9B23-4C14-AF6A-19DC6D81D2D6}"/>
              </a:ext>
            </a:extLst>
          </p:cNvPr>
          <p:cNvGraphicFramePr>
            <a:graphicFrameLocks noGrp="1"/>
          </p:cNvGraphicFramePr>
          <p:nvPr>
            <p:ph idx="1"/>
            <p:extLst>
              <p:ext uri="{D42A27DB-BD31-4B8C-83A1-F6EECF244321}">
                <p14:modId xmlns:p14="http://schemas.microsoft.com/office/powerpoint/2010/main" val="2812318106"/>
              </p:ext>
            </p:extLst>
          </p:nvPr>
        </p:nvGraphicFramePr>
        <p:xfrm>
          <a:off x="77901" y="2215807"/>
          <a:ext cx="1064476" cy="4023514"/>
        </p:xfrm>
        <a:graphic>
          <a:graphicData uri="http://schemas.openxmlformats.org/drawingml/2006/table">
            <a:tbl>
              <a:tblPr firstRow="1" bandRow="1">
                <a:tableStyleId>{5C22544A-7EE6-4342-B048-85BDC9FD1C3A}</a:tableStyleId>
              </a:tblPr>
              <a:tblGrid>
                <a:gridCol w="1064476">
                  <a:extLst>
                    <a:ext uri="{9D8B030D-6E8A-4147-A177-3AD203B41FA5}">
                      <a16:colId xmlns:a16="http://schemas.microsoft.com/office/drawing/2014/main" val="20001"/>
                    </a:ext>
                  </a:extLst>
                </a:gridCol>
              </a:tblGrid>
              <a:tr h="329086">
                <a:tc>
                  <a:txBody>
                    <a:bodyPr/>
                    <a:lstStyle/>
                    <a:p>
                      <a:r>
                        <a:rPr lang="en-US" sz="1800" dirty="0">
                          <a:solidFill>
                            <a:schemeClr val="tx1"/>
                          </a:solidFill>
                        </a:rPr>
                        <a:t>Data</a:t>
                      </a:r>
                    </a:p>
                  </a:txBody>
                  <a:tcPr marL="91435" marR="91435" marT="45727" marB="4572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extLst>
                  <a:ext uri="{0D108BD9-81ED-4DB2-BD59-A6C34878D82A}">
                    <a16:rowId xmlns:a16="http://schemas.microsoft.com/office/drawing/2014/main" val="10000"/>
                  </a:ext>
                </a:extLst>
              </a:tr>
              <a:tr h="329086">
                <a:tc>
                  <a:txBody>
                    <a:bodyPr/>
                    <a:lstStyle/>
                    <a:p>
                      <a:r>
                        <a:rPr lang="en-US" sz="1800" dirty="0">
                          <a:solidFill>
                            <a:schemeClr val="tx1"/>
                          </a:solidFill>
                        </a:rPr>
                        <a:t>Erin</a:t>
                      </a:r>
                    </a:p>
                  </a:txBody>
                  <a:tcPr marL="91435" marR="91435" marT="45727" marB="4572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29086">
                <a:tc>
                  <a:txBody>
                    <a:bodyPr/>
                    <a:lstStyle/>
                    <a:p>
                      <a:r>
                        <a:rPr lang="en-US" sz="1800" dirty="0">
                          <a:solidFill>
                            <a:schemeClr val="tx1"/>
                          </a:solidFill>
                        </a:rPr>
                        <a:t>Barry</a:t>
                      </a:r>
                    </a:p>
                  </a:txBody>
                  <a:tcPr marL="91435" marR="91435" marT="45727" marB="4572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29086">
                <a:tc>
                  <a:txBody>
                    <a:bodyPr/>
                    <a:lstStyle/>
                    <a:p>
                      <a:r>
                        <a:rPr lang="en-US" sz="1800" dirty="0">
                          <a:solidFill>
                            <a:schemeClr val="tx1"/>
                          </a:solidFill>
                        </a:rPr>
                        <a:t>Harry</a:t>
                      </a:r>
                    </a:p>
                  </a:txBody>
                  <a:tcPr marL="91435" marR="91435" marT="45727" marB="4572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29086">
                <a:tc>
                  <a:txBody>
                    <a:bodyPr/>
                    <a:lstStyle/>
                    <a:p>
                      <a:r>
                        <a:rPr lang="en-US" sz="1800" dirty="0">
                          <a:solidFill>
                            <a:schemeClr val="tx1"/>
                          </a:solidFill>
                        </a:rPr>
                        <a:t>Fred</a:t>
                      </a:r>
                    </a:p>
                  </a:txBody>
                  <a:tcPr marL="91435" marR="91435" marT="45727" marB="4572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29086">
                <a:tc>
                  <a:txBody>
                    <a:bodyPr/>
                    <a:lstStyle/>
                    <a:p>
                      <a:r>
                        <a:rPr lang="en-US" sz="1800" dirty="0">
                          <a:solidFill>
                            <a:schemeClr val="tx1"/>
                          </a:solidFill>
                        </a:rPr>
                        <a:t>Andrew</a:t>
                      </a:r>
                    </a:p>
                  </a:txBody>
                  <a:tcPr marL="91435" marR="91435" marT="45727" marB="4572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329086">
                <a:tc>
                  <a:txBody>
                    <a:bodyPr/>
                    <a:lstStyle/>
                    <a:p>
                      <a:r>
                        <a:rPr lang="en-US" sz="1800" dirty="0">
                          <a:solidFill>
                            <a:schemeClr val="tx1"/>
                          </a:solidFill>
                        </a:rPr>
                        <a:t>Ian</a:t>
                      </a:r>
                    </a:p>
                  </a:txBody>
                  <a:tcPr marL="91435" marR="91435" marT="45727" marB="4572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329086">
                <a:tc>
                  <a:txBody>
                    <a:bodyPr/>
                    <a:lstStyle/>
                    <a:p>
                      <a:r>
                        <a:rPr lang="en-US" sz="1800" dirty="0">
                          <a:solidFill>
                            <a:schemeClr val="tx1"/>
                          </a:solidFill>
                        </a:rPr>
                        <a:t>David</a:t>
                      </a:r>
                    </a:p>
                  </a:txBody>
                  <a:tcPr marL="91435" marR="91435" marT="45727" marB="4572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329086">
                <a:tc>
                  <a:txBody>
                    <a:bodyPr/>
                    <a:lstStyle/>
                    <a:p>
                      <a:r>
                        <a:rPr lang="en-US" sz="1800" dirty="0">
                          <a:solidFill>
                            <a:schemeClr val="tx1"/>
                          </a:solidFill>
                        </a:rPr>
                        <a:t>Grant</a:t>
                      </a:r>
                    </a:p>
                  </a:txBody>
                  <a:tcPr marL="91435" marR="91435" marT="45727" marB="4572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r h="329086">
                <a:tc>
                  <a:txBody>
                    <a:bodyPr/>
                    <a:lstStyle/>
                    <a:p>
                      <a:r>
                        <a:rPr lang="en-US" sz="1800" dirty="0">
                          <a:solidFill>
                            <a:schemeClr val="tx1"/>
                          </a:solidFill>
                        </a:rPr>
                        <a:t>Colin</a:t>
                      </a:r>
                    </a:p>
                  </a:txBody>
                  <a:tcPr marL="91435" marR="91435" marT="45727" marB="4572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9"/>
                  </a:ext>
                </a:extLst>
              </a:tr>
              <a:tr h="329086">
                <a:tc>
                  <a:txBody>
                    <a:bodyPr/>
                    <a:lstStyle/>
                    <a:p>
                      <a:r>
                        <a:rPr lang="en-US" sz="1800" dirty="0">
                          <a:solidFill>
                            <a:schemeClr val="tx1"/>
                          </a:solidFill>
                        </a:rPr>
                        <a:t>Daniel</a:t>
                      </a:r>
                    </a:p>
                  </a:txBody>
                  <a:tcPr marL="91435" marR="91435" marT="45727" marB="4572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53846298"/>
                  </a:ext>
                </a:extLst>
              </a:tr>
            </a:tbl>
          </a:graphicData>
        </a:graphic>
      </p:graphicFrame>
      <p:sp>
        <p:nvSpPr>
          <p:cNvPr id="6" name="Rectangle 5">
            <a:extLst>
              <a:ext uri="{FF2B5EF4-FFF2-40B4-BE49-F238E27FC236}">
                <a16:creationId xmlns:a16="http://schemas.microsoft.com/office/drawing/2014/main" id="{CE150152-ABFB-4BBC-9CE9-D2D9F9EEE9DF}"/>
              </a:ext>
            </a:extLst>
          </p:cNvPr>
          <p:cNvSpPr/>
          <p:nvPr/>
        </p:nvSpPr>
        <p:spPr>
          <a:xfrm>
            <a:off x="-6694" y="12433"/>
            <a:ext cx="7436193" cy="1754326"/>
          </a:xfrm>
          <a:prstGeom prst="rect">
            <a:avLst/>
          </a:prstGeom>
          <a:solidFill>
            <a:schemeClr val="accent2">
              <a:lumMod val="20000"/>
              <a:lumOff val="80000"/>
            </a:schemeClr>
          </a:solidFill>
        </p:spPr>
        <p:txBody>
          <a:bodyPr wrap="square">
            <a:spAutoFit/>
          </a:bodyPr>
          <a:lstStyle/>
          <a:p>
            <a:pPr algn="just"/>
            <a:r>
              <a:rPr lang="en-NZ" b="1" u="sng" dirty="0" err="1">
                <a:latin typeface="+mn-lt"/>
              </a:rPr>
              <a:t>Exercise:</a:t>
            </a:r>
            <a:r>
              <a:rPr lang="en-NZ" dirty="0" err="1">
                <a:latin typeface="+mn-lt"/>
              </a:rPr>
              <a:t>There</a:t>
            </a:r>
            <a:r>
              <a:rPr lang="en-NZ" dirty="0">
                <a:latin typeface="+mn-lt"/>
              </a:rPr>
              <a:t> are 10 data items provided below, along with an array capable of storing up to 15 elements. Using an appropriate hashing technique, compute the </a:t>
            </a:r>
            <a:r>
              <a:rPr lang="en-NZ" b="1" u="sng" dirty="0">
                <a:latin typeface="+mn-lt"/>
              </a:rPr>
              <a:t>hash key </a:t>
            </a:r>
            <a:r>
              <a:rPr lang="en-NZ" dirty="0">
                <a:latin typeface="+mn-lt"/>
              </a:rPr>
              <a:t>for each data item, determine the corresponding </a:t>
            </a:r>
            <a:r>
              <a:rPr lang="en-NZ" b="1" u="sng" dirty="0">
                <a:latin typeface="+mn-lt"/>
              </a:rPr>
              <a:t>index position</a:t>
            </a:r>
            <a:r>
              <a:rPr lang="en-NZ" dirty="0">
                <a:latin typeface="+mn-lt"/>
              </a:rPr>
              <a:t> within the array, and then insert each item into the array according to the hashing results. Use </a:t>
            </a:r>
            <a:r>
              <a:rPr lang="en-NZ" b="1" dirty="0">
                <a:latin typeface="+mn-lt"/>
              </a:rPr>
              <a:t>“Linked List” (</a:t>
            </a:r>
            <a:r>
              <a:rPr lang="en-NZ" b="1" dirty="0">
                <a:highlight>
                  <a:srgbClr val="FFFF00"/>
                </a:highlight>
                <a:latin typeface="+mn-lt"/>
              </a:rPr>
              <a:t>separate chaining</a:t>
            </a:r>
            <a:r>
              <a:rPr lang="en-NZ" b="1" dirty="0">
                <a:latin typeface="+mn-lt"/>
              </a:rPr>
              <a:t>) </a:t>
            </a:r>
            <a:r>
              <a:rPr lang="en-NZ" dirty="0">
                <a:latin typeface="+mn-lt"/>
              </a:rPr>
              <a:t>to store all data in the same slot to handle the “collision” problem</a:t>
            </a:r>
          </a:p>
        </p:txBody>
      </p:sp>
      <p:graphicFrame>
        <p:nvGraphicFramePr>
          <p:cNvPr id="7" name="Table 6">
            <a:extLst>
              <a:ext uri="{FF2B5EF4-FFF2-40B4-BE49-F238E27FC236}">
                <a16:creationId xmlns:a16="http://schemas.microsoft.com/office/drawing/2014/main" id="{81BDBBC3-5687-43A3-803F-04A9351F148B}"/>
              </a:ext>
            </a:extLst>
          </p:cNvPr>
          <p:cNvGraphicFramePr>
            <a:graphicFrameLocks noGrp="1"/>
          </p:cNvGraphicFramePr>
          <p:nvPr>
            <p:extLst>
              <p:ext uri="{D42A27DB-BD31-4B8C-83A1-F6EECF244321}">
                <p14:modId xmlns:p14="http://schemas.microsoft.com/office/powerpoint/2010/main" val="3152768139"/>
              </p:ext>
            </p:extLst>
          </p:nvPr>
        </p:nvGraphicFramePr>
        <p:xfrm>
          <a:off x="7580343" y="552895"/>
          <a:ext cx="2083130" cy="6153008"/>
        </p:xfrm>
        <a:graphic>
          <a:graphicData uri="http://schemas.openxmlformats.org/drawingml/2006/table">
            <a:tbl>
              <a:tblPr firstRow="1" bandRow="1">
                <a:tableStyleId>{5C22544A-7EE6-4342-B048-85BDC9FD1C3A}</a:tableStyleId>
              </a:tblPr>
              <a:tblGrid>
                <a:gridCol w="716973">
                  <a:extLst>
                    <a:ext uri="{9D8B030D-6E8A-4147-A177-3AD203B41FA5}">
                      <a16:colId xmlns:a16="http://schemas.microsoft.com/office/drawing/2014/main" val="1720347449"/>
                    </a:ext>
                  </a:extLst>
                </a:gridCol>
                <a:gridCol w="1366157">
                  <a:extLst>
                    <a:ext uri="{9D8B030D-6E8A-4147-A177-3AD203B41FA5}">
                      <a16:colId xmlns:a16="http://schemas.microsoft.com/office/drawing/2014/main" val="3549404079"/>
                    </a:ext>
                  </a:extLst>
                </a:gridCol>
              </a:tblGrid>
              <a:tr h="384563">
                <a:tc>
                  <a:txBody>
                    <a:bodyPr/>
                    <a:lstStyle/>
                    <a:p>
                      <a:pPr algn="ctr"/>
                      <a:r>
                        <a:rPr lang="en-US" sz="1600">
                          <a:solidFill>
                            <a:srgbClr val="990000"/>
                          </a:solidFill>
                        </a:rPr>
                        <a:t>Index</a:t>
                      </a:r>
                      <a:endParaRPr lang="en-NZ" sz="1600">
                        <a:solidFill>
                          <a:srgbClr val="99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solidFill>
                            <a:srgbClr val="990000"/>
                          </a:solidFill>
                        </a:rPr>
                        <a:t>Data</a:t>
                      </a:r>
                      <a:endParaRPr lang="en-NZ" sz="1600" dirty="0">
                        <a:solidFill>
                          <a:srgbClr val="99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82025299"/>
                  </a:ext>
                </a:extLst>
              </a:tr>
              <a:tr h="384563">
                <a:tc>
                  <a:txBody>
                    <a:bodyPr/>
                    <a:lstStyle/>
                    <a:p>
                      <a:pPr algn="ctr"/>
                      <a:r>
                        <a:rPr lang="en-US" sz="1600"/>
                        <a:t>0</a:t>
                      </a:r>
                      <a:endParaRPr lang="en-NZ"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endParaRPr lang="en-NZ"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13536560"/>
                  </a:ext>
                </a:extLst>
              </a:tr>
              <a:tr h="384563">
                <a:tc>
                  <a:txBody>
                    <a:bodyPr/>
                    <a:lstStyle/>
                    <a:p>
                      <a:pPr algn="ctr"/>
                      <a:r>
                        <a:rPr lang="en-US" sz="1600"/>
                        <a:t>1</a:t>
                      </a:r>
                      <a:endParaRPr lang="en-NZ"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endParaRPr lang="en-NZ"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85275645"/>
                  </a:ext>
                </a:extLst>
              </a:tr>
              <a:tr h="384563">
                <a:tc>
                  <a:txBody>
                    <a:bodyPr/>
                    <a:lstStyle/>
                    <a:p>
                      <a:pPr algn="ctr"/>
                      <a:r>
                        <a:rPr lang="en-US" sz="1600"/>
                        <a:t>2</a:t>
                      </a:r>
                      <a:endParaRPr lang="en-NZ"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endParaRPr lang="en-NZ"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95156092"/>
                  </a:ext>
                </a:extLst>
              </a:tr>
              <a:tr h="384563">
                <a:tc>
                  <a:txBody>
                    <a:bodyPr/>
                    <a:lstStyle/>
                    <a:p>
                      <a:pPr algn="ctr"/>
                      <a:r>
                        <a:rPr lang="en-US" sz="1600"/>
                        <a:t>3</a:t>
                      </a:r>
                      <a:endParaRPr lang="en-NZ"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endParaRPr lang="en-NZ"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58955345"/>
                  </a:ext>
                </a:extLst>
              </a:tr>
              <a:tr h="384563">
                <a:tc>
                  <a:txBody>
                    <a:bodyPr/>
                    <a:lstStyle/>
                    <a:p>
                      <a:pPr algn="ctr"/>
                      <a:r>
                        <a:rPr lang="en-US" sz="1600"/>
                        <a:t>4</a:t>
                      </a:r>
                      <a:endParaRPr lang="en-NZ"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endParaRPr lang="en-NZ"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09388295"/>
                  </a:ext>
                </a:extLst>
              </a:tr>
              <a:tr h="384563">
                <a:tc>
                  <a:txBody>
                    <a:bodyPr/>
                    <a:lstStyle/>
                    <a:p>
                      <a:pPr algn="ctr"/>
                      <a:r>
                        <a:rPr lang="en-US" sz="1600"/>
                        <a:t>5</a:t>
                      </a:r>
                      <a:endParaRPr lang="en-NZ"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endParaRPr lang="en-NZ"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32114916"/>
                  </a:ext>
                </a:extLst>
              </a:tr>
              <a:tr h="384563">
                <a:tc>
                  <a:txBody>
                    <a:bodyPr/>
                    <a:lstStyle/>
                    <a:p>
                      <a:pPr algn="ctr"/>
                      <a:r>
                        <a:rPr lang="en-US" sz="1600"/>
                        <a:t>6</a:t>
                      </a:r>
                      <a:endParaRPr lang="en-NZ"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endParaRPr lang="en-NZ"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75013409"/>
                  </a:ext>
                </a:extLst>
              </a:tr>
              <a:tr h="384563">
                <a:tc>
                  <a:txBody>
                    <a:bodyPr/>
                    <a:lstStyle/>
                    <a:p>
                      <a:pPr algn="ctr"/>
                      <a:r>
                        <a:rPr lang="en-US" sz="1600"/>
                        <a:t>7</a:t>
                      </a:r>
                      <a:endParaRPr lang="en-NZ"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endParaRPr lang="en-NZ"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6337262"/>
                  </a:ext>
                </a:extLst>
              </a:tr>
              <a:tr h="384563">
                <a:tc>
                  <a:txBody>
                    <a:bodyPr/>
                    <a:lstStyle/>
                    <a:p>
                      <a:pPr algn="ctr"/>
                      <a:r>
                        <a:rPr lang="en-US" sz="1600"/>
                        <a:t>8</a:t>
                      </a:r>
                      <a:endParaRPr lang="en-NZ"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endParaRPr lang="en-NZ"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12205236"/>
                  </a:ext>
                </a:extLst>
              </a:tr>
              <a:tr h="384563">
                <a:tc>
                  <a:txBody>
                    <a:bodyPr/>
                    <a:lstStyle/>
                    <a:p>
                      <a:pPr algn="ctr"/>
                      <a:r>
                        <a:rPr lang="en-US" sz="1600" dirty="0"/>
                        <a:t>9</a:t>
                      </a:r>
                      <a:endParaRPr lang="en-NZ"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endParaRPr lang="en-NZ" sz="16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01507013"/>
                  </a:ext>
                </a:extLst>
              </a:tr>
              <a:tr h="384563">
                <a:tc>
                  <a:txBody>
                    <a:bodyPr/>
                    <a:lstStyle/>
                    <a:p>
                      <a:pPr algn="ctr"/>
                      <a:r>
                        <a:rPr lang="en-US" sz="1600" dirty="0"/>
                        <a:t>10</a:t>
                      </a:r>
                      <a:endParaRPr lang="en-NZ"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endParaRPr lang="en-NZ" sz="16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52051304"/>
                  </a:ext>
                </a:extLst>
              </a:tr>
              <a:tr h="384563">
                <a:tc>
                  <a:txBody>
                    <a:bodyPr/>
                    <a:lstStyle/>
                    <a:p>
                      <a:pPr algn="ctr"/>
                      <a:r>
                        <a:rPr lang="en-US" sz="1600" dirty="0"/>
                        <a:t>11</a:t>
                      </a:r>
                      <a:endParaRPr lang="en-NZ"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endParaRPr lang="en-NZ" sz="16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38518516"/>
                  </a:ext>
                </a:extLst>
              </a:tr>
              <a:tr h="384563">
                <a:tc>
                  <a:txBody>
                    <a:bodyPr/>
                    <a:lstStyle/>
                    <a:p>
                      <a:pPr algn="ctr"/>
                      <a:r>
                        <a:rPr lang="en-US" sz="1600" dirty="0"/>
                        <a:t>12</a:t>
                      </a:r>
                      <a:endParaRPr lang="en-NZ"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endParaRPr lang="en-NZ" sz="16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84686106"/>
                  </a:ext>
                </a:extLst>
              </a:tr>
              <a:tr h="384563">
                <a:tc>
                  <a:txBody>
                    <a:bodyPr/>
                    <a:lstStyle/>
                    <a:p>
                      <a:pPr algn="ctr"/>
                      <a:r>
                        <a:rPr lang="en-US" sz="1600" dirty="0"/>
                        <a:t>13</a:t>
                      </a:r>
                      <a:endParaRPr lang="en-NZ"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endParaRPr lang="en-NZ" sz="16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54625769"/>
                  </a:ext>
                </a:extLst>
              </a:tr>
              <a:tr h="384563">
                <a:tc>
                  <a:txBody>
                    <a:bodyPr/>
                    <a:lstStyle/>
                    <a:p>
                      <a:pPr algn="ctr"/>
                      <a:r>
                        <a:rPr lang="en-US" sz="1600" dirty="0"/>
                        <a:t>14</a:t>
                      </a:r>
                      <a:endParaRPr lang="en-NZ"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endParaRPr lang="en-NZ" sz="16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87046384"/>
                  </a:ext>
                </a:extLst>
              </a:tr>
            </a:tbl>
          </a:graphicData>
        </a:graphic>
      </p:graphicFrame>
      <p:graphicFrame>
        <p:nvGraphicFramePr>
          <p:cNvPr id="8" name="Content Placeholder 4">
            <a:extLst>
              <a:ext uri="{FF2B5EF4-FFF2-40B4-BE49-F238E27FC236}">
                <a16:creationId xmlns:a16="http://schemas.microsoft.com/office/drawing/2014/main" id="{615EE786-CAE8-4471-A21E-0FCCBCCAEA54}"/>
              </a:ext>
            </a:extLst>
          </p:cNvPr>
          <p:cNvGraphicFramePr>
            <a:graphicFrameLocks/>
          </p:cNvGraphicFramePr>
          <p:nvPr>
            <p:extLst>
              <p:ext uri="{D42A27DB-BD31-4B8C-83A1-F6EECF244321}">
                <p14:modId xmlns:p14="http://schemas.microsoft.com/office/powerpoint/2010/main" val="2195697698"/>
              </p:ext>
            </p:extLst>
          </p:nvPr>
        </p:nvGraphicFramePr>
        <p:xfrm>
          <a:off x="2067564" y="2215807"/>
          <a:ext cx="2584243" cy="4023514"/>
        </p:xfrm>
        <a:graphic>
          <a:graphicData uri="http://schemas.openxmlformats.org/drawingml/2006/table">
            <a:tbl>
              <a:tblPr firstRow="1" bandRow="1">
                <a:tableStyleId>{5C22544A-7EE6-4342-B048-85BDC9FD1C3A}</a:tableStyleId>
              </a:tblPr>
              <a:tblGrid>
                <a:gridCol w="2584243">
                  <a:extLst>
                    <a:ext uri="{9D8B030D-6E8A-4147-A177-3AD203B41FA5}">
                      <a16:colId xmlns:a16="http://schemas.microsoft.com/office/drawing/2014/main" val="20001"/>
                    </a:ext>
                  </a:extLst>
                </a:gridCol>
              </a:tblGrid>
              <a:tr h="329086">
                <a:tc>
                  <a:txBody>
                    <a:bodyPr/>
                    <a:lstStyle/>
                    <a:p>
                      <a:r>
                        <a:rPr lang="en-US" sz="1800" dirty="0">
                          <a:solidFill>
                            <a:schemeClr val="tx1"/>
                          </a:solidFill>
                        </a:rPr>
                        <a:t>key</a:t>
                      </a:r>
                    </a:p>
                  </a:txBody>
                  <a:tcPr marL="91435" marR="91435" marT="45727" marB="4572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extLst>
                  <a:ext uri="{0D108BD9-81ED-4DB2-BD59-A6C34878D82A}">
                    <a16:rowId xmlns:a16="http://schemas.microsoft.com/office/drawing/2014/main" val="10000"/>
                  </a:ext>
                </a:extLst>
              </a:tr>
              <a:tr h="329086">
                <a:tc>
                  <a:txBody>
                    <a:bodyPr/>
                    <a:lstStyle/>
                    <a:p>
                      <a:endParaRPr lang="en-US" sz="1800" dirty="0">
                        <a:solidFill>
                          <a:schemeClr val="tx1"/>
                        </a:solidFill>
                      </a:endParaRPr>
                    </a:p>
                  </a:txBody>
                  <a:tcPr marL="91435" marR="91435" marT="45727" marB="4572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29086">
                <a:tc>
                  <a:txBody>
                    <a:bodyPr/>
                    <a:lstStyle/>
                    <a:p>
                      <a:endParaRPr lang="en-US" sz="1800" dirty="0">
                        <a:solidFill>
                          <a:schemeClr val="tx1"/>
                        </a:solidFill>
                      </a:endParaRPr>
                    </a:p>
                  </a:txBody>
                  <a:tcPr marL="91435" marR="91435" marT="45727" marB="4572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29086">
                <a:tc>
                  <a:txBody>
                    <a:bodyPr/>
                    <a:lstStyle/>
                    <a:p>
                      <a:endParaRPr lang="en-US" sz="1800" dirty="0">
                        <a:solidFill>
                          <a:schemeClr val="tx1"/>
                        </a:solidFill>
                      </a:endParaRPr>
                    </a:p>
                  </a:txBody>
                  <a:tcPr marL="91435" marR="91435" marT="45727" marB="4572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29086">
                <a:tc>
                  <a:txBody>
                    <a:bodyPr/>
                    <a:lstStyle/>
                    <a:p>
                      <a:endParaRPr lang="en-US" sz="1800" dirty="0">
                        <a:solidFill>
                          <a:schemeClr val="tx1"/>
                        </a:solidFill>
                      </a:endParaRPr>
                    </a:p>
                  </a:txBody>
                  <a:tcPr marL="91435" marR="91435" marT="45727" marB="4572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29086">
                <a:tc>
                  <a:txBody>
                    <a:bodyPr/>
                    <a:lstStyle/>
                    <a:p>
                      <a:endParaRPr lang="en-US" sz="1800" dirty="0">
                        <a:solidFill>
                          <a:schemeClr val="tx1"/>
                        </a:solidFill>
                      </a:endParaRPr>
                    </a:p>
                  </a:txBody>
                  <a:tcPr marL="91435" marR="91435" marT="45727" marB="4572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329086">
                <a:tc>
                  <a:txBody>
                    <a:bodyPr/>
                    <a:lstStyle/>
                    <a:p>
                      <a:endParaRPr lang="en-US" sz="1800" dirty="0">
                        <a:solidFill>
                          <a:schemeClr val="tx1"/>
                        </a:solidFill>
                      </a:endParaRPr>
                    </a:p>
                  </a:txBody>
                  <a:tcPr marL="91435" marR="91435" marT="45727" marB="4572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329086">
                <a:tc>
                  <a:txBody>
                    <a:bodyPr/>
                    <a:lstStyle/>
                    <a:p>
                      <a:endParaRPr lang="en-US" sz="1800" dirty="0">
                        <a:solidFill>
                          <a:schemeClr val="tx1"/>
                        </a:solidFill>
                      </a:endParaRPr>
                    </a:p>
                  </a:txBody>
                  <a:tcPr marL="91435" marR="91435" marT="45727" marB="4572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329086">
                <a:tc>
                  <a:txBody>
                    <a:bodyPr/>
                    <a:lstStyle/>
                    <a:p>
                      <a:endParaRPr lang="en-US" sz="1800" dirty="0">
                        <a:solidFill>
                          <a:schemeClr val="tx1"/>
                        </a:solidFill>
                      </a:endParaRPr>
                    </a:p>
                  </a:txBody>
                  <a:tcPr marL="91435" marR="91435" marT="45727" marB="4572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r h="329086">
                <a:tc>
                  <a:txBody>
                    <a:bodyPr/>
                    <a:lstStyle/>
                    <a:p>
                      <a:endParaRPr lang="en-US" sz="1800" dirty="0">
                        <a:solidFill>
                          <a:schemeClr val="tx1"/>
                        </a:solidFill>
                      </a:endParaRPr>
                    </a:p>
                  </a:txBody>
                  <a:tcPr marL="91435" marR="91435" marT="45727" marB="4572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9"/>
                  </a:ext>
                </a:extLst>
              </a:tr>
              <a:tr h="329086">
                <a:tc>
                  <a:txBody>
                    <a:bodyPr/>
                    <a:lstStyle/>
                    <a:p>
                      <a:endParaRPr lang="en-US" sz="1800" dirty="0">
                        <a:solidFill>
                          <a:schemeClr val="tx1"/>
                        </a:solidFill>
                      </a:endParaRPr>
                    </a:p>
                  </a:txBody>
                  <a:tcPr marL="91435" marR="91435" marT="45727" marB="4572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53846298"/>
                  </a:ext>
                </a:extLst>
              </a:tr>
            </a:tbl>
          </a:graphicData>
        </a:graphic>
      </p:graphicFrame>
      <p:cxnSp>
        <p:nvCxnSpPr>
          <p:cNvPr id="10" name="Straight Arrow Connector 9">
            <a:extLst>
              <a:ext uri="{FF2B5EF4-FFF2-40B4-BE49-F238E27FC236}">
                <a16:creationId xmlns:a16="http://schemas.microsoft.com/office/drawing/2014/main" id="{EC8B382D-54D2-4E67-8ED1-9889663D2EB2}"/>
              </a:ext>
            </a:extLst>
          </p:cNvPr>
          <p:cNvCxnSpPr>
            <a:cxnSpLocks/>
          </p:cNvCxnSpPr>
          <p:nvPr/>
        </p:nvCxnSpPr>
        <p:spPr>
          <a:xfrm>
            <a:off x="1003089" y="2777911"/>
            <a:ext cx="1051799"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9EF739E2-3801-4E4D-81A1-54D606BA3D6C}"/>
              </a:ext>
            </a:extLst>
          </p:cNvPr>
          <p:cNvCxnSpPr>
            <a:cxnSpLocks/>
          </p:cNvCxnSpPr>
          <p:nvPr/>
        </p:nvCxnSpPr>
        <p:spPr>
          <a:xfrm>
            <a:off x="1003088" y="3113191"/>
            <a:ext cx="1051800"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CE75A539-7E8A-4830-9144-FE63A6470464}"/>
              </a:ext>
            </a:extLst>
          </p:cNvPr>
          <p:cNvCxnSpPr>
            <a:cxnSpLocks/>
          </p:cNvCxnSpPr>
          <p:nvPr/>
        </p:nvCxnSpPr>
        <p:spPr>
          <a:xfrm>
            <a:off x="1015764" y="3476606"/>
            <a:ext cx="1051800"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27AECA8D-7136-4E5E-8708-07D5C1F8B248}"/>
              </a:ext>
            </a:extLst>
          </p:cNvPr>
          <p:cNvCxnSpPr>
            <a:cxnSpLocks/>
          </p:cNvCxnSpPr>
          <p:nvPr/>
        </p:nvCxnSpPr>
        <p:spPr>
          <a:xfrm>
            <a:off x="1003088" y="3899809"/>
            <a:ext cx="1051800"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7CDDAA9B-5797-49A1-BF5F-88049D69A4EF}"/>
              </a:ext>
            </a:extLst>
          </p:cNvPr>
          <p:cNvCxnSpPr>
            <a:cxnSpLocks/>
          </p:cNvCxnSpPr>
          <p:nvPr/>
        </p:nvCxnSpPr>
        <p:spPr>
          <a:xfrm>
            <a:off x="1015764" y="4227564"/>
            <a:ext cx="1051800"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C3A20F4C-A20A-458A-A5EF-273E5F769A3F}"/>
              </a:ext>
            </a:extLst>
          </p:cNvPr>
          <p:cNvCxnSpPr>
            <a:cxnSpLocks/>
          </p:cNvCxnSpPr>
          <p:nvPr/>
        </p:nvCxnSpPr>
        <p:spPr>
          <a:xfrm>
            <a:off x="1003088" y="4587954"/>
            <a:ext cx="1051800"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497BEA7E-0CA4-42D5-B718-0F76EDD40A29}"/>
              </a:ext>
            </a:extLst>
          </p:cNvPr>
          <p:cNvCxnSpPr>
            <a:cxnSpLocks/>
          </p:cNvCxnSpPr>
          <p:nvPr/>
        </p:nvCxnSpPr>
        <p:spPr>
          <a:xfrm>
            <a:off x="1003088" y="4953714"/>
            <a:ext cx="1051800"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17304D38-C15B-4DBE-B87A-5ECABA4A8414}"/>
              </a:ext>
            </a:extLst>
          </p:cNvPr>
          <p:cNvCxnSpPr>
            <a:cxnSpLocks/>
          </p:cNvCxnSpPr>
          <p:nvPr/>
        </p:nvCxnSpPr>
        <p:spPr>
          <a:xfrm>
            <a:off x="1003088" y="5333542"/>
            <a:ext cx="1051800"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22560CB0-EEEA-42E7-AF55-B907FE4F1FF3}"/>
              </a:ext>
            </a:extLst>
          </p:cNvPr>
          <p:cNvCxnSpPr>
            <a:cxnSpLocks/>
          </p:cNvCxnSpPr>
          <p:nvPr/>
        </p:nvCxnSpPr>
        <p:spPr>
          <a:xfrm>
            <a:off x="1003088" y="5699302"/>
            <a:ext cx="1051800"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88E9B336-1BC9-4426-904F-F9853BA2E4C1}"/>
              </a:ext>
            </a:extLst>
          </p:cNvPr>
          <p:cNvCxnSpPr>
            <a:cxnSpLocks/>
          </p:cNvCxnSpPr>
          <p:nvPr/>
        </p:nvCxnSpPr>
        <p:spPr>
          <a:xfrm>
            <a:off x="1003088" y="6065062"/>
            <a:ext cx="1051800"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444EE1DB-915D-4057-AADF-769B01E48D40}"/>
              </a:ext>
            </a:extLst>
          </p:cNvPr>
          <p:cNvSpPr/>
          <p:nvPr/>
        </p:nvSpPr>
        <p:spPr>
          <a:xfrm>
            <a:off x="5703606" y="1983050"/>
            <a:ext cx="942730" cy="4565364"/>
          </a:xfrm>
          <a:prstGeom prst="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sz="3200" b="1" dirty="0">
                <a:solidFill>
                  <a:srgbClr val="990000"/>
                </a:solidFill>
              </a:rPr>
              <a:t>Modulo ???</a:t>
            </a:r>
            <a:endParaRPr lang="en-NZ" sz="3200" b="1" dirty="0">
              <a:solidFill>
                <a:srgbClr val="990000"/>
              </a:solidFill>
            </a:endParaRPr>
          </a:p>
        </p:txBody>
      </p:sp>
      <p:cxnSp>
        <p:nvCxnSpPr>
          <p:cNvPr id="25" name="Straight Arrow Connector 24">
            <a:extLst>
              <a:ext uri="{FF2B5EF4-FFF2-40B4-BE49-F238E27FC236}">
                <a16:creationId xmlns:a16="http://schemas.microsoft.com/office/drawing/2014/main" id="{A974AA72-1C88-4F64-A473-C7E58F1A36FC}"/>
              </a:ext>
            </a:extLst>
          </p:cNvPr>
          <p:cNvCxnSpPr>
            <a:cxnSpLocks/>
          </p:cNvCxnSpPr>
          <p:nvPr/>
        </p:nvCxnSpPr>
        <p:spPr>
          <a:xfrm>
            <a:off x="4639131" y="2742742"/>
            <a:ext cx="1051799"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B52D3991-DCDF-4845-9F06-F576677CC31B}"/>
              </a:ext>
            </a:extLst>
          </p:cNvPr>
          <p:cNvCxnSpPr>
            <a:cxnSpLocks/>
          </p:cNvCxnSpPr>
          <p:nvPr/>
        </p:nvCxnSpPr>
        <p:spPr>
          <a:xfrm>
            <a:off x="4639130" y="3078022"/>
            <a:ext cx="1051800"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1EFFF4F3-E8E5-4089-B158-591866DA522D}"/>
              </a:ext>
            </a:extLst>
          </p:cNvPr>
          <p:cNvCxnSpPr>
            <a:cxnSpLocks/>
          </p:cNvCxnSpPr>
          <p:nvPr/>
        </p:nvCxnSpPr>
        <p:spPr>
          <a:xfrm>
            <a:off x="4651806" y="3441437"/>
            <a:ext cx="1051800"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98BCFF48-B45B-4370-B1E0-58FD3B6AF93A}"/>
              </a:ext>
            </a:extLst>
          </p:cNvPr>
          <p:cNvCxnSpPr>
            <a:cxnSpLocks/>
          </p:cNvCxnSpPr>
          <p:nvPr/>
        </p:nvCxnSpPr>
        <p:spPr>
          <a:xfrm>
            <a:off x="4639130" y="3864640"/>
            <a:ext cx="1051800"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D8891076-9F6A-44B7-ABD3-80C8A70FC070}"/>
              </a:ext>
            </a:extLst>
          </p:cNvPr>
          <p:cNvCxnSpPr>
            <a:cxnSpLocks/>
          </p:cNvCxnSpPr>
          <p:nvPr/>
        </p:nvCxnSpPr>
        <p:spPr>
          <a:xfrm>
            <a:off x="4651806" y="4192395"/>
            <a:ext cx="1051800"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DAF2E3AF-A220-4F15-BC75-4F5DEB8D683B}"/>
              </a:ext>
            </a:extLst>
          </p:cNvPr>
          <p:cNvCxnSpPr>
            <a:cxnSpLocks/>
          </p:cNvCxnSpPr>
          <p:nvPr/>
        </p:nvCxnSpPr>
        <p:spPr>
          <a:xfrm>
            <a:off x="4639130" y="4552785"/>
            <a:ext cx="1051800"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B361A007-A682-426F-8C7C-686A1E8A8D36}"/>
              </a:ext>
            </a:extLst>
          </p:cNvPr>
          <p:cNvCxnSpPr>
            <a:cxnSpLocks/>
          </p:cNvCxnSpPr>
          <p:nvPr/>
        </p:nvCxnSpPr>
        <p:spPr>
          <a:xfrm>
            <a:off x="4639130" y="4918545"/>
            <a:ext cx="1051800"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88DF9592-A1CA-47AE-AE7A-6B803AA39291}"/>
              </a:ext>
            </a:extLst>
          </p:cNvPr>
          <p:cNvCxnSpPr>
            <a:cxnSpLocks/>
          </p:cNvCxnSpPr>
          <p:nvPr/>
        </p:nvCxnSpPr>
        <p:spPr>
          <a:xfrm>
            <a:off x="4639130" y="5298373"/>
            <a:ext cx="1051800"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2DC0D5EB-854F-4A74-9F50-0E4B0EDB8383}"/>
              </a:ext>
            </a:extLst>
          </p:cNvPr>
          <p:cNvCxnSpPr>
            <a:cxnSpLocks/>
          </p:cNvCxnSpPr>
          <p:nvPr/>
        </p:nvCxnSpPr>
        <p:spPr>
          <a:xfrm>
            <a:off x="4639130" y="5664133"/>
            <a:ext cx="1051800"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E31066E7-52D4-4B8E-B670-5E773A3CB926}"/>
              </a:ext>
            </a:extLst>
          </p:cNvPr>
          <p:cNvCxnSpPr>
            <a:cxnSpLocks/>
          </p:cNvCxnSpPr>
          <p:nvPr/>
        </p:nvCxnSpPr>
        <p:spPr>
          <a:xfrm>
            <a:off x="4639130" y="6029893"/>
            <a:ext cx="1051800"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156D9B8A-8BB8-4104-A3BB-FED1AF73127D}"/>
              </a:ext>
            </a:extLst>
          </p:cNvPr>
          <p:cNvSpPr txBox="1"/>
          <p:nvPr/>
        </p:nvSpPr>
        <p:spPr>
          <a:xfrm>
            <a:off x="7463001" y="80264"/>
            <a:ext cx="2457724" cy="369332"/>
          </a:xfrm>
          <a:prstGeom prst="rect">
            <a:avLst/>
          </a:prstGeom>
          <a:solidFill>
            <a:srgbClr val="FFFF00"/>
          </a:solidFill>
        </p:spPr>
        <p:txBody>
          <a:bodyPr wrap="none" rtlCol="0">
            <a:spAutoFit/>
          </a:bodyPr>
          <a:lstStyle/>
          <a:p>
            <a:r>
              <a:rPr lang="en-US" b="1" dirty="0"/>
              <a:t>Array: 15 elements </a:t>
            </a:r>
            <a:endParaRPr lang="en-NZ" b="1" dirty="0"/>
          </a:p>
        </p:txBody>
      </p:sp>
      <p:cxnSp>
        <p:nvCxnSpPr>
          <p:cNvPr id="36" name="Straight Arrow Connector 35">
            <a:extLst>
              <a:ext uri="{FF2B5EF4-FFF2-40B4-BE49-F238E27FC236}">
                <a16:creationId xmlns:a16="http://schemas.microsoft.com/office/drawing/2014/main" id="{B36BD65F-11FB-41ED-9924-A52CBA859DD6}"/>
              </a:ext>
            </a:extLst>
          </p:cNvPr>
          <p:cNvCxnSpPr>
            <a:cxnSpLocks/>
          </p:cNvCxnSpPr>
          <p:nvPr/>
        </p:nvCxnSpPr>
        <p:spPr>
          <a:xfrm>
            <a:off x="5690930" y="2714041"/>
            <a:ext cx="1232384" cy="1014367"/>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41" name="Picture 40">
            <a:extLst>
              <a:ext uri="{FF2B5EF4-FFF2-40B4-BE49-F238E27FC236}">
                <a16:creationId xmlns:a16="http://schemas.microsoft.com/office/drawing/2014/main" id="{13F8F5DA-2D21-430E-9AF5-8100B604E9F7}"/>
              </a:ext>
            </a:extLst>
          </p:cNvPr>
          <p:cNvPicPr>
            <a:picLocks noChangeAspect="1"/>
          </p:cNvPicPr>
          <p:nvPr/>
        </p:nvPicPr>
        <p:blipFill>
          <a:blip r:embed="rId3"/>
          <a:stretch>
            <a:fillRect/>
          </a:stretch>
        </p:blipFill>
        <p:spPr>
          <a:xfrm>
            <a:off x="10038067" y="47606"/>
            <a:ext cx="2140153" cy="6858000"/>
          </a:xfrm>
          <a:prstGeom prst="rect">
            <a:avLst/>
          </a:prstGeom>
        </p:spPr>
      </p:pic>
    </p:spTree>
    <p:extLst>
      <p:ext uri="{BB962C8B-B14F-4D97-AF65-F5344CB8AC3E}">
        <p14:creationId xmlns:p14="http://schemas.microsoft.com/office/powerpoint/2010/main" val="39572645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17D0BF84-24A1-4DBD-8500-6DE6A3387FDD}"/>
              </a:ext>
            </a:extLst>
          </p:cNvPr>
          <p:cNvSpPr>
            <a:spLocks noGrp="1"/>
          </p:cNvSpPr>
          <p:nvPr>
            <p:ph type="title"/>
          </p:nvPr>
        </p:nvSpPr>
        <p:spPr>
          <a:xfrm>
            <a:off x="1675416" y="149350"/>
            <a:ext cx="9327375" cy="546537"/>
          </a:xfrm>
          <a:solidFill>
            <a:schemeClr val="accent2"/>
          </a:solidFill>
        </p:spPr>
        <p:txBody>
          <a:bodyPr>
            <a:normAutofit fontScale="90000"/>
          </a:bodyPr>
          <a:lstStyle/>
          <a:p>
            <a:pPr algn="ctr"/>
            <a:r>
              <a:rPr lang="en-US" sz="4000" b="1" dirty="0">
                <a:latin typeface="+mn-lt"/>
              </a:rPr>
              <a:t>VIEW AT HOME</a:t>
            </a:r>
            <a:endParaRPr lang="en-NZ" sz="5400" b="1" dirty="0">
              <a:latin typeface="+mn-lt"/>
            </a:endParaRPr>
          </a:p>
        </p:txBody>
      </p:sp>
      <p:sp>
        <p:nvSpPr>
          <p:cNvPr id="7" name="TextBox 6">
            <a:extLst>
              <a:ext uri="{FF2B5EF4-FFF2-40B4-BE49-F238E27FC236}">
                <a16:creationId xmlns:a16="http://schemas.microsoft.com/office/drawing/2014/main" id="{4EE9056D-11FA-46BF-8C10-CCCB53778AFE}"/>
              </a:ext>
            </a:extLst>
          </p:cNvPr>
          <p:cNvSpPr txBox="1"/>
          <p:nvPr/>
        </p:nvSpPr>
        <p:spPr>
          <a:xfrm>
            <a:off x="1675416" y="799452"/>
            <a:ext cx="9327375" cy="646331"/>
          </a:xfrm>
          <a:prstGeom prst="rect">
            <a:avLst/>
          </a:prstGeom>
          <a:solidFill>
            <a:srgbClr val="FFFF00"/>
          </a:solidFill>
        </p:spPr>
        <p:txBody>
          <a:bodyPr wrap="square">
            <a:spAutoFit/>
          </a:bodyPr>
          <a:lstStyle/>
          <a:p>
            <a:pPr algn="ctr"/>
            <a:r>
              <a:rPr lang="en-NZ" b="1" i="0" dirty="0">
                <a:solidFill>
                  <a:srgbClr val="1D2125"/>
                </a:solidFill>
                <a:effectLst/>
                <a:latin typeface="+mn-lt"/>
              </a:rPr>
              <a:t>Video: “Characters, Symbols and the Unicode Miracle - Computerphile”</a:t>
            </a:r>
          </a:p>
          <a:p>
            <a:pPr algn="ctr"/>
            <a:r>
              <a:rPr lang="en-NZ" dirty="0">
                <a:solidFill>
                  <a:srgbClr val="1D2125"/>
                </a:solidFill>
                <a:latin typeface="+mn-lt"/>
              </a:rPr>
              <a:t>Link: </a:t>
            </a:r>
            <a:r>
              <a:rPr lang="en-NZ" dirty="0">
                <a:solidFill>
                  <a:srgbClr val="1D2125"/>
                </a:solidFill>
                <a:latin typeface="+mn-lt"/>
                <a:hlinkClick r:id="rId2"/>
              </a:rPr>
              <a:t>https://youtu.be/MijmeoH9LT4?si=RZP88AxRNopQK3Uk</a:t>
            </a:r>
            <a:r>
              <a:rPr lang="en-NZ" dirty="0">
                <a:solidFill>
                  <a:srgbClr val="1D2125"/>
                </a:solidFill>
                <a:latin typeface="+mn-lt"/>
              </a:rPr>
              <a:t> </a:t>
            </a:r>
            <a:endParaRPr lang="en-NZ" dirty="0">
              <a:latin typeface="+mn-lt"/>
            </a:endParaRPr>
          </a:p>
        </p:txBody>
      </p:sp>
      <p:pic>
        <p:nvPicPr>
          <p:cNvPr id="3" name="Picture 2">
            <a:extLst>
              <a:ext uri="{FF2B5EF4-FFF2-40B4-BE49-F238E27FC236}">
                <a16:creationId xmlns:a16="http://schemas.microsoft.com/office/drawing/2014/main" id="{EEDBF514-C9AB-4EC7-B7F2-F63BE3BC5CD0}"/>
              </a:ext>
            </a:extLst>
          </p:cNvPr>
          <p:cNvPicPr>
            <a:picLocks noChangeAspect="1"/>
          </p:cNvPicPr>
          <p:nvPr/>
        </p:nvPicPr>
        <p:blipFill>
          <a:blip r:embed="rId3"/>
          <a:stretch>
            <a:fillRect/>
          </a:stretch>
        </p:blipFill>
        <p:spPr>
          <a:xfrm>
            <a:off x="1650716" y="1590599"/>
            <a:ext cx="9352075" cy="5267401"/>
          </a:xfrm>
          <a:prstGeom prst="rect">
            <a:avLst/>
          </a:prstGeom>
        </p:spPr>
      </p:pic>
    </p:spTree>
    <p:extLst>
      <p:ext uri="{BB962C8B-B14F-4D97-AF65-F5344CB8AC3E}">
        <p14:creationId xmlns:p14="http://schemas.microsoft.com/office/powerpoint/2010/main" val="31847481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Tech 16x9">
  <a:themeElements>
    <a:clrScheme name="Tech_16x9">
      <a:dk1>
        <a:sysClr val="windowText" lastClr="000000"/>
      </a:dk1>
      <a:lt1>
        <a:sysClr val="window" lastClr="FFFFFF"/>
      </a:lt1>
      <a:dk2>
        <a:srgbClr val="192A52"/>
      </a:dk2>
      <a:lt2>
        <a:srgbClr val="C0C0C0"/>
      </a:lt2>
      <a:accent1>
        <a:srgbClr val="009999"/>
      </a:accent1>
      <a:accent2>
        <a:srgbClr val="E98915"/>
      </a:accent2>
      <a:accent3>
        <a:srgbClr val="A419A7"/>
      </a:accent3>
      <a:accent4>
        <a:srgbClr val="AFC34D"/>
      </a:accent4>
      <a:accent5>
        <a:srgbClr val="E5572B"/>
      </a:accent5>
      <a:accent6>
        <a:srgbClr val="6868C4"/>
      </a:accent6>
      <a:hlink>
        <a:srgbClr val="009999"/>
      </a:hlink>
      <a:folHlink>
        <a:srgbClr val="7F7F7F"/>
      </a:folHlink>
    </a:clrScheme>
    <a:fontScheme name="Calibri">
      <a:maj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Tech_16x9">
      <a:fillStyleLst>
        <a:solidFill>
          <a:schemeClr val="phClr"/>
        </a:solidFill>
        <a:gradFill rotWithShape="1">
          <a:gsLst>
            <a:gs pos="0">
              <a:schemeClr val="phClr">
                <a:tint val="20000"/>
                <a:satMod val="180000"/>
                <a:lumMod val="98000"/>
              </a:schemeClr>
            </a:gs>
            <a:gs pos="40000">
              <a:schemeClr val="phClr">
                <a:tint val="30000"/>
                <a:satMod val="260000"/>
                <a:lumMod val="84000"/>
              </a:schemeClr>
            </a:gs>
            <a:gs pos="100000">
              <a:schemeClr val="phClr">
                <a:tint val="100000"/>
                <a:satMod val="110000"/>
              </a:schemeClr>
            </a:gs>
          </a:gsLst>
          <a:lin ang="5040000" scaled="1"/>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100000"/>
                <a:shade val="100000"/>
                <a:satMod val="155000"/>
              </a:schemeClr>
            </a:gs>
          </a:gsLst>
          <a:lin ang="16200000" scaled="0"/>
        </a:gradFill>
      </a:fillStyleLst>
      <a:lnStyleLst>
        <a:ln w="9525" cap="flat" cmpd="sng" algn="ctr">
          <a:solidFill>
            <a:schemeClr val="phClr"/>
          </a:solidFill>
          <a:miter lim="800000"/>
        </a:ln>
        <a:ln w="25400" cap="flat" cmpd="sng" algn="ctr">
          <a:solidFill>
            <a:schemeClr val="phClr"/>
          </a:solidFill>
          <a:miter lim="800000"/>
        </a:ln>
        <a:ln w="38100" cap="flat" cmpd="sng" algn="ctr">
          <a:solidFill>
            <a:schemeClr val="phClr"/>
          </a:solidFill>
          <a:miter lim="800000"/>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atMod val="300000"/>
              </a:schemeClr>
            </a:contourClr>
          </a:sp3d>
        </a:effectStyle>
      </a:effectStyleLst>
      <a:bgFillStyleLst>
        <a:solidFill>
          <a:schemeClr val="phClr"/>
        </a:solidFill>
        <a:gradFill rotWithShape="1">
          <a:gsLst>
            <a:gs pos="0">
              <a:schemeClr val="phClr">
                <a:tint val="100000"/>
                <a:shade val="0"/>
                <a:satMod val="100000"/>
              </a:schemeClr>
            </a:gs>
            <a:gs pos="85000">
              <a:schemeClr val="phClr">
                <a:tint val="100000"/>
                <a:shade val="30000"/>
                <a:satMod val="100000"/>
              </a:schemeClr>
            </a:gs>
            <a:gs pos="100000">
              <a:schemeClr val="phClr">
                <a:shade val="60000"/>
                <a:satMod val="100000"/>
              </a:schemeClr>
            </a:gs>
          </a:gsLst>
          <a:lin ang="13500000" scaled="0"/>
        </a:gradFill>
        <a:gradFill rotWithShape="1">
          <a:gsLst>
            <a:gs pos="0">
              <a:schemeClr val="phClr">
                <a:tint val="100000"/>
                <a:shade val="0"/>
                <a:satMod val="100000"/>
              </a:schemeClr>
            </a:gs>
            <a:gs pos="85000">
              <a:schemeClr val="phClr">
                <a:shade val="30000"/>
                <a:satMod val="100000"/>
              </a:schemeClr>
            </a:gs>
            <a:gs pos="100000">
              <a:schemeClr val="phClr">
                <a:shade val="60000"/>
                <a:satMod val="100000"/>
              </a:schemeClr>
            </a:gs>
          </a:gsLst>
          <a:lin ang="18900000" scaled="0"/>
        </a:gradFill>
      </a:bgFillStyleLst>
    </a:fmtScheme>
  </a:themeElements>
  <a:objectDefaults>
    <a:spDef>
      <a:spPr/>
      <a:bodyPr rtlCol="0" anchor="ctr"/>
      <a:lstStyle>
        <a:defPPr algn="ctr">
          <a:defRPr sz="2800"/>
        </a:defPPr>
      </a:lstStyle>
      <a:style>
        <a:lnRef idx="2">
          <a:schemeClr val="accent1">
            <a:shade val="50000"/>
          </a:schemeClr>
        </a:lnRef>
        <a:fillRef idx="1">
          <a:schemeClr val="accent1"/>
        </a:fillRef>
        <a:effectRef idx="0">
          <a:schemeClr val="accent1"/>
        </a:effectRef>
        <a:fontRef idx="minor">
          <a:schemeClr val="lt1"/>
        </a:fontRef>
      </a:style>
    </a:spDef>
    <a:lnDef>
      <a:spPr>
        <a:ln w="25400"/>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defRPr sz="2800"/>
        </a:defPPr>
      </a:lstStyle>
    </a:txDef>
  </a:objectDefaults>
  <a:extraClrSchemeLst/>
</a:theme>
</file>

<file path=ppt/theme/theme2.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10082</TotalTime>
  <Pages>9</Pages>
  <Words>1649</Words>
  <Application>Microsoft Office PowerPoint</Application>
  <PresentationFormat>Widescreen</PresentationFormat>
  <Paragraphs>277</Paragraphs>
  <Slides>14</Slides>
  <Notes>6</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14</vt:i4>
      </vt:variant>
    </vt:vector>
  </HeadingPairs>
  <TitlesOfParts>
    <vt:vector size="21" baseType="lpstr">
      <vt:lpstr>Arial</vt:lpstr>
      <vt:lpstr>Calibri</vt:lpstr>
      <vt:lpstr>Calibri Light</vt:lpstr>
      <vt:lpstr>Tahoma</vt:lpstr>
      <vt:lpstr>Times New Roman</vt:lpstr>
      <vt:lpstr>Tech 16x9</vt:lpstr>
      <vt:lpstr>Office Theme</vt:lpstr>
      <vt:lpstr>ITDT5.228 INTRODUCTION TO DATA CONCEPTS</vt:lpstr>
      <vt:lpstr>PowerPoint Presentation</vt:lpstr>
      <vt:lpstr>Character encoding</vt:lpstr>
      <vt:lpstr>Character encoding</vt:lpstr>
      <vt:lpstr>Decoder: convert “binary numbers” to “characters”</vt:lpstr>
      <vt:lpstr>PowerPoint Presentation</vt:lpstr>
      <vt:lpstr>ARRAY</vt:lpstr>
      <vt:lpstr>PowerPoint Presentation</vt:lpstr>
      <vt:lpstr>PowerPoint Presentation</vt:lpstr>
      <vt:lpstr>PowerPoint Presentation</vt:lpstr>
      <vt:lpstr>PowerPoint Presentation</vt:lpstr>
      <vt:lpstr>Hash Table: A data structure that stores key-value pairs, where the key is used to determine the location (index) of the value within the table.   In hash tables, collisions occur when different keys map to the same index.   To resolve this, common techniques include separate chaining (using linked lists to store multiple values at the same index) and open addressing (finding an alternative empty slot). </vt:lpstr>
      <vt:lpstr>PowerPoint Presentation</vt:lpstr>
      <vt:lpstr>VIEW AT HOME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Logical Database Design and the Relational Model</dc:title>
  <dc:creator>Michel Mitri</dc:creator>
  <cp:lastModifiedBy>Daniel Dang</cp:lastModifiedBy>
  <cp:revision>1015</cp:revision>
  <cp:lastPrinted>2022-02-10T04:03:46Z</cp:lastPrinted>
  <dcterms:created xsi:type="dcterms:W3CDTF">1998-01-19T10:00:26Z</dcterms:created>
  <dcterms:modified xsi:type="dcterms:W3CDTF">2026-03-18T10:24:40Z</dcterms:modified>
</cp:coreProperties>
</file>