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1" r:id="rId1"/>
  </p:sldMasterIdLst>
  <p:notesMasterIdLst>
    <p:notesMasterId r:id="rId55"/>
  </p:notesMasterIdLst>
  <p:sldIdLst>
    <p:sldId id="256" r:id="rId2"/>
    <p:sldId id="370" r:id="rId3"/>
    <p:sldId id="321" r:id="rId4"/>
    <p:sldId id="259" r:id="rId5"/>
    <p:sldId id="367" r:id="rId6"/>
    <p:sldId id="368" r:id="rId7"/>
    <p:sldId id="322" r:id="rId8"/>
    <p:sldId id="369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3" r:id="rId19"/>
    <p:sldId id="276" r:id="rId20"/>
    <p:sldId id="277" r:id="rId21"/>
    <p:sldId id="371" r:id="rId22"/>
    <p:sldId id="278" r:id="rId23"/>
    <p:sldId id="279" r:id="rId24"/>
    <p:sldId id="280" r:id="rId25"/>
    <p:sldId id="281" r:id="rId26"/>
    <p:sldId id="282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303" r:id="rId38"/>
    <p:sldId id="304" r:id="rId39"/>
    <p:sldId id="305" r:id="rId40"/>
    <p:sldId id="306" r:id="rId41"/>
    <p:sldId id="307" r:id="rId42"/>
    <p:sldId id="308" r:id="rId43"/>
    <p:sldId id="309" r:id="rId44"/>
    <p:sldId id="310" r:id="rId45"/>
    <p:sldId id="311" r:id="rId46"/>
    <p:sldId id="312" r:id="rId47"/>
    <p:sldId id="313" r:id="rId48"/>
    <p:sldId id="314" r:id="rId49"/>
    <p:sldId id="315" r:id="rId50"/>
    <p:sldId id="316" r:id="rId51"/>
    <p:sldId id="317" r:id="rId52"/>
    <p:sldId id="366" r:id="rId53"/>
    <p:sldId id="365" r:id="rId54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1308" y="2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B911FA1-44FC-4EE7-AD5C-B3010AB2074B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NZ"/>
        </a:p>
      </dgm:t>
    </dgm:pt>
    <dgm:pt modelId="{12431096-E056-4C32-95A5-9BBAF0908B09}">
      <dgm:prSet phldrT="[Text]"/>
      <dgm:spPr/>
      <dgm:t>
        <a:bodyPr/>
        <a:lstStyle/>
        <a:p>
          <a:pPr>
            <a:buSzPts val="3200"/>
            <a:buFont typeface="Calibri"/>
            <a:buAutoNum type="arabicPeriod"/>
          </a:pPr>
          <a:r>
            <a:rPr lang="en-NZ" dirty="0"/>
            <a:t>Eliminate Waste</a:t>
          </a:r>
        </a:p>
      </dgm:t>
    </dgm:pt>
    <dgm:pt modelId="{E091D04A-07EB-4F13-91DE-1178B9F780CD}" type="parTrans" cxnId="{CB05A5BF-0A2C-4B8D-9722-BDDE8F59E2D1}">
      <dgm:prSet/>
      <dgm:spPr/>
      <dgm:t>
        <a:bodyPr/>
        <a:lstStyle/>
        <a:p>
          <a:endParaRPr lang="en-NZ"/>
        </a:p>
      </dgm:t>
    </dgm:pt>
    <dgm:pt modelId="{6705FAAA-52C8-4415-ACEB-2DF65DB0E306}" type="sibTrans" cxnId="{CB05A5BF-0A2C-4B8D-9722-BDDE8F59E2D1}">
      <dgm:prSet/>
      <dgm:spPr/>
      <dgm:t>
        <a:bodyPr/>
        <a:lstStyle/>
        <a:p>
          <a:endParaRPr lang="en-NZ"/>
        </a:p>
      </dgm:t>
    </dgm:pt>
    <dgm:pt modelId="{200162C3-0A50-47C1-95E3-A93F28560778}">
      <dgm:prSet phldrT="[Text]" custT="1"/>
      <dgm:spPr/>
      <dgm:t>
        <a:bodyPr/>
        <a:lstStyle/>
        <a:p>
          <a:pPr>
            <a:buSzPts val="3740"/>
            <a:buNone/>
          </a:pPr>
          <a:r>
            <a:rPr lang="en-NZ" sz="2000" b="0" dirty="0"/>
            <a:t>Delay, Bureaucracy, &amp; Unnecessary code </a:t>
          </a:r>
        </a:p>
      </dgm:t>
    </dgm:pt>
    <dgm:pt modelId="{18C44276-9A65-4C13-8DF2-E94F2331AF8E}" type="parTrans" cxnId="{789CA51F-DA90-4466-AD9A-847FE9BAF93C}">
      <dgm:prSet/>
      <dgm:spPr/>
      <dgm:t>
        <a:bodyPr/>
        <a:lstStyle/>
        <a:p>
          <a:endParaRPr lang="en-NZ"/>
        </a:p>
      </dgm:t>
    </dgm:pt>
    <dgm:pt modelId="{10EBE6DB-DF17-409F-B7CA-1C836280A4F4}" type="sibTrans" cxnId="{789CA51F-DA90-4466-AD9A-847FE9BAF93C}">
      <dgm:prSet/>
      <dgm:spPr/>
      <dgm:t>
        <a:bodyPr/>
        <a:lstStyle/>
        <a:p>
          <a:endParaRPr lang="en-NZ"/>
        </a:p>
      </dgm:t>
    </dgm:pt>
    <dgm:pt modelId="{3203567D-B666-4F69-8D90-4494560F8826}">
      <dgm:prSet phldrT="[Text]"/>
      <dgm:spPr/>
      <dgm:t>
        <a:bodyPr/>
        <a:lstStyle/>
        <a:p>
          <a:r>
            <a:rPr lang="en-NZ" dirty="0"/>
            <a:t>Build Quality In</a:t>
          </a:r>
        </a:p>
      </dgm:t>
    </dgm:pt>
    <dgm:pt modelId="{85C1972E-9AAF-4680-BD1C-752B0B836374}" type="parTrans" cxnId="{741041D4-079E-4BA8-8754-5A667659243E}">
      <dgm:prSet/>
      <dgm:spPr/>
      <dgm:t>
        <a:bodyPr/>
        <a:lstStyle/>
        <a:p>
          <a:endParaRPr lang="en-NZ"/>
        </a:p>
      </dgm:t>
    </dgm:pt>
    <dgm:pt modelId="{BB13B8E2-3D69-442F-81FA-712D3475A37E}" type="sibTrans" cxnId="{741041D4-079E-4BA8-8754-5A667659243E}">
      <dgm:prSet/>
      <dgm:spPr/>
      <dgm:t>
        <a:bodyPr/>
        <a:lstStyle/>
        <a:p>
          <a:endParaRPr lang="en-NZ"/>
        </a:p>
      </dgm:t>
    </dgm:pt>
    <dgm:pt modelId="{978C1B30-FD34-4E0B-88B6-A02AFFE9E932}">
      <dgm:prSet phldrT="[Text]"/>
      <dgm:spPr/>
      <dgm:t>
        <a:bodyPr/>
        <a:lstStyle/>
        <a:p>
          <a:r>
            <a:rPr lang="en-NZ" dirty="0"/>
            <a:t>Create Knowledge</a:t>
          </a:r>
        </a:p>
      </dgm:t>
    </dgm:pt>
    <dgm:pt modelId="{F9A7B16E-97E0-4198-9AA0-72698E0136A7}" type="parTrans" cxnId="{D87476DE-AC92-477D-B87E-40EAAEEB6959}">
      <dgm:prSet/>
      <dgm:spPr/>
      <dgm:t>
        <a:bodyPr/>
        <a:lstStyle/>
        <a:p>
          <a:endParaRPr lang="en-NZ"/>
        </a:p>
      </dgm:t>
    </dgm:pt>
    <dgm:pt modelId="{3BA21275-1C6C-499A-884A-5C72D174F3ED}" type="sibTrans" cxnId="{D87476DE-AC92-477D-B87E-40EAAEEB6959}">
      <dgm:prSet/>
      <dgm:spPr/>
      <dgm:t>
        <a:bodyPr/>
        <a:lstStyle/>
        <a:p>
          <a:endParaRPr lang="en-NZ"/>
        </a:p>
      </dgm:t>
    </dgm:pt>
    <dgm:pt modelId="{5745EB9F-EC09-4FD1-B4D0-597EDCA31DCB}">
      <dgm:prSet phldrT="[Text]" custT="1"/>
      <dgm:spPr/>
      <dgm:t>
        <a:bodyPr/>
        <a:lstStyle/>
        <a:p>
          <a:pPr>
            <a:buNone/>
          </a:pPr>
          <a:r>
            <a:rPr lang="en-NZ" sz="2000" dirty="0"/>
            <a:t>Sub optimise &gt; multi-disciplined team</a:t>
          </a:r>
        </a:p>
      </dgm:t>
    </dgm:pt>
    <dgm:pt modelId="{F96D2BD0-5E50-4AC6-BB54-2D062B73987C}" type="parTrans" cxnId="{35CCDF02-497F-4BAD-B0AE-F277EC3EB2BA}">
      <dgm:prSet/>
      <dgm:spPr/>
      <dgm:t>
        <a:bodyPr/>
        <a:lstStyle/>
        <a:p>
          <a:endParaRPr lang="en-NZ"/>
        </a:p>
      </dgm:t>
    </dgm:pt>
    <dgm:pt modelId="{3AAA03B0-7C61-408F-A968-45724D8A17FD}" type="sibTrans" cxnId="{35CCDF02-497F-4BAD-B0AE-F277EC3EB2BA}">
      <dgm:prSet/>
      <dgm:spPr/>
      <dgm:t>
        <a:bodyPr/>
        <a:lstStyle/>
        <a:p>
          <a:endParaRPr lang="en-NZ"/>
        </a:p>
      </dgm:t>
    </dgm:pt>
    <dgm:pt modelId="{B3BD6A9C-2796-444D-9073-B09B0E787C92}">
      <dgm:prSet phldrT="[Text]"/>
      <dgm:spPr/>
      <dgm:t>
        <a:bodyPr/>
        <a:lstStyle/>
        <a:p>
          <a:r>
            <a:rPr lang="en-NZ" dirty="0"/>
            <a:t>Defer Commitment </a:t>
          </a:r>
        </a:p>
      </dgm:t>
    </dgm:pt>
    <dgm:pt modelId="{4EDCB675-D864-465D-97FF-BF6018BE5F89}" type="parTrans" cxnId="{580C0CE0-5DE6-4C60-A6C8-22F69A29D70D}">
      <dgm:prSet/>
      <dgm:spPr/>
      <dgm:t>
        <a:bodyPr/>
        <a:lstStyle/>
        <a:p>
          <a:endParaRPr lang="en-NZ"/>
        </a:p>
      </dgm:t>
    </dgm:pt>
    <dgm:pt modelId="{58C6C447-3AC4-430C-99AD-89A2FB687821}" type="sibTrans" cxnId="{580C0CE0-5DE6-4C60-A6C8-22F69A29D70D}">
      <dgm:prSet/>
      <dgm:spPr/>
      <dgm:t>
        <a:bodyPr/>
        <a:lstStyle/>
        <a:p>
          <a:endParaRPr lang="en-NZ"/>
        </a:p>
      </dgm:t>
    </dgm:pt>
    <dgm:pt modelId="{15C05450-23E1-467B-97E3-483EAA2795B5}">
      <dgm:prSet phldrT="[Text]"/>
      <dgm:spPr/>
      <dgm:t>
        <a:bodyPr/>
        <a:lstStyle/>
        <a:p>
          <a:pPr>
            <a:buSzPts val="3200"/>
            <a:buFont typeface="Calibri"/>
            <a:buAutoNum type="arabicPeriod"/>
          </a:pPr>
          <a:r>
            <a:rPr lang="en-NZ" dirty="0"/>
            <a:t>Deliver Fast</a:t>
          </a:r>
        </a:p>
      </dgm:t>
    </dgm:pt>
    <dgm:pt modelId="{B0EF4A5A-5763-4170-B450-C293B1CC58C2}" type="parTrans" cxnId="{591367E0-7F35-4618-AF66-8A30DCD76446}">
      <dgm:prSet/>
      <dgm:spPr/>
      <dgm:t>
        <a:bodyPr/>
        <a:lstStyle/>
        <a:p>
          <a:endParaRPr lang="en-NZ"/>
        </a:p>
      </dgm:t>
    </dgm:pt>
    <dgm:pt modelId="{68661BE8-999E-4FA9-B0F2-1F0234C3298B}" type="sibTrans" cxnId="{591367E0-7F35-4618-AF66-8A30DCD76446}">
      <dgm:prSet/>
      <dgm:spPr/>
      <dgm:t>
        <a:bodyPr/>
        <a:lstStyle/>
        <a:p>
          <a:endParaRPr lang="en-NZ"/>
        </a:p>
      </dgm:t>
    </dgm:pt>
    <dgm:pt modelId="{BF192063-0FC4-45BF-99C8-B3FAB374887C}">
      <dgm:prSet phldrT="[Text]"/>
      <dgm:spPr/>
      <dgm:t>
        <a:bodyPr/>
        <a:lstStyle/>
        <a:p>
          <a:r>
            <a:rPr lang="en-NZ" dirty="0"/>
            <a:t>Respect People</a:t>
          </a:r>
        </a:p>
      </dgm:t>
    </dgm:pt>
    <dgm:pt modelId="{AB2AB002-3D7B-4B91-A63B-7B2D485FC92E}" type="parTrans" cxnId="{08241BC9-8EAE-4B2C-919F-B793335DFF4E}">
      <dgm:prSet/>
      <dgm:spPr/>
      <dgm:t>
        <a:bodyPr/>
        <a:lstStyle/>
        <a:p>
          <a:endParaRPr lang="en-NZ"/>
        </a:p>
      </dgm:t>
    </dgm:pt>
    <dgm:pt modelId="{141D9C90-104C-4107-8924-CD2EDC23DAFB}" type="sibTrans" cxnId="{08241BC9-8EAE-4B2C-919F-B793335DFF4E}">
      <dgm:prSet/>
      <dgm:spPr/>
      <dgm:t>
        <a:bodyPr/>
        <a:lstStyle/>
        <a:p>
          <a:endParaRPr lang="en-NZ"/>
        </a:p>
      </dgm:t>
    </dgm:pt>
    <dgm:pt modelId="{DF1A1821-536C-49E7-B245-37D4E5F399F9}">
      <dgm:prSet phldrT="[Text]"/>
      <dgm:spPr/>
      <dgm:t>
        <a:bodyPr/>
        <a:lstStyle/>
        <a:p>
          <a:pPr>
            <a:buSzPts val="3200"/>
            <a:buFont typeface="Calibri"/>
            <a:buAutoNum type="arabicPeriod"/>
          </a:pPr>
          <a:r>
            <a:rPr lang="en-NZ"/>
            <a:t>Optimize the Whole</a:t>
          </a:r>
          <a:endParaRPr lang="en-NZ" dirty="0"/>
        </a:p>
      </dgm:t>
    </dgm:pt>
    <dgm:pt modelId="{90B54E8F-47CB-4363-81C8-784A1CBE5326}" type="parTrans" cxnId="{2ECAC4E5-803F-419B-93DC-AFB2CEA508C7}">
      <dgm:prSet/>
      <dgm:spPr/>
      <dgm:t>
        <a:bodyPr/>
        <a:lstStyle/>
        <a:p>
          <a:endParaRPr lang="en-NZ"/>
        </a:p>
      </dgm:t>
    </dgm:pt>
    <dgm:pt modelId="{28E21F91-FFD8-455E-AFAF-D424719D506F}" type="sibTrans" cxnId="{2ECAC4E5-803F-419B-93DC-AFB2CEA508C7}">
      <dgm:prSet/>
      <dgm:spPr/>
      <dgm:t>
        <a:bodyPr/>
        <a:lstStyle/>
        <a:p>
          <a:endParaRPr lang="en-NZ"/>
        </a:p>
      </dgm:t>
    </dgm:pt>
    <dgm:pt modelId="{3EFE8583-EC61-46BE-8FC6-D1CEAA646101}">
      <dgm:prSet phldrT="[Text]" custT="1"/>
      <dgm:spPr/>
      <dgm:t>
        <a:bodyPr/>
        <a:lstStyle/>
        <a:p>
          <a:pPr>
            <a:buNone/>
          </a:pPr>
          <a:r>
            <a:rPr lang="en-NZ" sz="2000" dirty="0"/>
            <a:t>Combined skills, automation, and test</a:t>
          </a:r>
        </a:p>
      </dgm:t>
    </dgm:pt>
    <dgm:pt modelId="{9093F469-1927-4499-94AA-24F1343F3928}" type="parTrans" cxnId="{2A430916-07CF-4E89-8BB6-8F987A395706}">
      <dgm:prSet/>
      <dgm:spPr/>
      <dgm:t>
        <a:bodyPr/>
        <a:lstStyle/>
        <a:p>
          <a:endParaRPr lang="en-NZ"/>
        </a:p>
      </dgm:t>
    </dgm:pt>
    <dgm:pt modelId="{D5C5488D-C5AC-4972-B84A-61C32183FD6C}" type="sibTrans" cxnId="{2A430916-07CF-4E89-8BB6-8F987A395706}">
      <dgm:prSet/>
      <dgm:spPr/>
      <dgm:t>
        <a:bodyPr/>
        <a:lstStyle/>
        <a:p>
          <a:endParaRPr lang="en-NZ"/>
        </a:p>
      </dgm:t>
    </dgm:pt>
    <dgm:pt modelId="{97290CAA-50EC-4061-B66F-74047A7F5D05}">
      <dgm:prSet phldrT="[Text]" custT="1"/>
      <dgm:spPr/>
      <dgm:t>
        <a:bodyPr/>
        <a:lstStyle/>
        <a:p>
          <a:pPr>
            <a:buNone/>
          </a:pPr>
          <a:r>
            <a:rPr lang="en-NZ" sz="2000" dirty="0"/>
            <a:t>Infrastructure and documentation</a:t>
          </a:r>
        </a:p>
      </dgm:t>
    </dgm:pt>
    <dgm:pt modelId="{ACC2B47C-F43D-4130-A714-6F403D60DFEA}" type="parTrans" cxnId="{2942779C-A187-4816-A146-BBB44D142D18}">
      <dgm:prSet/>
      <dgm:spPr/>
      <dgm:t>
        <a:bodyPr/>
        <a:lstStyle/>
        <a:p>
          <a:endParaRPr lang="en-NZ"/>
        </a:p>
      </dgm:t>
    </dgm:pt>
    <dgm:pt modelId="{B0B25B7F-A5A5-4EF0-995B-691230B80C6E}" type="sibTrans" cxnId="{2942779C-A187-4816-A146-BBB44D142D18}">
      <dgm:prSet/>
      <dgm:spPr/>
      <dgm:t>
        <a:bodyPr/>
        <a:lstStyle/>
        <a:p>
          <a:endParaRPr lang="en-NZ"/>
        </a:p>
      </dgm:t>
    </dgm:pt>
    <dgm:pt modelId="{D002A0E5-E2CC-4EBC-82C7-8F358687832E}">
      <dgm:prSet phldrT="[Text]" custT="1"/>
      <dgm:spPr/>
      <dgm:t>
        <a:bodyPr/>
        <a:lstStyle/>
        <a:p>
          <a:pPr>
            <a:buNone/>
          </a:pPr>
          <a:r>
            <a:rPr lang="en-NZ" sz="2000" dirty="0"/>
            <a:t>Options open, collect and analyse info. </a:t>
          </a:r>
        </a:p>
      </dgm:t>
    </dgm:pt>
    <dgm:pt modelId="{4368D051-126D-45C6-BDB3-8E7FFEDA0F81}" type="parTrans" cxnId="{A763C495-A803-4BD4-93F0-6AA0130BF838}">
      <dgm:prSet/>
      <dgm:spPr/>
      <dgm:t>
        <a:bodyPr/>
        <a:lstStyle/>
        <a:p>
          <a:endParaRPr lang="en-NZ"/>
        </a:p>
      </dgm:t>
    </dgm:pt>
    <dgm:pt modelId="{1BD6D392-D178-4370-9C66-F973D38D0603}" type="sibTrans" cxnId="{A763C495-A803-4BD4-93F0-6AA0130BF838}">
      <dgm:prSet/>
      <dgm:spPr/>
      <dgm:t>
        <a:bodyPr/>
        <a:lstStyle/>
        <a:p>
          <a:endParaRPr lang="en-NZ"/>
        </a:p>
      </dgm:t>
    </dgm:pt>
    <dgm:pt modelId="{7E1A76E4-90B0-4E55-B168-C55E5E25462F}">
      <dgm:prSet phldrT="[Text]" custT="1"/>
      <dgm:spPr/>
      <dgm:t>
        <a:bodyPr/>
        <a:lstStyle/>
        <a:p>
          <a:pPr>
            <a:buNone/>
          </a:pPr>
          <a:r>
            <a:rPr lang="en-NZ" sz="2000" dirty="0"/>
            <a:t>speed bumps and simple solution</a:t>
          </a:r>
        </a:p>
      </dgm:t>
    </dgm:pt>
    <dgm:pt modelId="{2DCF1D78-EE7B-403A-A627-9E04D7875C69}" type="parTrans" cxnId="{C685E39E-F95A-41E0-B075-735E1FD2B387}">
      <dgm:prSet/>
      <dgm:spPr/>
      <dgm:t>
        <a:bodyPr/>
        <a:lstStyle/>
        <a:p>
          <a:endParaRPr lang="en-NZ"/>
        </a:p>
      </dgm:t>
    </dgm:pt>
    <dgm:pt modelId="{A05F063E-2564-4FD1-B34D-9404D643193F}" type="sibTrans" cxnId="{C685E39E-F95A-41E0-B075-735E1FD2B387}">
      <dgm:prSet/>
      <dgm:spPr/>
      <dgm:t>
        <a:bodyPr/>
        <a:lstStyle/>
        <a:p>
          <a:endParaRPr lang="en-NZ"/>
        </a:p>
      </dgm:t>
    </dgm:pt>
    <dgm:pt modelId="{843A63BD-3B42-496A-8A81-B063EDA2CB64}">
      <dgm:prSet phldrT="[Text]" custT="1"/>
      <dgm:spPr/>
      <dgm:t>
        <a:bodyPr/>
        <a:lstStyle/>
        <a:p>
          <a:pPr>
            <a:buNone/>
          </a:pPr>
          <a:r>
            <a:rPr lang="en-NZ" sz="2000" dirty="0"/>
            <a:t>Focus on communication and health</a:t>
          </a:r>
        </a:p>
      </dgm:t>
    </dgm:pt>
    <dgm:pt modelId="{DA3BF54E-408D-4440-B2A2-DB4FA6693E24}" type="parTrans" cxnId="{80063935-22C5-40A0-8931-8D2D8E73565F}">
      <dgm:prSet/>
      <dgm:spPr/>
      <dgm:t>
        <a:bodyPr/>
        <a:lstStyle/>
        <a:p>
          <a:endParaRPr lang="en-NZ"/>
        </a:p>
      </dgm:t>
    </dgm:pt>
    <dgm:pt modelId="{8D438CB4-ECF3-4E0C-968F-25C97DD1DE04}" type="sibTrans" cxnId="{80063935-22C5-40A0-8931-8D2D8E73565F}">
      <dgm:prSet/>
      <dgm:spPr/>
      <dgm:t>
        <a:bodyPr/>
        <a:lstStyle/>
        <a:p>
          <a:endParaRPr lang="en-NZ"/>
        </a:p>
      </dgm:t>
    </dgm:pt>
    <dgm:pt modelId="{1359D928-835F-4D88-8FEC-7A87D1169159}" type="pres">
      <dgm:prSet presAssocID="{9B911FA1-44FC-4EE7-AD5C-B3010AB2074B}" presName="Name0" presStyleCnt="0">
        <dgm:presLayoutVars>
          <dgm:dir/>
          <dgm:animLvl val="lvl"/>
          <dgm:resizeHandles val="exact"/>
        </dgm:presLayoutVars>
      </dgm:prSet>
      <dgm:spPr/>
    </dgm:pt>
    <dgm:pt modelId="{7D39522F-B55D-4884-8A83-72078B6EE822}" type="pres">
      <dgm:prSet presAssocID="{12431096-E056-4C32-95A5-9BBAF0908B09}" presName="linNode" presStyleCnt="0"/>
      <dgm:spPr/>
    </dgm:pt>
    <dgm:pt modelId="{BE4E8F0F-96E5-4D0C-BBEA-6A0DBD9B1585}" type="pres">
      <dgm:prSet presAssocID="{12431096-E056-4C32-95A5-9BBAF0908B09}" presName="parentText" presStyleLbl="node1" presStyleIdx="0" presStyleCnt="7">
        <dgm:presLayoutVars>
          <dgm:chMax val="1"/>
          <dgm:bulletEnabled val="1"/>
        </dgm:presLayoutVars>
      </dgm:prSet>
      <dgm:spPr/>
    </dgm:pt>
    <dgm:pt modelId="{738AA8F6-E19E-4CA3-BE4C-E585DABF82CD}" type="pres">
      <dgm:prSet presAssocID="{12431096-E056-4C32-95A5-9BBAF0908B09}" presName="descendantText" presStyleLbl="alignAccFollowNode1" presStyleIdx="0" presStyleCnt="7">
        <dgm:presLayoutVars>
          <dgm:bulletEnabled val="1"/>
        </dgm:presLayoutVars>
      </dgm:prSet>
      <dgm:spPr/>
    </dgm:pt>
    <dgm:pt modelId="{43AFBEAC-CE22-4670-9500-ED1313D9814A}" type="pres">
      <dgm:prSet presAssocID="{6705FAAA-52C8-4415-ACEB-2DF65DB0E306}" presName="sp" presStyleCnt="0"/>
      <dgm:spPr/>
    </dgm:pt>
    <dgm:pt modelId="{3DB366CF-8382-4F84-A8E4-6D3F46055EF5}" type="pres">
      <dgm:prSet presAssocID="{3203567D-B666-4F69-8D90-4494560F8826}" presName="linNode" presStyleCnt="0"/>
      <dgm:spPr/>
    </dgm:pt>
    <dgm:pt modelId="{983C0B06-DBA9-41A2-999E-086048F1FA06}" type="pres">
      <dgm:prSet presAssocID="{3203567D-B666-4F69-8D90-4494560F8826}" presName="parentText" presStyleLbl="node1" presStyleIdx="1" presStyleCnt="7">
        <dgm:presLayoutVars>
          <dgm:chMax val="1"/>
          <dgm:bulletEnabled val="1"/>
        </dgm:presLayoutVars>
      </dgm:prSet>
      <dgm:spPr/>
    </dgm:pt>
    <dgm:pt modelId="{3BD1B07D-6E43-4F19-B8D1-DD88AAC92351}" type="pres">
      <dgm:prSet presAssocID="{3203567D-B666-4F69-8D90-4494560F8826}" presName="descendantText" presStyleLbl="alignAccFollowNode1" presStyleIdx="1" presStyleCnt="7">
        <dgm:presLayoutVars>
          <dgm:bulletEnabled val="1"/>
        </dgm:presLayoutVars>
      </dgm:prSet>
      <dgm:spPr/>
    </dgm:pt>
    <dgm:pt modelId="{3C42598B-6192-4E18-AFA3-7075E3AC71D3}" type="pres">
      <dgm:prSet presAssocID="{BB13B8E2-3D69-442F-81FA-712D3475A37E}" presName="sp" presStyleCnt="0"/>
      <dgm:spPr/>
    </dgm:pt>
    <dgm:pt modelId="{1A56BE19-4DC2-4500-A0CA-CF3747AA9009}" type="pres">
      <dgm:prSet presAssocID="{978C1B30-FD34-4E0B-88B6-A02AFFE9E932}" presName="linNode" presStyleCnt="0"/>
      <dgm:spPr/>
    </dgm:pt>
    <dgm:pt modelId="{BF0A9565-42A0-4E37-A145-2B8E14FA5657}" type="pres">
      <dgm:prSet presAssocID="{978C1B30-FD34-4E0B-88B6-A02AFFE9E932}" presName="parentText" presStyleLbl="node1" presStyleIdx="2" presStyleCnt="7">
        <dgm:presLayoutVars>
          <dgm:chMax val="1"/>
          <dgm:bulletEnabled val="1"/>
        </dgm:presLayoutVars>
      </dgm:prSet>
      <dgm:spPr/>
    </dgm:pt>
    <dgm:pt modelId="{F578A353-171F-4544-AEDC-4F0FB19555A8}" type="pres">
      <dgm:prSet presAssocID="{978C1B30-FD34-4E0B-88B6-A02AFFE9E932}" presName="descendantText" presStyleLbl="alignAccFollowNode1" presStyleIdx="2" presStyleCnt="7">
        <dgm:presLayoutVars>
          <dgm:bulletEnabled val="1"/>
        </dgm:presLayoutVars>
      </dgm:prSet>
      <dgm:spPr/>
    </dgm:pt>
    <dgm:pt modelId="{8E563632-C95C-4511-B434-D7A39632E12E}" type="pres">
      <dgm:prSet presAssocID="{3BA21275-1C6C-499A-884A-5C72D174F3ED}" presName="sp" presStyleCnt="0"/>
      <dgm:spPr/>
    </dgm:pt>
    <dgm:pt modelId="{705EE852-23BE-4604-91D8-CAEAA456C469}" type="pres">
      <dgm:prSet presAssocID="{B3BD6A9C-2796-444D-9073-B09B0E787C92}" presName="linNode" presStyleCnt="0"/>
      <dgm:spPr/>
    </dgm:pt>
    <dgm:pt modelId="{040339EC-4776-4B42-AE90-949022E10803}" type="pres">
      <dgm:prSet presAssocID="{B3BD6A9C-2796-444D-9073-B09B0E787C92}" presName="parentText" presStyleLbl="node1" presStyleIdx="3" presStyleCnt="7">
        <dgm:presLayoutVars>
          <dgm:chMax val="1"/>
          <dgm:bulletEnabled val="1"/>
        </dgm:presLayoutVars>
      </dgm:prSet>
      <dgm:spPr/>
    </dgm:pt>
    <dgm:pt modelId="{60632507-4965-4BFA-A51D-98B12E30E04D}" type="pres">
      <dgm:prSet presAssocID="{B3BD6A9C-2796-444D-9073-B09B0E787C92}" presName="descendantText" presStyleLbl="alignAccFollowNode1" presStyleIdx="3" presStyleCnt="7">
        <dgm:presLayoutVars>
          <dgm:bulletEnabled val="1"/>
        </dgm:presLayoutVars>
      </dgm:prSet>
      <dgm:spPr/>
    </dgm:pt>
    <dgm:pt modelId="{6CFE9E77-68C8-4817-AFB2-7DF1D75305D9}" type="pres">
      <dgm:prSet presAssocID="{58C6C447-3AC4-430C-99AD-89A2FB687821}" presName="sp" presStyleCnt="0"/>
      <dgm:spPr/>
    </dgm:pt>
    <dgm:pt modelId="{ABDA52F0-63BE-4ECC-B5E3-A771C09FBABC}" type="pres">
      <dgm:prSet presAssocID="{15C05450-23E1-467B-97E3-483EAA2795B5}" presName="linNode" presStyleCnt="0"/>
      <dgm:spPr/>
    </dgm:pt>
    <dgm:pt modelId="{331F31CE-031A-4AD9-BB42-2DFAD5AF2739}" type="pres">
      <dgm:prSet presAssocID="{15C05450-23E1-467B-97E3-483EAA2795B5}" presName="parentText" presStyleLbl="node1" presStyleIdx="4" presStyleCnt="7">
        <dgm:presLayoutVars>
          <dgm:chMax val="1"/>
          <dgm:bulletEnabled val="1"/>
        </dgm:presLayoutVars>
      </dgm:prSet>
      <dgm:spPr/>
    </dgm:pt>
    <dgm:pt modelId="{2DA3BB37-DDB0-49B3-9419-252E058D4E10}" type="pres">
      <dgm:prSet presAssocID="{15C05450-23E1-467B-97E3-483EAA2795B5}" presName="descendantText" presStyleLbl="alignAccFollowNode1" presStyleIdx="4" presStyleCnt="7">
        <dgm:presLayoutVars>
          <dgm:bulletEnabled val="1"/>
        </dgm:presLayoutVars>
      </dgm:prSet>
      <dgm:spPr/>
    </dgm:pt>
    <dgm:pt modelId="{AAE78D35-595B-48EE-A996-C7715F11FE8C}" type="pres">
      <dgm:prSet presAssocID="{68661BE8-999E-4FA9-B0F2-1F0234C3298B}" presName="sp" presStyleCnt="0"/>
      <dgm:spPr/>
    </dgm:pt>
    <dgm:pt modelId="{FE8CE13F-48CA-4CF0-AFBB-D2159CCC15CF}" type="pres">
      <dgm:prSet presAssocID="{BF192063-0FC4-45BF-99C8-B3FAB374887C}" presName="linNode" presStyleCnt="0"/>
      <dgm:spPr/>
    </dgm:pt>
    <dgm:pt modelId="{9E8F02F8-7548-42AE-BB6E-DA82E5359562}" type="pres">
      <dgm:prSet presAssocID="{BF192063-0FC4-45BF-99C8-B3FAB374887C}" presName="parentText" presStyleLbl="node1" presStyleIdx="5" presStyleCnt="7">
        <dgm:presLayoutVars>
          <dgm:chMax val="1"/>
          <dgm:bulletEnabled val="1"/>
        </dgm:presLayoutVars>
      </dgm:prSet>
      <dgm:spPr/>
    </dgm:pt>
    <dgm:pt modelId="{4EA58ECC-3B7D-495C-AE2D-C327B64FFC7B}" type="pres">
      <dgm:prSet presAssocID="{BF192063-0FC4-45BF-99C8-B3FAB374887C}" presName="descendantText" presStyleLbl="alignAccFollowNode1" presStyleIdx="5" presStyleCnt="7">
        <dgm:presLayoutVars>
          <dgm:bulletEnabled val="1"/>
        </dgm:presLayoutVars>
      </dgm:prSet>
      <dgm:spPr/>
    </dgm:pt>
    <dgm:pt modelId="{C40F5A46-26D3-4B0E-A4EB-13166F7C079B}" type="pres">
      <dgm:prSet presAssocID="{141D9C90-104C-4107-8924-CD2EDC23DAFB}" presName="sp" presStyleCnt="0"/>
      <dgm:spPr/>
    </dgm:pt>
    <dgm:pt modelId="{0FEC77CC-4405-4BF6-92C9-150C8E73A9D3}" type="pres">
      <dgm:prSet presAssocID="{DF1A1821-536C-49E7-B245-37D4E5F399F9}" presName="linNode" presStyleCnt="0"/>
      <dgm:spPr/>
    </dgm:pt>
    <dgm:pt modelId="{004F4121-01D4-452C-9122-F918B303B475}" type="pres">
      <dgm:prSet presAssocID="{DF1A1821-536C-49E7-B245-37D4E5F399F9}" presName="parentText" presStyleLbl="node1" presStyleIdx="6" presStyleCnt="7">
        <dgm:presLayoutVars>
          <dgm:chMax val="1"/>
          <dgm:bulletEnabled val="1"/>
        </dgm:presLayoutVars>
      </dgm:prSet>
      <dgm:spPr/>
    </dgm:pt>
    <dgm:pt modelId="{235158E4-CA5F-484E-BE60-69D55800DCFC}" type="pres">
      <dgm:prSet presAssocID="{DF1A1821-536C-49E7-B245-37D4E5F399F9}" presName="descendantText" presStyleLbl="alignAccFollowNode1" presStyleIdx="6" presStyleCnt="7">
        <dgm:presLayoutVars>
          <dgm:bulletEnabled val="1"/>
        </dgm:presLayoutVars>
      </dgm:prSet>
      <dgm:spPr/>
    </dgm:pt>
  </dgm:ptLst>
  <dgm:cxnLst>
    <dgm:cxn modelId="{35CCDF02-497F-4BAD-B0AE-F277EC3EB2BA}" srcId="{DF1A1821-536C-49E7-B245-37D4E5F399F9}" destId="{5745EB9F-EC09-4FD1-B4D0-597EDCA31DCB}" srcOrd="0" destOrd="0" parTransId="{F96D2BD0-5E50-4AC6-BB54-2D062B73987C}" sibTransId="{3AAA03B0-7C61-408F-A968-45724D8A17FD}"/>
    <dgm:cxn modelId="{2A430916-07CF-4E89-8BB6-8F987A395706}" srcId="{3203567D-B666-4F69-8D90-4494560F8826}" destId="{3EFE8583-EC61-46BE-8FC6-D1CEAA646101}" srcOrd="0" destOrd="0" parTransId="{9093F469-1927-4499-94AA-24F1343F3928}" sibTransId="{D5C5488D-C5AC-4972-B84A-61C32183FD6C}"/>
    <dgm:cxn modelId="{C739641C-62E2-4D9C-B87D-C09A3FCF5381}" type="presOf" srcId="{3EFE8583-EC61-46BE-8FC6-D1CEAA646101}" destId="{3BD1B07D-6E43-4F19-B8D1-DD88AAC92351}" srcOrd="0" destOrd="0" presId="urn:microsoft.com/office/officeart/2005/8/layout/vList5"/>
    <dgm:cxn modelId="{789CA51F-DA90-4466-AD9A-847FE9BAF93C}" srcId="{12431096-E056-4C32-95A5-9BBAF0908B09}" destId="{200162C3-0A50-47C1-95E3-A93F28560778}" srcOrd="0" destOrd="0" parTransId="{18C44276-9A65-4C13-8DF2-E94F2331AF8E}" sibTransId="{10EBE6DB-DF17-409F-B7CA-1C836280A4F4}"/>
    <dgm:cxn modelId="{6001CA20-23C9-402A-8B0C-3008C7829C31}" type="presOf" srcId="{D002A0E5-E2CC-4EBC-82C7-8F358687832E}" destId="{60632507-4965-4BFA-A51D-98B12E30E04D}" srcOrd="0" destOrd="0" presId="urn:microsoft.com/office/officeart/2005/8/layout/vList5"/>
    <dgm:cxn modelId="{80063935-22C5-40A0-8931-8D2D8E73565F}" srcId="{BF192063-0FC4-45BF-99C8-B3FAB374887C}" destId="{843A63BD-3B42-496A-8A81-B063EDA2CB64}" srcOrd="0" destOrd="0" parTransId="{DA3BF54E-408D-4440-B2A2-DB4FA6693E24}" sibTransId="{8D438CB4-ECF3-4E0C-968F-25C97DD1DE04}"/>
    <dgm:cxn modelId="{4289C835-49D1-47F4-BA0E-1907E6FC13CB}" type="presOf" srcId="{12431096-E056-4C32-95A5-9BBAF0908B09}" destId="{BE4E8F0F-96E5-4D0C-BBEA-6A0DBD9B1585}" srcOrd="0" destOrd="0" presId="urn:microsoft.com/office/officeart/2005/8/layout/vList5"/>
    <dgm:cxn modelId="{B4CD033B-62E7-42E7-B202-D641CF1208D6}" type="presOf" srcId="{7E1A76E4-90B0-4E55-B168-C55E5E25462F}" destId="{2DA3BB37-DDB0-49B3-9419-252E058D4E10}" srcOrd="0" destOrd="0" presId="urn:microsoft.com/office/officeart/2005/8/layout/vList5"/>
    <dgm:cxn modelId="{369F0640-24F1-463A-995D-F5CE7B37F057}" type="presOf" srcId="{9B911FA1-44FC-4EE7-AD5C-B3010AB2074B}" destId="{1359D928-835F-4D88-8FEC-7A87D1169159}" srcOrd="0" destOrd="0" presId="urn:microsoft.com/office/officeart/2005/8/layout/vList5"/>
    <dgm:cxn modelId="{D8B5B24E-BA7D-48C6-B0A2-42714232DFE9}" type="presOf" srcId="{B3BD6A9C-2796-444D-9073-B09B0E787C92}" destId="{040339EC-4776-4B42-AE90-949022E10803}" srcOrd="0" destOrd="0" presId="urn:microsoft.com/office/officeart/2005/8/layout/vList5"/>
    <dgm:cxn modelId="{EC44AA5A-77A3-4BD2-84DD-6F423F928BE5}" type="presOf" srcId="{200162C3-0A50-47C1-95E3-A93F28560778}" destId="{738AA8F6-E19E-4CA3-BE4C-E585DABF82CD}" srcOrd="0" destOrd="0" presId="urn:microsoft.com/office/officeart/2005/8/layout/vList5"/>
    <dgm:cxn modelId="{A763C495-A803-4BD4-93F0-6AA0130BF838}" srcId="{B3BD6A9C-2796-444D-9073-B09B0E787C92}" destId="{D002A0E5-E2CC-4EBC-82C7-8F358687832E}" srcOrd="0" destOrd="0" parTransId="{4368D051-126D-45C6-BDB3-8E7FFEDA0F81}" sibTransId="{1BD6D392-D178-4370-9C66-F973D38D0603}"/>
    <dgm:cxn modelId="{2942779C-A187-4816-A146-BBB44D142D18}" srcId="{978C1B30-FD34-4E0B-88B6-A02AFFE9E932}" destId="{97290CAA-50EC-4061-B66F-74047A7F5D05}" srcOrd="0" destOrd="0" parTransId="{ACC2B47C-F43D-4130-A714-6F403D60DFEA}" sibTransId="{B0B25B7F-A5A5-4EF0-995B-691230B80C6E}"/>
    <dgm:cxn modelId="{C685E39E-F95A-41E0-B075-735E1FD2B387}" srcId="{15C05450-23E1-467B-97E3-483EAA2795B5}" destId="{7E1A76E4-90B0-4E55-B168-C55E5E25462F}" srcOrd="0" destOrd="0" parTransId="{2DCF1D78-EE7B-403A-A627-9E04D7875C69}" sibTransId="{A05F063E-2564-4FD1-B34D-9404D643193F}"/>
    <dgm:cxn modelId="{4E7FBEA1-92FC-41C8-8712-CC5AB8E8FC58}" type="presOf" srcId="{5745EB9F-EC09-4FD1-B4D0-597EDCA31DCB}" destId="{235158E4-CA5F-484E-BE60-69D55800DCFC}" srcOrd="0" destOrd="0" presId="urn:microsoft.com/office/officeart/2005/8/layout/vList5"/>
    <dgm:cxn modelId="{D540FBA5-BF04-4ED2-A14C-725F7B38B16C}" type="presOf" srcId="{97290CAA-50EC-4061-B66F-74047A7F5D05}" destId="{F578A353-171F-4544-AEDC-4F0FB19555A8}" srcOrd="0" destOrd="0" presId="urn:microsoft.com/office/officeart/2005/8/layout/vList5"/>
    <dgm:cxn modelId="{29CF91AA-7B35-4242-AD68-A494D6D11EED}" type="presOf" srcId="{DF1A1821-536C-49E7-B245-37D4E5F399F9}" destId="{004F4121-01D4-452C-9122-F918B303B475}" srcOrd="0" destOrd="0" presId="urn:microsoft.com/office/officeart/2005/8/layout/vList5"/>
    <dgm:cxn modelId="{545E6BB8-C637-4737-AF89-397EE769D9C1}" type="presOf" srcId="{15C05450-23E1-467B-97E3-483EAA2795B5}" destId="{331F31CE-031A-4AD9-BB42-2DFAD5AF2739}" srcOrd="0" destOrd="0" presId="urn:microsoft.com/office/officeart/2005/8/layout/vList5"/>
    <dgm:cxn modelId="{CB05A5BF-0A2C-4B8D-9722-BDDE8F59E2D1}" srcId="{9B911FA1-44FC-4EE7-AD5C-B3010AB2074B}" destId="{12431096-E056-4C32-95A5-9BBAF0908B09}" srcOrd="0" destOrd="0" parTransId="{E091D04A-07EB-4F13-91DE-1178B9F780CD}" sibTransId="{6705FAAA-52C8-4415-ACEB-2DF65DB0E306}"/>
    <dgm:cxn modelId="{3BFBAEC6-60F6-4F6B-914E-689934A5F088}" type="presOf" srcId="{BF192063-0FC4-45BF-99C8-B3FAB374887C}" destId="{9E8F02F8-7548-42AE-BB6E-DA82E5359562}" srcOrd="0" destOrd="0" presId="urn:microsoft.com/office/officeart/2005/8/layout/vList5"/>
    <dgm:cxn modelId="{08241BC9-8EAE-4B2C-919F-B793335DFF4E}" srcId="{9B911FA1-44FC-4EE7-AD5C-B3010AB2074B}" destId="{BF192063-0FC4-45BF-99C8-B3FAB374887C}" srcOrd="5" destOrd="0" parTransId="{AB2AB002-3D7B-4B91-A63B-7B2D485FC92E}" sibTransId="{141D9C90-104C-4107-8924-CD2EDC23DAFB}"/>
    <dgm:cxn modelId="{741041D4-079E-4BA8-8754-5A667659243E}" srcId="{9B911FA1-44FC-4EE7-AD5C-B3010AB2074B}" destId="{3203567D-B666-4F69-8D90-4494560F8826}" srcOrd="1" destOrd="0" parTransId="{85C1972E-9AAF-4680-BD1C-752B0B836374}" sibTransId="{BB13B8E2-3D69-442F-81FA-712D3475A37E}"/>
    <dgm:cxn modelId="{80A954D4-5DA4-4B30-A66B-D2F043A3CD78}" type="presOf" srcId="{843A63BD-3B42-496A-8A81-B063EDA2CB64}" destId="{4EA58ECC-3B7D-495C-AE2D-C327B64FFC7B}" srcOrd="0" destOrd="0" presId="urn:microsoft.com/office/officeart/2005/8/layout/vList5"/>
    <dgm:cxn modelId="{D87476DE-AC92-477D-B87E-40EAAEEB6959}" srcId="{9B911FA1-44FC-4EE7-AD5C-B3010AB2074B}" destId="{978C1B30-FD34-4E0B-88B6-A02AFFE9E932}" srcOrd="2" destOrd="0" parTransId="{F9A7B16E-97E0-4198-9AA0-72698E0136A7}" sibTransId="{3BA21275-1C6C-499A-884A-5C72D174F3ED}"/>
    <dgm:cxn modelId="{580C0CE0-5DE6-4C60-A6C8-22F69A29D70D}" srcId="{9B911FA1-44FC-4EE7-AD5C-B3010AB2074B}" destId="{B3BD6A9C-2796-444D-9073-B09B0E787C92}" srcOrd="3" destOrd="0" parTransId="{4EDCB675-D864-465D-97FF-BF6018BE5F89}" sibTransId="{58C6C447-3AC4-430C-99AD-89A2FB687821}"/>
    <dgm:cxn modelId="{591367E0-7F35-4618-AF66-8A30DCD76446}" srcId="{9B911FA1-44FC-4EE7-AD5C-B3010AB2074B}" destId="{15C05450-23E1-467B-97E3-483EAA2795B5}" srcOrd="4" destOrd="0" parTransId="{B0EF4A5A-5763-4170-B450-C293B1CC58C2}" sibTransId="{68661BE8-999E-4FA9-B0F2-1F0234C3298B}"/>
    <dgm:cxn modelId="{A77AE2E2-7827-4EF5-B746-83A089D3E58C}" type="presOf" srcId="{978C1B30-FD34-4E0B-88B6-A02AFFE9E932}" destId="{BF0A9565-42A0-4E37-A145-2B8E14FA5657}" srcOrd="0" destOrd="0" presId="urn:microsoft.com/office/officeart/2005/8/layout/vList5"/>
    <dgm:cxn modelId="{2ECAC4E5-803F-419B-93DC-AFB2CEA508C7}" srcId="{9B911FA1-44FC-4EE7-AD5C-B3010AB2074B}" destId="{DF1A1821-536C-49E7-B245-37D4E5F399F9}" srcOrd="6" destOrd="0" parTransId="{90B54E8F-47CB-4363-81C8-784A1CBE5326}" sibTransId="{28E21F91-FFD8-455E-AFAF-D424719D506F}"/>
    <dgm:cxn modelId="{313BBDF1-2F6B-4C27-AA2A-19DF6F3A32A0}" type="presOf" srcId="{3203567D-B666-4F69-8D90-4494560F8826}" destId="{983C0B06-DBA9-41A2-999E-086048F1FA06}" srcOrd="0" destOrd="0" presId="urn:microsoft.com/office/officeart/2005/8/layout/vList5"/>
    <dgm:cxn modelId="{4AB272EA-7BA3-48D1-8C5B-0844860A69DC}" type="presParOf" srcId="{1359D928-835F-4D88-8FEC-7A87D1169159}" destId="{7D39522F-B55D-4884-8A83-72078B6EE822}" srcOrd="0" destOrd="0" presId="urn:microsoft.com/office/officeart/2005/8/layout/vList5"/>
    <dgm:cxn modelId="{39FA8A4B-431F-4AF4-9B69-E595BBE5E6DB}" type="presParOf" srcId="{7D39522F-B55D-4884-8A83-72078B6EE822}" destId="{BE4E8F0F-96E5-4D0C-BBEA-6A0DBD9B1585}" srcOrd="0" destOrd="0" presId="urn:microsoft.com/office/officeart/2005/8/layout/vList5"/>
    <dgm:cxn modelId="{C0777FAA-9A99-44E4-BB1F-CF1D89DCA518}" type="presParOf" srcId="{7D39522F-B55D-4884-8A83-72078B6EE822}" destId="{738AA8F6-E19E-4CA3-BE4C-E585DABF82CD}" srcOrd="1" destOrd="0" presId="urn:microsoft.com/office/officeart/2005/8/layout/vList5"/>
    <dgm:cxn modelId="{433F853B-59F7-46F1-A0D6-BB973DCECF9F}" type="presParOf" srcId="{1359D928-835F-4D88-8FEC-7A87D1169159}" destId="{43AFBEAC-CE22-4670-9500-ED1313D9814A}" srcOrd="1" destOrd="0" presId="urn:microsoft.com/office/officeart/2005/8/layout/vList5"/>
    <dgm:cxn modelId="{04F158F2-E5F6-43DB-9590-5D6720AC86F6}" type="presParOf" srcId="{1359D928-835F-4D88-8FEC-7A87D1169159}" destId="{3DB366CF-8382-4F84-A8E4-6D3F46055EF5}" srcOrd="2" destOrd="0" presId="urn:microsoft.com/office/officeart/2005/8/layout/vList5"/>
    <dgm:cxn modelId="{A6799083-2EAD-4A32-8179-FDB3797484E1}" type="presParOf" srcId="{3DB366CF-8382-4F84-A8E4-6D3F46055EF5}" destId="{983C0B06-DBA9-41A2-999E-086048F1FA06}" srcOrd="0" destOrd="0" presId="urn:microsoft.com/office/officeart/2005/8/layout/vList5"/>
    <dgm:cxn modelId="{A1161F7A-C61E-48CA-B610-068B63F0D519}" type="presParOf" srcId="{3DB366CF-8382-4F84-A8E4-6D3F46055EF5}" destId="{3BD1B07D-6E43-4F19-B8D1-DD88AAC92351}" srcOrd="1" destOrd="0" presId="urn:microsoft.com/office/officeart/2005/8/layout/vList5"/>
    <dgm:cxn modelId="{CC9A0F75-944A-4E8E-BB6D-9746669FFA93}" type="presParOf" srcId="{1359D928-835F-4D88-8FEC-7A87D1169159}" destId="{3C42598B-6192-4E18-AFA3-7075E3AC71D3}" srcOrd="3" destOrd="0" presId="urn:microsoft.com/office/officeart/2005/8/layout/vList5"/>
    <dgm:cxn modelId="{CD9F1A9C-7BC7-4C24-B637-6E52CB6C8440}" type="presParOf" srcId="{1359D928-835F-4D88-8FEC-7A87D1169159}" destId="{1A56BE19-4DC2-4500-A0CA-CF3747AA9009}" srcOrd="4" destOrd="0" presId="urn:microsoft.com/office/officeart/2005/8/layout/vList5"/>
    <dgm:cxn modelId="{12BA0258-F238-4FAB-93B9-D2666DFDE692}" type="presParOf" srcId="{1A56BE19-4DC2-4500-A0CA-CF3747AA9009}" destId="{BF0A9565-42A0-4E37-A145-2B8E14FA5657}" srcOrd="0" destOrd="0" presId="urn:microsoft.com/office/officeart/2005/8/layout/vList5"/>
    <dgm:cxn modelId="{5CE805D6-5C5C-4A0A-9387-A5F650FA4EC7}" type="presParOf" srcId="{1A56BE19-4DC2-4500-A0CA-CF3747AA9009}" destId="{F578A353-171F-4544-AEDC-4F0FB19555A8}" srcOrd="1" destOrd="0" presId="urn:microsoft.com/office/officeart/2005/8/layout/vList5"/>
    <dgm:cxn modelId="{ECE3C413-3870-4CFB-AF44-D4D4DB23D071}" type="presParOf" srcId="{1359D928-835F-4D88-8FEC-7A87D1169159}" destId="{8E563632-C95C-4511-B434-D7A39632E12E}" srcOrd="5" destOrd="0" presId="urn:microsoft.com/office/officeart/2005/8/layout/vList5"/>
    <dgm:cxn modelId="{1CDFEC09-6B4F-43F5-B940-E5B167C097BC}" type="presParOf" srcId="{1359D928-835F-4D88-8FEC-7A87D1169159}" destId="{705EE852-23BE-4604-91D8-CAEAA456C469}" srcOrd="6" destOrd="0" presId="urn:microsoft.com/office/officeart/2005/8/layout/vList5"/>
    <dgm:cxn modelId="{6177D339-E3E5-4DF6-B167-B0C8E96F5B48}" type="presParOf" srcId="{705EE852-23BE-4604-91D8-CAEAA456C469}" destId="{040339EC-4776-4B42-AE90-949022E10803}" srcOrd="0" destOrd="0" presId="urn:microsoft.com/office/officeart/2005/8/layout/vList5"/>
    <dgm:cxn modelId="{97AB821F-B280-4B29-9A16-2A3572301580}" type="presParOf" srcId="{705EE852-23BE-4604-91D8-CAEAA456C469}" destId="{60632507-4965-4BFA-A51D-98B12E30E04D}" srcOrd="1" destOrd="0" presId="urn:microsoft.com/office/officeart/2005/8/layout/vList5"/>
    <dgm:cxn modelId="{029EE1B9-3C21-48DD-820E-2251503A8953}" type="presParOf" srcId="{1359D928-835F-4D88-8FEC-7A87D1169159}" destId="{6CFE9E77-68C8-4817-AFB2-7DF1D75305D9}" srcOrd="7" destOrd="0" presId="urn:microsoft.com/office/officeart/2005/8/layout/vList5"/>
    <dgm:cxn modelId="{5435D4C3-7E0E-4939-8B2A-A3B94975F630}" type="presParOf" srcId="{1359D928-835F-4D88-8FEC-7A87D1169159}" destId="{ABDA52F0-63BE-4ECC-B5E3-A771C09FBABC}" srcOrd="8" destOrd="0" presId="urn:microsoft.com/office/officeart/2005/8/layout/vList5"/>
    <dgm:cxn modelId="{20DF49B8-2B7E-47CA-807D-EB9F3818FC6B}" type="presParOf" srcId="{ABDA52F0-63BE-4ECC-B5E3-A771C09FBABC}" destId="{331F31CE-031A-4AD9-BB42-2DFAD5AF2739}" srcOrd="0" destOrd="0" presId="urn:microsoft.com/office/officeart/2005/8/layout/vList5"/>
    <dgm:cxn modelId="{6605FE09-2C14-49B0-9D0F-CA5E846D9139}" type="presParOf" srcId="{ABDA52F0-63BE-4ECC-B5E3-A771C09FBABC}" destId="{2DA3BB37-DDB0-49B3-9419-252E058D4E10}" srcOrd="1" destOrd="0" presId="urn:microsoft.com/office/officeart/2005/8/layout/vList5"/>
    <dgm:cxn modelId="{179BC28B-0FD2-4EA5-B2BA-8989CF48BD01}" type="presParOf" srcId="{1359D928-835F-4D88-8FEC-7A87D1169159}" destId="{AAE78D35-595B-48EE-A996-C7715F11FE8C}" srcOrd="9" destOrd="0" presId="urn:microsoft.com/office/officeart/2005/8/layout/vList5"/>
    <dgm:cxn modelId="{8DC42BE9-CDDB-4091-8E62-9D8CEF65DAF9}" type="presParOf" srcId="{1359D928-835F-4D88-8FEC-7A87D1169159}" destId="{FE8CE13F-48CA-4CF0-AFBB-D2159CCC15CF}" srcOrd="10" destOrd="0" presId="urn:microsoft.com/office/officeart/2005/8/layout/vList5"/>
    <dgm:cxn modelId="{788CB87D-0218-4440-B278-4836D8E9937A}" type="presParOf" srcId="{FE8CE13F-48CA-4CF0-AFBB-D2159CCC15CF}" destId="{9E8F02F8-7548-42AE-BB6E-DA82E5359562}" srcOrd="0" destOrd="0" presId="urn:microsoft.com/office/officeart/2005/8/layout/vList5"/>
    <dgm:cxn modelId="{F5DDFF23-43DD-456E-823D-29EDAB1ADB79}" type="presParOf" srcId="{FE8CE13F-48CA-4CF0-AFBB-D2159CCC15CF}" destId="{4EA58ECC-3B7D-495C-AE2D-C327B64FFC7B}" srcOrd="1" destOrd="0" presId="urn:microsoft.com/office/officeart/2005/8/layout/vList5"/>
    <dgm:cxn modelId="{A65DD28C-9777-4F6F-92C2-1973517A83E9}" type="presParOf" srcId="{1359D928-835F-4D88-8FEC-7A87D1169159}" destId="{C40F5A46-26D3-4B0E-A4EB-13166F7C079B}" srcOrd="11" destOrd="0" presId="urn:microsoft.com/office/officeart/2005/8/layout/vList5"/>
    <dgm:cxn modelId="{CD0B4483-B706-4753-9D33-C4F1F2F6FAC7}" type="presParOf" srcId="{1359D928-835F-4D88-8FEC-7A87D1169159}" destId="{0FEC77CC-4405-4BF6-92C9-150C8E73A9D3}" srcOrd="12" destOrd="0" presId="urn:microsoft.com/office/officeart/2005/8/layout/vList5"/>
    <dgm:cxn modelId="{CBD356E3-E95C-4E96-8808-067BAF7F76FE}" type="presParOf" srcId="{0FEC77CC-4405-4BF6-92C9-150C8E73A9D3}" destId="{004F4121-01D4-452C-9122-F918B303B475}" srcOrd="0" destOrd="0" presId="urn:microsoft.com/office/officeart/2005/8/layout/vList5"/>
    <dgm:cxn modelId="{2F26FCAE-4EE6-41A4-BFA8-D9E41A6407C6}" type="presParOf" srcId="{0FEC77CC-4405-4BF6-92C9-150C8E73A9D3}" destId="{235158E4-CA5F-484E-BE60-69D55800DCFC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82136ED-4573-4A61-99E6-526F41C8B4DB}" type="doc">
      <dgm:prSet loTypeId="urn:microsoft.com/office/officeart/2005/8/layout/hProcess4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NZ"/>
        </a:p>
      </dgm:t>
    </dgm:pt>
    <dgm:pt modelId="{F91353B5-A968-434F-A40F-67FFC395727A}">
      <dgm:prSet phldrT="[Text]"/>
      <dgm:spPr/>
      <dgm:t>
        <a:bodyPr/>
        <a:lstStyle/>
        <a:p>
          <a:r>
            <a:rPr lang="en-NZ" b="0" dirty="0"/>
            <a:t>Pair programming</a:t>
          </a:r>
        </a:p>
      </dgm:t>
    </dgm:pt>
    <dgm:pt modelId="{7458808E-5941-413D-B6ED-7FA4FFA8E592}" type="parTrans" cxnId="{69A5B09A-8430-401F-9508-4598223DC631}">
      <dgm:prSet/>
      <dgm:spPr/>
      <dgm:t>
        <a:bodyPr/>
        <a:lstStyle/>
        <a:p>
          <a:endParaRPr lang="en-NZ"/>
        </a:p>
      </dgm:t>
    </dgm:pt>
    <dgm:pt modelId="{7BBAF172-5CE5-4926-A428-4FC95BEB7003}" type="sibTrans" cxnId="{69A5B09A-8430-401F-9508-4598223DC631}">
      <dgm:prSet/>
      <dgm:spPr/>
      <dgm:t>
        <a:bodyPr/>
        <a:lstStyle/>
        <a:p>
          <a:endParaRPr lang="en-NZ"/>
        </a:p>
      </dgm:t>
    </dgm:pt>
    <dgm:pt modelId="{AB8E7768-2F14-4D61-A1A2-D3789B88B63E}">
      <dgm:prSet phldrT="[Text]"/>
      <dgm:spPr/>
      <dgm:t>
        <a:bodyPr/>
        <a:lstStyle/>
        <a:p>
          <a:pPr>
            <a:buSzPts val="2840"/>
            <a:buChar char="−"/>
          </a:pPr>
          <a:r>
            <a:rPr lang="en-NZ" dirty="0"/>
            <a:t>Avoid quality issues by combining the skills and experience</a:t>
          </a:r>
        </a:p>
      </dgm:t>
    </dgm:pt>
    <dgm:pt modelId="{5377F016-3FD3-4557-8482-7A1229807F2E}" type="parTrans" cxnId="{497503BF-6E01-4A3C-89F8-A93F4C67E755}">
      <dgm:prSet/>
      <dgm:spPr/>
      <dgm:t>
        <a:bodyPr/>
        <a:lstStyle/>
        <a:p>
          <a:endParaRPr lang="en-NZ"/>
        </a:p>
      </dgm:t>
    </dgm:pt>
    <dgm:pt modelId="{2E3B4B0A-844D-4D0F-9E1E-0BF83959BBB8}" type="sibTrans" cxnId="{497503BF-6E01-4A3C-89F8-A93F4C67E755}">
      <dgm:prSet/>
      <dgm:spPr/>
      <dgm:t>
        <a:bodyPr/>
        <a:lstStyle/>
        <a:p>
          <a:endParaRPr lang="en-NZ"/>
        </a:p>
      </dgm:t>
    </dgm:pt>
    <dgm:pt modelId="{673867A9-BACE-44B3-80F0-EF350D0B8DA5}">
      <dgm:prSet phldrT="[Text]"/>
      <dgm:spPr/>
      <dgm:t>
        <a:bodyPr/>
        <a:lstStyle/>
        <a:p>
          <a:r>
            <a:rPr lang="en-NZ" dirty="0"/>
            <a:t>Writing criteria for code before writing the code </a:t>
          </a:r>
        </a:p>
      </dgm:t>
    </dgm:pt>
    <dgm:pt modelId="{A2102015-EFA4-4104-8F16-E16D17F0B064}" type="parTrans" cxnId="{96A6BC5C-C59F-4C8E-B92A-EDDC50ED7A23}">
      <dgm:prSet/>
      <dgm:spPr/>
      <dgm:t>
        <a:bodyPr/>
        <a:lstStyle/>
        <a:p>
          <a:endParaRPr lang="en-NZ"/>
        </a:p>
      </dgm:t>
    </dgm:pt>
    <dgm:pt modelId="{7DC3496D-A636-4B48-8D05-DC15017E3334}" type="sibTrans" cxnId="{96A6BC5C-C59F-4C8E-B92A-EDDC50ED7A23}">
      <dgm:prSet/>
      <dgm:spPr/>
      <dgm:t>
        <a:bodyPr/>
        <a:lstStyle/>
        <a:p>
          <a:endParaRPr lang="en-NZ"/>
        </a:p>
      </dgm:t>
    </dgm:pt>
    <dgm:pt modelId="{9F8EF166-77DF-4C32-BF9D-0E08D99A7230}">
      <dgm:prSet phldrT="[Text]"/>
      <dgm:spPr/>
      <dgm:t>
        <a:bodyPr/>
        <a:lstStyle/>
        <a:p>
          <a:r>
            <a:rPr lang="en-NZ" b="0" dirty="0"/>
            <a:t>Incremental development</a:t>
          </a:r>
        </a:p>
      </dgm:t>
    </dgm:pt>
    <dgm:pt modelId="{0C9EDEF2-83B0-4AFE-A7C0-1CDB43A9E3DE}" type="parTrans" cxnId="{6D911C8F-A8B7-4752-8406-D7C217836AE2}">
      <dgm:prSet/>
      <dgm:spPr/>
      <dgm:t>
        <a:bodyPr/>
        <a:lstStyle/>
        <a:p>
          <a:endParaRPr lang="en-NZ"/>
        </a:p>
      </dgm:t>
    </dgm:pt>
    <dgm:pt modelId="{4E770939-5938-43B3-9BB3-7C1CC9DCF01F}" type="sibTrans" cxnId="{6D911C8F-A8B7-4752-8406-D7C217836AE2}">
      <dgm:prSet/>
      <dgm:spPr/>
      <dgm:t>
        <a:bodyPr/>
        <a:lstStyle/>
        <a:p>
          <a:endParaRPr lang="en-NZ"/>
        </a:p>
      </dgm:t>
    </dgm:pt>
    <dgm:pt modelId="{B21047AA-7B21-4829-A138-0826B95F6944}">
      <dgm:prSet phldrT="[Text]"/>
      <dgm:spPr/>
      <dgm:t>
        <a:bodyPr/>
        <a:lstStyle/>
        <a:p>
          <a:r>
            <a:rPr lang="en-NZ" dirty="0"/>
            <a:t>Help to get constant feedback</a:t>
          </a:r>
        </a:p>
      </dgm:t>
    </dgm:pt>
    <dgm:pt modelId="{0E35D99A-577E-42B8-9B64-418D16B4614A}" type="parTrans" cxnId="{E1E3A6D6-3FE5-46E3-ACA7-A505A49AAE09}">
      <dgm:prSet/>
      <dgm:spPr/>
      <dgm:t>
        <a:bodyPr/>
        <a:lstStyle/>
        <a:p>
          <a:endParaRPr lang="en-NZ"/>
        </a:p>
      </dgm:t>
    </dgm:pt>
    <dgm:pt modelId="{E33BA721-64E5-480A-9CE4-C0371AD20D86}" type="sibTrans" cxnId="{E1E3A6D6-3FE5-46E3-ACA7-A505A49AAE09}">
      <dgm:prSet/>
      <dgm:spPr/>
      <dgm:t>
        <a:bodyPr/>
        <a:lstStyle/>
        <a:p>
          <a:endParaRPr lang="en-NZ"/>
        </a:p>
      </dgm:t>
    </dgm:pt>
    <dgm:pt modelId="{2129CCA5-ACC0-46F1-9435-D4CB2FDE1CEF}">
      <dgm:prSet phldrT="[Text]"/>
      <dgm:spPr/>
      <dgm:t>
        <a:bodyPr/>
        <a:lstStyle/>
        <a:p>
          <a:r>
            <a:rPr lang="en-NZ" dirty="0"/>
            <a:t>Automation</a:t>
          </a:r>
        </a:p>
      </dgm:t>
    </dgm:pt>
    <dgm:pt modelId="{6038975A-D3ED-4234-A519-B0B8C74F00C2}" type="parTrans" cxnId="{6A821ACC-295C-47A7-B451-D121BF2D4D91}">
      <dgm:prSet/>
      <dgm:spPr/>
      <dgm:t>
        <a:bodyPr/>
        <a:lstStyle/>
        <a:p>
          <a:endParaRPr lang="en-NZ"/>
        </a:p>
      </dgm:t>
    </dgm:pt>
    <dgm:pt modelId="{1E89525E-FEEB-42D0-BC9E-ABD1658D0B55}" type="sibTrans" cxnId="{6A821ACC-295C-47A7-B451-D121BF2D4D91}">
      <dgm:prSet/>
      <dgm:spPr/>
      <dgm:t>
        <a:bodyPr/>
        <a:lstStyle/>
        <a:p>
          <a:endParaRPr lang="en-NZ"/>
        </a:p>
      </dgm:t>
    </dgm:pt>
    <dgm:pt modelId="{BD302284-E8FA-4551-B383-7A2B16ABF387}">
      <dgm:prSet phldrT="[Text]"/>
      <dgm:spPr/>
      <dgm:t>
        <a:bodyPr/>
        <a:lstStyle/>
        <a:p>
          <a:r>
            <a:rPr lang="en-NZ" dirty="0"/>
            <a:t>Reduce human error</a:t>
          </a:r>
        </a:p>
      </dgm:t>
    </dgm:pt>
    <dgm:pt modelId="{EDC04A66-5EB1-4F58-88DD-715A129A459A}" type="parTrans" cxnId="{9CBF3249-E0CD-4A09-A61A-0083C6847F36}">
      <dgm:prSet/>
      <dgm:spPr/>
      <dgm:t>
        <a:bodyPr/>
        <a:lstStyle/>
        <a:p>
          <a:endParaRPr lang="en-NZ"/>
        </a:p>
      </dgm:t>
    </dgm:pt>
    <dgm:pt modelId="{C479A7B7-B9D7-4DF0-B99D-B49E6575624B}" type="sibTrans" cxnId="{9CBF3249-E0CD-4A09-A61A-0083C6847F36}">
      <dgm:prSet/>
      <dgm:spPr/>
      <dgm:t>
        <a:bodyPr/>
        <a:lstStyle/>
        <a:p>
          <a:endParaRPr lang="en-NZ"/>
        </a:p>
      </dgm:t>
    </dgm:pt>
    <dgm:pt modelId="{F2343341-F749-4935-B181-DF9B825BADBD}">
      <dgm:prSet phldrT="[Text]"/>
      <dgm:spPr/>
      <dgm:t>
        <a:bodyPr/>
        <a:lstStyle/>
        <a:p>
          <a:pPr>
            <a:buSzPts val="2840"/>
            <a:buChar char="−"/>
          </a:pPr>
          <a:r>
            <a:rPr lang="en-NZ" b="0" dirty="0"/>
            <a:t>Test-driven</a:t>
          </a:r>
          <a:r>
            <a:rPr lang="en-NZ" b="1" dirty="0"/>
            <a:t> </a:t>
          </a:r>
          <a:r>
            <a:rPr lang="en-NZ" b="0" dirty="0"/>
            <a:t>development</a:t>
          </a:r>
        </a:p>
      </dgm:t>
    </dgm:pt>
    <dgm:pt modelId="{5B531543-9C39-4254-9445-5B69A5A0A9E8}" type="parTrans" cxnId="{CB141479-22E4-4179-B2FF-C6FDB82BEB05}">
      <dgm:prSet/>
      <dgm:spPr/>
      <dgm:t>
        <a:bodyPr/>
        <a:lstStyle/>
        <a:p>
          <a:endParaRPr lang="en-NZ"/>
        </a:p>
      </dgm:t>
    </dgm:pt>
    <dgm:pt modelId="{A3323635-D413-4B8A-BFF2-296480C5D1A9}" type="sibTrans" cxnId="{CB141479-22E4-4179-B2FF-C6FDB82BEB05}">
      <dgm:prSet/>
      <dgm:spPr/>
      <dgm:t>
        <a:bodyPr/>
        <a:lstStyle/>
        <a:p>
          <a:endParaRPr lang="en-NZ"/>
        </a:p>
      </dgm:t>
    </dgm:pt>
    <dgm:pt modelId="{43EC2AD2-B748-453B-A8F2-C048B97F585E}">
      <dgm:prSet phldrT="[Text]"/>
      <dgm:spPr/>
      <dgm:t>
        <a:bodyPr/>
        <a:lstStyle/>
        <a:p>
          <a:r>
            <a:rPr lang="en-NZ" dirty="0"/>
            <a:t>Minimise wait states</a:t>
          </a:r>
        </a:p>
      </dgm:t>
    </dgm:pt>
    <dgm:pt modelId="{223A981C-D000-45A1-B4FA-E322CB9F221B}" type="parTrans" cxnId="{7284406C-09C5-476F-9998-2C1A9F535015}">
      <dgm:prSet/>
      <dgm:spPr/>
      <dgm:t>
        <a:bodyPr/>
        <a:lstStyle/>
        <a:p>
          <a:endParaRPr lang="en-NZ"/>
        </a:p>
      </dgm:t>
    </dgm:pt>
    <dgm:pt modelId="{43DCDD8B-64DA-450F-9DA8-3B901959D5FF}" type="sibTrans" cxnId="{7284406C-09C5-476F-9998-2C1A9F535015}">
      <dgm:prSet/>
      <dgm:spPr/>
      <dgm:t>
        <a:bodyPr/>
        <a:lstStyle/>
        <a:p>
          <a:endParaRPr lang="en-NZ"/>
        </a:p>
      </dgm:t>
    </dgm:pt>
    <dgm:pt modelId="{77DBF922-3914-40B5-AF49-9672C0BAE23E}">
      <dgm:prSet phldrT="[Text]"/>
      <dgm:spPr/>
      <dgm:t>
        <a:bodyPr/>
        <a:lstStyle/>
        <a:p>
          <a:r>
            <a:rPr lang="en-NZ" dirty="0"/>
            <a:t>Reduce switching, and knowledge gap. </a:t>
          </a:r>
        </a:p>
      </dgm:t>
    </dgm:pt>
    <dgm:pt modelId="{8EED3CC5-E88D-4234-826D-1270BD09F668}" type="parTrans" cxnId="{355A77D9-C7D7-45AB-B40E-0AD665669DB5}">
      <dgm:prSet/>
      <dgm:spPr/>
      <dgm:t>
        <a:bodyPr/>
        <a:lstStyle/>
        <a:p>
          <a:endParaRPr lang="en-NZ"/>
        </a:p>
      </dgm:t>
    </dgm:pt>
    <dgm:pt modelId="{2CD4CB2A-A864-4748-85DA-319537C35AD5}" type="sibTrans" cxnId="{355A77D9-C7D7-45AB-B40E-0AD665669DB5}">
      <dgm:prSet/>
      <dgm:spPr/>
      <dgm:t>
        <a:bodyPr/>
        <a:lstStyle/>
        <a:p>
          <a:endParaRPr lang="en-NZ"/>
        </a:p>
      </dgm:t>
    </dgm:pt>
    <dgm:pt modelId="{C4CCAB29-C392-4CD2-A414-DB2E32B912B9}" type="pres">
      <dgm:prSet presAssocID="{382136ED-4573-4A61-99E6-526F41C8B4DB}" presName="Name0" presStyleCnt="0">
        <dgm:presLayoutVars>
          <dgm:dir/>
          <dgm:animLvl val="lvl"/>
          <dgm:resizeHandles val="exact"/>
        </dgm:presLayoutVars>
      </dgm:prSet>
      <dgm:spPr/>
    </dgm:pt>
    <dgm:pt modelId="{9D4E7C65-8A46-46A4-A15A-60900D7A2B2A}" type="pres">
      <dgm:prSet presAssocID="{382136ED-4573-4A61-99E6-526F41C8B4DB}" presName="tSp" presStyleCnt="0"/>
      <dgm:spPr/>
    </dgm:pt>
    <dgm:pt modelId="{1E2C3B94-11E1-4B0F-BB62-E75C3009E3F2}" type="pres">
      <dgm:prSet presAssocID="{382136ED-4573-4A61-99E6-526F41C8B4DB}" presName="bSp" presStyleCnt="0"/>
      <dgm:spPr/>
    </dgm:pt>
    <dgm:pt modelId="{6E9C961B-EEB8-4C80-A564-C207D4BD8F3D}" type="pres">
      <dgm:prSet presAssocID="{382136ED-4573-4A61-99E6-526F41C8B4DB}" presName="process" presStyleCnt="0"/>
      <dgm:spPr/>
    </dgm:pt>
    <dgm:pt modelId="{43117FEF-D727-4C9D-9BDC-02580C0208B2}" type="pres">
      <dgm:prSet presAssocID="{F91353B5-A968-434F-A40F-67FFC395727A}" presName="composite1" presStyleCnt="0"/>
      <dgm:spPr/>
    </dgm:pt>
    <dgm:pt modelId="{76096F04-3364-4426-A8CF-A34945BB885B}" type="pres">
      <dgm:prSet presAssocID="{F91353B5-A968-434F-A40F-67FFC395727A}" presName="dummyNode1" presStyleLbl="node1" presStyleIdx="0" presStyleCnt="5"/>
      <dgm:spPr/>
    </dgm:pt>
    <dgm:pt modelId="{7899CDF9-D119-44AB-B074-E1D321F70C53}" type="pres">
      <dgm:prSet presAssocID="{F91353B5-A968-434F-A40F-67FFC395727A}" presName="childNode1" presStyleLbl="bgAcc1" presStyleIdx="0" presStyleCnt="5">
        <dgm:presLayoutVars>
          <dgm:bulletEnabled val="1"/>
        </dgm:presLayoutVars>
      </dgm:prSet>
      <dgm:spPr/>
    </dgm:pt>
    <dgm:pt modelId="{8BF18189-3AB5-4BEB-9F0D-1F7E17A3FECF}" type="pres">
      <dgm:prSet presAssocID="{F91353B5-A968-434F-A40F-67FFC395727A}" presName="childNode1tx" presStyleLbl="bgAcc1" presStyleIdx="0" presStyleCnt="5">
        <dgm:presLayoutVars>
          <dgm:bulletEnabled val="1"/>
        </dgm:presLayoutVars>
      </dgm:prSet>
      <dgm:spPr/>
    </dgm:pt>
    <dgm:pt modelId="{00965F5B-A093-44C7-90C6-7DC447019632}" type="pres">
      <dgm:prSet presAssocID="{F91353B5-A968-434F-A40F-67FFC395727A}" presName="parentNode1" presStyleLbl="node1" presStyleIdx="0" presStyleCnt="5">
        <dgm:presLayoutVars>
          <dgm:chMax val="1"/>
          <dgm:bulletEnabled val="1"/>
        </dgm:presLayoutVars>
      </dgm:prSet>
      <dgm:spPr/>
    </dgm:pt>
    <dgm:pt modelId="{BC548E4B-F935-41CA-BA07-474A4231A747}" type="pres">
      <dgm:prSet presAssocID="{F91353B5-A968-434F-A40F-67FFC395727A}" presName="connSite1" presStyleCnt="0"/>
      <dgm:spPr/>
    </dgm:pt>
    <dgm:pt modelId="{CA5D3D9D-9008-4C67-8511-4F4B3DEA8FAE}" type="pres">
      <dgm:prSet presAssocID="{7BBAF172-5CE5-4926-A428-4FC95BEB7003}" presName="Name9" presStyleLbl="sibTrans2D1" presStyleIdx="0" presStyleCnt="4"/>
      <dgm:spPr/>
    </dgm:pt>
    <dgm:pt modelId="{D2BAA291-1C8A-46FB-A8CF-8D70ED5A1232}" type="pres">
      <dgm:prSet presAssocID="{F2343341-F749-4935-B181-DF9B825BADBD}" presName="composite2" presStyleCnt="0"/>
      <dgm:spPr/>
    </dgm:pt>
    <dgm:pt modelId="{CD7BF45F-54CC-4CC2-B510-DD004D994BB3}" type="pres">
      <dgm:prSet presAssocID="{F2343341-F749-4935-B181-DF9B825BADBD}" presName="dummyNode2" presStyleLbl="node1" presStyleIdx="0" presStyleCnt="5"/>
      <dgm:spPr/>
    </dgm:pt>
    <dgm:pt modelId="{6E870587-AED2-4F7B-91DC-79877E2175E1}" type="pres">
      <dgm:prSet presAssocID="{F2343341-F749-4935-B181-DF9B825BADBD}" presName="childNode2" presStyleLbl="bgAcc1" presStyleIdx="1" presStyleCnt="5">
        <dgm:presLayoutVars>
          <dgm:bulletEnabled val="1"/>
        </dgm:presLayoutVars>
      </dgm:prSet>
      <dgm:spPr/>
    </dgm:pt>
    <dgm:pt modelId="{964FA077-7932-4F8F-B785-19BDF38042E9}" type="pres">
      <dgm:prSet presAssocID="{F2343341-F749-4935-B181-DF9B825BADBD}" presName="childNode2tx" presStyleLbl="bgAcc1" presStyleIdx="1" presStyleCnt="5">
        <dgm:presLayoutVars>
          <dgm:bulletEnabled val="1"/>
        </dgm:presLayoutVars>
      </dgm:prSet>
      <dgm:spPr/>
    </dgm:pt>
    <dgm:pt modelId="{0A5B0D37-C894-4A28-83BC-B5567EBE1B86}" type="pres">
      <dgm:prSet presAssocID="{F2343341-F749-4935-B181-DF9B825BADBD}" presName="parentNode2" presStyleLbl="node1" presStyleIdx="1" presStyleCnt="5">
        <dgm:presLayoutVars>
          <dgm:chMax val="0"/>
          <dgm:bulletEnabled val="1"/>
        </dgm:presLayoutVars>
      </dgm:prSet>
      <dgm:spPr/>
    </dgm:pt>
    <dgm:pt modelId="{BEC15E8D-153F-4C0D-8478-BB178167C803}" type="pres">
      <dgm:prSet presAssocID="{F2343341-F749-4935-B181-DF9B825BADBD}" presName="connSite2" presStyleCnt="0"/>
      <dgm:spPr/>
    </dgm:pt>
    <dgm:pt modelId="{B756C001-FDC2-43A9-ACA0-107E40509DC3}" type="pres">
      <dgm:prSet presAssocID="{A3323635-D413-4B8A-BFF2-296480C5D1A9}" presName="Name18" presStyleLbl="sibTrans2D1" presStyleIdx="1" presStyleCnt="4" custAng="438811" custLinFactNeighborX="-1173" custLinFactNeighborY="5276"/>
      <dgm:spPr/>
    </dgm:pt>
    <dgm:pt modelId="{DFE74FB9-A6E0-4C07-9BB3-45E31DA3BE93}" type="pres">
      <dgm:prSet presAssocID="{9F8EF166-77DF-4C32-BF9D-0E08D99A7230}" presName="composite1" presStyleCnt="0"/>
      <dgm:spPr/>
    </dgm:pt>
    <dgm:pt modelId="{C5776F3F-A4E9-4F5F-8D1A-4415784BC19C}" type="pres">
      <dgm:prSet presAssocID="{9F8EF166-77DF-4C32-BF9D-0E08D99A7230}" presName="dummyNode1" presStyleLbl="node1" presStyleIdx="1" presStyleCnt="5"/>
      <dgm:spPr/>
    </dgm:pt>
    <dgm:pt modelId="{8ED78B32-5E1A-4C0B-871B-6830896C7441}" type="pres">
      <dgm:prSet presAssocID="{9F8EF166-77DF-4C32-BF9D-0E08D99A7230}" presName="childNode1" presStyleLbl="bgAcc1" presStyleIdx="2" presStyleCnt="5">
        <dgm:presLayoutVars>
          <dgm:bulletEnabled val="1"/>
        </dgm:presLayoutVars>
      </dgm:prSet>
      <dgm:spPr/>
    </dgm:pt>
    <dgm:pt modelId="{11499FB8-2866-4822-91D1-80822FAF392C}" type="pres">
      <dgm:prSet presAssocID="{9F8EF166-77DF-4C32-BF9D-0E08D99A7230}" presName="childNode1tx" presStyleLbl="bgAcc1" presStyleIdx="2" presStyleCnt="5">
        <dgm:presLayoutVars>
          <dgm:bulletEnabled val="1"/>
        </dgm:presLayoutVars>
      </dgm:prSet>
      <dgm:spPr/>
    </dgm:pt>
    <dgm:pt modelId="{F86ADE1B-0190-4419-B7D6-B84E53B81684}" type="pres">
      <dgm:prSet presAssocID="{9F8EF166-77DF-4C32-BF9D-0E08D99A7230}" presName="parentNode1" presStyleLbl="node1" presStyleIdx="2" presStyleCnt="5">
        <dgm:presLayoutVars>
          <dgm:chMax val="1"/>
          <dgm:bulletEnabled val="1"/>
        </dgm:presLayoutVars>
      </dgm:prSet>
      <dgm:spPr/>
    </dgm:pt>
    <dgm:pt modelId="{97F28790-8CEF-4890-B930-EC9A8585B7C2}" type="pres">
      <dgm:prSet presAssocID="{9F8EF166-77DF-4C32-BF9D-0E08D99A7230}" presName="connSite1" presStyleCnt="0"/>
      <dgm:spPr/>
    </dgm:pt>
    <dgm:pt modelId="{CA0EB044-19CF-4D2F-9560-6FC18F3DC1FD}" type="pres">
      <dgm:prSet presAssocID="{4E770939-5938-43B3-9BB3-7C1CC9DCF01F}" presName="Name9" presStyleLbl="sibTrans2D1" presStyleIdx="2" presStyleCnt="4"/>
      <dgm:spPr/>
    </dgm:pt>
    <dgm:pt modelId="{F71D00ED-41DF-4D90-B831-27A4ECC51759}" type="pres">
      <dgm:prSet presAssocID="{2129CCA5-ACC0-46F1-9435-D4CB2FDE1CEF}" presName="composite2" presStyleCnt="0"/>
      <dgm:spPr/>
    </dgm:pt>
    <dgm:pt modelId="{4D9FB656-C86C-472B-814D-5D0884919C4F}" type="pres">
      <dgm:prSet presAssocID="{2129CCA5-ACC0-46F1-9435-D4CB2FDE1CEF}" presName="dummyNode2" presStyleLbl="node1" presStyleIdx="2" presStyleCnt="5"/>
      <dgm:spPr/>
    </dgm:pt>
    <dgm:pt modelId="{4DBB9352-7180-4503-8D8D-35331E11DDC9}" type="pres">
      <dgm:prSet presAssocID="{2129CCA5-ACC0-46F1-9435-D4CB2FDE1CEF}" presName="childNode2" presStyleLbl="bgAcc1" presStyleIdx="3" presStyleCnt="5">
        <dgm:presLayoutVars>
          <dgm:bulletEnabled val="1"/>
        </dgm:presLayoutVars>
      </dgm:prSet>
      <dgm:spPr/>
    </dgm:pt>
    <dgm:pt modelId="{E411482E-2E2E-4379-A613-8A7308CC7E6A}" type="pres">
      <dgm:prSet presAssocID="{2129CCA5-ACC0-46F1-9435-D4CB2FDE1CEF}" presName="childNode2tx" presStyleLbl="bgAcc1" presStyleIdx="3" presStyleCnt="5">
        <dgm:presLayoutVars>
          <dgm:bulletEnabled val="1"/>
        </dgm:presLayoutVars>
      </dgm:prSet>
      <dgm:spPr/>
    </dgm:pt>
    <dgm:pt modelId="{5E12B589-B76F-4036-9938-DBC06734CA1B}" type="pres">
      <dgm:prSet presAssocID="{2129CCA5-ACC0-46F1-9435-D4CB2FDE1CEF}" presName="parentNode2" presStyleLbl="node1" presStyleIdx="3" presStyleCnt="5">
        <dgm:presLayoutVars>
          <dgm:chMax val="0"/>
          <dgm:bulletEnabled val="1"/>
        </dgm:presLayoutVars>
      </dgm:prSet>
      <dgm:spPr/>
    </dgm:pt>
    <dgm:pt modelId="{A3C44075-9D17-466F-BC2F-09E41081BC2C}" type="pres">
      <dgm:prSet presAssocID="{2129CCA5-ACC0-46F1-9435-D4CB2FDE1CEF}" presName="connSite2" presStyleCnt="0"/>
      <dgm:spPr/>
    </dgm:pt>
    <dgm:pt modelId="{C77E2B45-C0F9-4E77-9543-ECA50C88D949}" type="pres">
      <dgm:prSet presAssocID="{1E89525E-FEEB-42D0-BC9E-ABD1658D0B55}" presName="Name18" presStyleLbl="sibTrans2D1" presStyleIdx="3" presStyleCnt="4"/>
      <dgm:spPr/>
    </dgm:pt>
    <dgm:pt modelId="{56842E5D-8E9E-41AA-B670-A23166A6B960}" type="pres">
      <dgm:prSet presAssocID="{43EC2AD2-B748-453B-A8F2-C048B97F585E}" presName="composite1" presStyleCnt="0"/>
      <dgm:spPr/>
    </dgm:pt>
    <dgm:pt modelId="{53FF94BB-D482-46DB-9D52-0E66C4D9F6C7}" type="pres">
      <dgm:prSet presAssocID="{43EC2AD2-B748-453B-A8F2-C048B97F585E}" presName="dummyNode1" presStyleLbl="node1" presStyleIdx="3" presStyleCnt="5"/>
      <dgm:spPr/>
    </dgm:pt>
    <dgm:pt modelId="{2CF64316-E7E6-40F0-8847-9553273A78BA}" type="pres">
      <dgm:prSet presAssocID="{43EC2AD2-B748-453B-A8F2-C048B97F585E}" presName="childNode1" presStyleLbl="bgAcc1" presStyleIdx="4" presStyleCnt="5">
        <dgm:presLayoutVars>
          <dgm:bulletEnabled val="1"/>
        </dgm:presLayoutVars>
      </dgm:prSet>
      <dgm:spPr/>
    </dgm:pt>
    <dgm:pt modelId="{093B1E67-F905-4C94-B8AD-6F352A5D32A6}" type="pres">
      <dgm:prSet presAssocID="{43EC2AD2-B748-453B-A8F2-C048B97F585E}" presName="childNode1tx" presStyleLbl="bgAcc1" presStyleIdx="4" presStyleCnt="5">
        <dgm:presLayoutVars>
          <dgm:bulletEnabled val="1"/>
        </dgm:presLayoutVars>
      </dgm:prSet>
      <dgm:spPr/>
    </dgm:pt>
    <dgm:pt modelId="{709D4817-E501-49CF-A27A-BC1E914C1EE9}" type="pres">
      <dgm:prSet presAssocID="{43EC2AD2-B748-453B-A8F2-C048B97F585E}" presName="parentNode1" presStyleLbl="node1" presStyleIdx="4" presStyleCnt="5">
        <dgm:presLayoutVars>
          <dgm:chMax val="1"/>
          <dgm:bulletEnabled val="1"/>
        </dgm:presLayoutVars>
      </dgm:prSet>
      <dgm:spPr/>
    </dgm:pt>
    <dgm:pt modelId="{A828A166-D4E5-463A-AEB7-A7B46157790D}" type="pres">
      <dgm:prSet presAssocID="{43EC2AD2-B748-453B-A8F2-C048B97F585E}" presName="connSite1" presStyleCnt="0"/>
      <dgm:spPr/>
    </dgm:pt>
  </dgm:ptLst>
  <dgm:cxnLst>
    <dgm:cxn modelId="{BD525101-7C56-474F-8AB1-DE9FECBF433B}" type="presOf" srcId="{F91353B5-A968-434F-A40F-67FFC395727A}" destId="{00965F5B-A093-44C7-90C6-7DC447019632}" srcOrd="0" destOrd="0" presId="urn:microsoft.com/office/officeart/2005/8/layout/hProcess4"/>
    <dgm:cxn modelId="{3474020C-899E-4EE4-8F4B-33E05B05A08B}" type="presOf" srcId="{A3323635-D413-4B8A-BFF2-296480C5D1A9}" destId="{B756C001-FDC2-43A9-ACA0-107E40509DC3}" srcOrd="0" destOrd="0" presId="urn:microsoft.com/office/officeart/2005/8/layout/hProcess4"/>
    <dgm:cxn modelId="{97ACAA0C-2F9B-4D89-9308-03846DAB6E9E}" type="presOf" srcId="{B21047AA-7B21-4829-A138-0826B95F6944}" destId="{11499FB8-2866-4822-91D1-80822FAF392C}" srcOrd="1" destOrd="0" presId="urn:microsoft.com/office/officeart/2005/8/layout/hProcess4"/>
    <dgm:cxn modelId="{C4E22A12-6512-4EE3-93BA-E459C33C9B82}" type="presOf" srcId="{BD302284-E8FA-4551-B383-7A2B16ABF387}" destId="{E411482E-2E2E-4379-A613-8A7308CC7E6A}" srcOrd="1" destOrd="0" presId="urn:microsoft.com/office/officeart/2005/8/layout/hProcess4"/>
    <dgm:cxn modelId="{43CDB426-C90E-4E03-B4DF-53E936A2BF7C}" type="presOf" srcId="{F2343341-F749-4935-B181-DF9B825BADBD}" destId="{0A5B0D37-C894-4A28-83BC-B5567EBE1B86}" srcOrd="0" destOrd="0" presId="urn:microsoft.com/office/officeart/2005/8/layout/hProcess4"/>
    <dgm:cxn modelId="{08980837-B881-4784-B0E2-A26FB23A55F2}" type="presOf" srcId="{382136ED-4573-4A61-99E6-526F41C8B4DB}" destId="{C4CCAB29-C392-4CD2-A414-DB2E32B912B9}" srcOrd="0" destOrd="0" presId="urn:microsoft.com/office/officeart/2005/8/layout/hProcess4"/>
    <dgm:cxn modelId="{96A6BC5C-C59F-4C8E-B92A-EDDC50ED7A23}" srcId="{F2343341-F749-4935-B181-DF9B825BADBD}" destId="{673867A9-BACE-44B3-80F0-EF350D0B8DA5}" srcOrd="0" destOrd="0" parTransId="{A2102015-EFA4-4104-8F16-E16D17F0B064}" sibTransId="{7DC3496D-A636-4B48-8D05-DC15017E3334}"/>
    <dgm:cxn modelId="{208D9761-4246-4250-96E4-F5E64146DD35}" type="presOf" srcId="{673867A9-BACE-44B3-80F0-EF350D0B8DA5}" destId="{964FA077-7932-4F8F-B785-19BDF38042E9}" srcOrd="1" destOrd="0" presId="urn:microsoft.com/office/officeart/2005/8/layout/hProcess4"/>
    <dgm:cxn modelId="{87DD4347-1242-4C62-A24D-A718A5EB25C3}" type="presOf" srcId="{43EC2AD2-B748-453B-A8F2-C048B97F585E}" destId="{709D4817-E501-49CF-A27A-BC1E914C1EE9}" srcOrd="0" destOrd="0" presId="urn:microsoft.com/office/officeart/2005/8/layout/hProcess4"/>
    <dgm:cxn modelId="{8FBC9767-FF1C-4E77-A477-B15EDBF071C7}" type="presOf" srcId="{AB8E7768-2F14-4D61-A1A2-D3789B88B63E}" destId="{8BF18189-3AB5-4BEB-9F0D-1F7E17A3FECF}" srcOrd="1" destOrd="0" presId="urn:microsoft.com/office/officeart/2005/8/layout/hProcess4"/>
    <dgm:cxn modelId="{9CBF3249-E0CD-4A09-A61A-0083C6847F36}" srcId="{2129CCA5-ACC0-46F1-9435-D4CB2FDE1CEF}" destId="{BD302284-E8FA-4551-B383-7A2B16ABF387}" srcOrd="0" destOrd="0" parTransId="{EDC04A66-5EB1-4F58-88DD-715A129A459A}" sibTransId="{C479A7B7-B9D7-4DF0-B99D-B49E6575624B}"/>
    <dgm:cxn modelId="{7284406C-09C5-476F-9998-2C1A9F535015}" srcId="{382136ED-4573-4A61-99E6-526F41C8B4DB}" destId="{43EC2AD2-B748-453B-A8F2-C048B97F585E}" srcOrd="4" destOrd="0" parTransId="{223A981C-D000-45A1-B4FA-E322CB9F221B}" sibTransId="{43DCDD8B-64DA-450F-9DA8-3B901959D5FF}"/>
    <dgm:cxn modelId="{BB43704E-00AD-41A9-832D-89A510153E9D}" type="presOf" srcId="{673867A9-BACE-44B3-80F0-EF350D0B8DA5}" destId="{6E870587-AED2-4F7B-91DC-79877E2175E1}" srcOrd="0" destOrd="0" presId="urn:microsoft.com/office/officeart/2005/8/layout/hProcess4"/>
    <dgm:cxn modelId="{4D828B6E-D760-4A95-9BC2-D839F32AC2B5}" type="presOf" srcId="{BD302284-E8FA-4551-B383-7A2B16ABF387}" destId="{4DBB9352-7180-4503-8D8D-35331E11DDC9}" srcOrd="0" destOrd="0" presId="urn:microsoft.com/office/officeart/2005/8/layout/hProcess4"/>
    <dgm:cxn modelId="{2DF3BE4E-4B05-4267-866D-471935DACA9B}" type="presOf" srcId="{4E770939-5938-43B3-9BB3-7C1CC9DCF01F}" destId="{CA0EB044-19CF-4D2F-9560-6FC18F3DC1FD}" srcOrd="0" destOrd="0" presId="urn:microsoft.com/office/officeart/2005/8/layout/hProcess4"/>
    <dgm:cxn modelId="{C417A571-84FE-430E-BEF2-D19DED4956B9}" type="presOf" srcId="{9F8EF166-77DF-4C32-BF9D-0E08D99A7230}" destId="{F86ADE1B-0190-4419-B7D6-B84E53B81684}" srcOrd="0" destOrd="0" presId="urn:microsoft.com/office/officeart/2005/8/layout/hProcess4"/>
    <dgm:cxn modelId="{20237876-0111-4E52-BA6B-19B1FF49A243}" type="presOf" srcId="{7BBAF172-5CE5-4926-A428-4FC95BEB7003}" destId="{CA5D3D9D-9008-4C67-8511-4F4B3DEA8FAE}" srcOrd="0" destOrd="0" presId="urn:microsoft.com/office/officeart/2005/8/layout/hProcess4"/>
    <dgm:cxn modelId="{D7E8B258-4A19-4742-ABED-21774C691389}" type="presOf" srcId="{B21047AA-7B21-4829-A138-0826B95F6944}" destId="{8ED78B32-5E1A-4C0B-871B-6830896C7441}" srcOrd="0" destOrd="0" presId="urn:microsoft.com/office/officeart/2005/8/layout/hProcess4"/>
    <dgm:cxn modelId="{CB141479-22E4-4179-B2FF-C6FDB82BEB05}" srcId="{382136ED-4573-4A61-99E6-526F41C8B4DB}" destId="{F2343341-F749-4935-B181-DF9B825BADBD}" srcOrd="1" destOrd="0" parTransId="{5B531543-9C39-4254-9445-5B69A5A0A9E8}" sibTransId="{A3323635-D413-4B8A-BFF2-296480C5D1A9}"/>
    <dgm:cxn modelId="{6D911C8F-A8B7-4752-8406-D7C217836AE2}" srcId="{382136ED-4573-4A61-99E6-526F41C8B4DB}" destId="{9F8EF166-77DF-4C32-BF9D-0E08D99A7230}" srcOrd="2" destOrd="0" parTransId="{0C9EDEF2-83B0-4AFE-A7C0-1CDB43A9E3DE}" sibTransId="{4E770939-5938-43B3-9BB3-7C1CC9DCF01F}"/>
    <dgm:cxn modelId="{69A5B09A-8430-401F-9508-4598223DC631}" srcId="{382136ED-4573-4A61-99E6-526F41C8B4DB}" destId="{F91353B5-A968-434F-A40F-67FFC395727A}" srcOrd="0" destOrd="0" parTransId="{7458808E-5941-413D-B6ED-7FA4FFA8E592}" sibTransId="{7BBAF172-5CE5-4926-A428-4FC95BEB7003}"/>
    <dgm:cxn modelId="{3C23A39D-B005-4EC6-88F5-9F1638BC4702}" type="presOf" srcId="{1E89525E-FEEB-42D0-BC9E-ABD1658D0B55}" destId="{C77E2B45-C0F9-4E77-9543-ECA50C88D949}" srcOrd="0" destOrd="0" presId="urn:microsoft.com/office/officeart/2005/8/layout/hProcess4"/>
    <dgm:cxn modelId="{22F98DAA-73E0-45EE-A469-87E3D4636FCA}" type="presOf" srcId="{77DBF922-3914-40B5-AF49-9672C0BAE23E}" destId="{093B1E67-F905-4C94-B8AD-6F352A5D32A6}" srcOrd="1" destOrd="0" presId="urn:microsoft.com/office/officeart/2005/8/layout/hProcess4"/>
    <dgm:cxn modelId="{D77C7BBA-6ECB-4B8C-B0AA-D80420877913}" type="presOf" srcId="{2129CCA5-ACC0-46F1-9435-D4CB2FDE1CEF}" destId="{5E12B589-B76F-4036-9938-DBC06734CA1B}" srcOrd="0" destOrd="0" presId="urn:microsoft.com/office/officeart/2005/8/layout/hProcess4"/>
    <dgm:cxn modelId="{497503BF-6E01-4A3C-89F8-A93F4C67E755}" srcId="{F91353B5-A968-434F-A40F-67FFC395727A}" destId="{AB8E7768-2F14-4D61-A1A2-D3789B88B63E}" srcOrd="0" destOrd="0" parTransId="{5377F016-3FD3-4557-8482-7A1229807F2E}" sibTransId="{2E3B4B0A-844D-4D0F-9E1E-0BF83959BBB8}"/>
    <dgm:cxn modelId="{68A0C0C5-5C0E-4682-8B07-832F379F7C94}" type="presOf" srcId="{77DBF922-3914-40B5-AF49-9672C0BAE23E}" destId="{2CF64316-E7E6-40F0-8847-9553273A78BA}" srcOrd="0" destOrd="0" presId="urn:microsoft.com/office/officeart/2005/8/layout/hProcess4"/>
    <dgm:cxn modelId="{6A821ACC-295C-47A7-B451-D121BF2D4D91}" srcId="{382136ED-4573-4A61-99E6-526F41C8B4DB}" destId="{2129CCA5-ACC0-46F1-9435-D4CB2FDE1CEF}" srcOrd="3" destOrd="0" parTransId="{6038975A-D3ED-4234-A519-B0B8C74F00C2}" sibTransId="{1E89525E-FEEB-42D0-BC9E-ABD1658D0B55}"/>
    <dgm:cxn modelId="{E1E3A6D6-3FE5-46E3-ACA7-A505A49AAE09}" srcId="{9F8EF166-77DF-4C32-BF9D-0E08D99A7230}" destId="{B21047AA-7B21-4829-A138-0826B95F6944}" srcOrd="0" destOrd="0" parTransId="{0E35D99A-577E-42B8-9B64-418D16B4614A}" sibTransId="{E33BA721-64E5-480A-9CE4-C0371AD20D86}"/>
    <dgm:cxn modelId="{355A77D9-C7D7-45AB-B40E-0AD665669DB5}" srcId="{43EC2AD2-B748-453B-A8F2-C048B97F585E}" destId="{77DBF922-3914-40B5-AF49-9672C0BAE23E}" srcOrd="0" destOrd="0" parTransId="{8EED3CC5-E88D-4234-826D-1270BD09F668}" sibTransId="{2CD4CB2A-A864-4748-85DA-319537C35AD5}"/>
    <dgm:cxn modelId="{A0CBBDEE-0D16-4199-BB0B-83F41006A6A2}" type="presOf" srcId="{AB8E7768-2F14-4D61-A1A2-D3789B88B63E}" destId="{7899CDF9-D119-44AB-B074-E1D321F70C53}" srcOrd="0" destOrd="0" presId="urn:microsoft.com/office/officeart/2005/8/layout/hProcess4"/>
    <dgm:cxn modelId="{C2AA422D-F87E-4548-983B-183D9D6BFA16}" type="presParOf" srcId="{C4CCAB29-C392-4CD2-A414-DB2E32B912B9}" destId="{9D4E7C65-8A46-46A4-A15A-60900D7A2B2A}" srcOrd="0" destOrd="0" presId="urn:microsoft.com/office/officeart/2005/8/layout/hProcess4"/>
    <dgm:cxn modelId="{67C8B6DF-14E7-4726-8B30-4A0D7F05776F}" type="presParOf" srcId="{C4CCAB29-C392-4CD2-A414-DB2E32B912B9}" destId="{1E2C3B94-11E1-4B0F-BB62-E75C3009E3F2}" srcOrd="1" destOrd="0" presId="urn:microsoft.com/office/officeart/2005/8/layout/hProcess4"/>
    <dgm:cxn modelId="{891799D0-5A96-4574-BE52-FE918BA3CB69}" type="presParOf" srcId="{C4CCAB29-C392-4CD2-A414-DB2E32B912B9}" destId="{6E9C961B-EEB8-4C80-A564-C207D4BD8F3D}" srcOrd="2" destOrd="0" presId="urn:microsoft.com/office/officeart/2005/8/layout/hProcess4"/>
    <dgm:cxn modelId="{C0202658-371E-4737-9D0E-91AE665AC2A3}" type="presParOf" srcId="{6E9C961B-EEB8-4C80-A564-C207D4BD8F3D}" destId="{43117FEF-D727-4C9D-9BDC-02580C0208B2}" srcOrd="0" destOrd="0" presId="urn:microsoft.com/office/officeart/2005/8/layout/hProcess4"/>
    <dgm:cxn modelId="{D1B25947-AEBD-4B6C-A551-1062C6D1A68C}" type="presParOf" srcId="{43117FEF-D727-4C9D-9BDC-02580C0208B2}" destId="{76096F04-3364-4426-A8CF-A34945BB885B}" srcOrd="0" destOrd="0" presId="urn:microsoft.com/office/officeart/2005/8/layout/hProcess4"/>
    <dgm:cxn modelId="{5DAE9E3B-BDE4-4889-A273-C0070B320ADD}" type="presParOf" srcId="{43117FEF-D727-4C9D-9BDC-02580C0208B2}" destId="{7899CDF9-D119-44AB-B074-E1D321F70C53}" srcOrd="1" destOrd="0" presId="urn:microsoft.com/office/officeart/2005/8/layout/hProcess4"/>
    <dgm:cxn modelId="{6B296DEA-EC71-452F-8C08-6E2ED3A1D023}" type="presParOf" srcId="{43117FEF-D727-4C9D-9BDC-02580C0208B2}" destId="{8BF18189-3AB5-4BEB-9F0D-1F7E17A3FECF}" srcOrd="2" destOrd="0" presId="urn:microsoft.com/office/officeart/2005/8/layout/hProcess4"/>
    <dgm:cxn modelId="{1C9ADE55-98AE-444A-A44A-C62B30754544}" type="presParOf" srcId="{43117FEF-D727-4C9D-9BDC-02580C0208B2}" destId="{00965F5B-A093-44C7-90C6-7DC447019632}" srcOrd="3" destOrd="0" presId="urn:microsoft.com/office/officeart/2005/8/layout/hProcess4"/>
    <dgm:cxn modelId="{0299CF2A-A5F6-4F59-95E3-60D2D3F6FF34}" type="presParOf" srcId="{43117FEF-D727-4C9D-9BDC-02580C0208B2}" destId="{BC548E4B-F935-41CA-BA07-474A4231A747}" srcOrd="4" destOrd="0" presId="urn:microsoft.com/office/officeart/2005/8/layout/hProcess4"/>
    <dgm:cxn modelId="{F444C438-5017-427D-98C9-735614BDF741}" type="presParOf" srcId="{6E9C961B-EEB8-4C80-A564-C207D4BD8F3D}" destId="{CA5D3D9D-9008-4C67-8511-4F4B3DEA8FAE}" srcOrd="1" destOrd="0" presId="urn:microsoft.com/office/officeart/2005/8/layout/hProcess4"/>
    <dgm:cxn modelId="{12A5C2BB-0267-4849-94DF-7DCAF5E06D90}" type="presParOf" srcId="{6E9C961B-EEB8-4C80-A564-C207D4BD8F3D}" destId="{D2BAA291-1C8A-46FB-A8CF-8D70ED5A1232}" srcOrd="2" destOrd="0" presId="urn:microsoft.com/office/officeart/2005/8/layout/hProcess4"/>
    <dgm:cxn modelId="{0E6AFE07-FE3B-4094-91EB-6ADCC27FC164}" type="presParOf" srcId="{D2BAA291-1C8A-46FB-A8CF-8D70ED5A1232}" destId="{CD7BF45F-54CC-4CC2-B510-DD004D994BB3}" srcOrd="0" destOrd="0" presId="urn:microsoft.com/office/officeart/2005/8/layout/hProcess4"/>
    <dgm:cxn modelId="{D9FE18C3-7843-4674-BF6E-E53796BD72BC}" type="presParOf" srcId="{D2BAA291-1C8A-46FB-A8CF-8D70ED5A1232}" destId="{6E870587-AED2-4F7B-91DC-79877E2175E1}" srcOrd="1" destOrd="0" presId="urn:microsoft.com/office/officeart/2005/8/layout/hProcess4"/>
    <dgm:cxn modelId="{00185990-3DF1-4388-B66E-8F91C1E5B345}" type="presParOf" srcId="{D2BAA291-1C8A-46FB-A8CF-8D70ED5A1232}" destId="{964FA077-7932-4F8F-B785-19BDF38042E9}" srcOrd="2" destOrd="0" presId="urn:microsoft.com/office/officeart/2005/8/layout/hProcess4"/>
    <dgm:cxn modelId="{F9354568-7DFC-434B-83B1-B8FB15BCD976}" type="presParOf" srcId="{D2BAA291-1C8A-46FB-A8CF-8D70ED5A1232}" destId="{0A5B0D37-C894-4A28-83BC-B5567EBE1B86}" srcOrd="3" destOrd="0" presId="urn:microsoft.com/office/officeart/2005/8/layout/hProcess4"/>
    <dgm:cxn modelId="{87461C18-3430-4CB7-9680-957EC23A67BF}" type="presParOf" srcId="{D2BAA291-1C8A-46FB-A8CF-8D70ED5A1232}" destId="{BEC15E8D-153F-4C0D-8478-BB178167C803}" srcOrd="4" destOrd="0" presId="urn:microsoft.com/office/officeart/2005/8/layout/hProcess4"/>
    <dgm:cxn modelId="{3594ACC8-1F7D-437D-B305-88BC6671B7A5}" type="presParOf" srcId="{6E9C961B-EEB8-4C80-A564-C207D4BD8F3D}" destId="{B756C001-FDC2-43A9-ACA0-107E40509DC3}" srcOrd="3" destOrd="0" presId="urn:microsoft.com/office/officeart/2005/8/layout/hProcess4"/>
    <dgm:cxn modelId="{387C33F7-3E18-4141-8A97-D599EDA74B57}" type="presParOf" srcId="{6E9C961B-EEB8-4C80-A564-C207D4BD8F3D}" destId="{DFE74FB9-A6E0-4C07-9BB3-45E31DA3BE93}" srcOrd="4" destOrd="0" presId="urn:microsoft.com/office/officeart/2005/8/layout/hProcess4"/>
    <dgm:cxn modelId="{EF490351-67DC-482D-90D5-5998D561D542}" type="presParOf" srcId="{DFE74FB9-A6E0-4C07-9BB3-45E31DA3BE93}" destId="{C5776F3F-A4E9-4F5F-8D1A-4415784BC19C}" srcOrd="0" destOrd="0" presId="urn:microsoft.com/office/officeart/2005/8/layout/hProcess4"/>
    <dgm:cxn modelId="{882A6821-D115-41A1-BE20-A05BABCC4B01}" type="presParOf" srcId="{DFE74FB9-A6E0-4C07-9BB3-45E31DA3BE93}" destId="{8ED78B32-5E1A-4C0B-871B-6830896C7441}" srcOrd="1" destOrd="0" presId="urn:microsoft.com/office/officeart/2005/8/layout/hProcess4"/>
    <dgm:cxn modelId="{48C47CAB-C6C9-4F5F-A6BA-4454BB9CD068}" type="presParOf" srcId="{DFE74FB9-A6E0-4C07-9BB3-45E31DA3BE93}" destId="{11499FB8-2866-4822-91D1-80822FAF392C}" srcOrd="2" destOrd="0" presId="urn:microsoft.com/office/officeart/2005/8/layout/hProcess4"/>
    <dgm:cxn modelId="{AB8844D6-6355-4234-B920-E91322F5F4CD}" type="presParOf" srcId="{DFE74FB9-A6E0-4C07-9BB3-45E31DA3BE93}" destId="{F86ADE1B-0190-4419-B7D6-B84E53B81684}" srcOrd="3" destOrd="0" presId="urn:microsoft.com/office/officeart/2005/8/layout/hProcess4"/>
    <dgm:cxn modelId="{BB2A8070-3BC2-4E62-B084-7C99882BE2A7}" type="presParOf" srcId="{DFE74FB9-A6E0-4C07-9BB3-45E31DA3BE93}" destId="{97F28790-8CEF-4890-B930-EC9A8585B7C2}" srcOrd="4" destOrd="0" presId="urn:microsoft.com/office/officeart/2005/8/layout/hProcess4"/>
    <dgm:cxn modelId="{EADACAEE-E2CF-4860-8348-C791111227C1}" type="presParOf" srcId="{6E9C961B-EEB8-4C80-A564-C207D4BD8F3D}" destId="{CA0EB044-19CF-4D2F-9560-6FC18F3DC1FD}" srcOrd="5" destOrd="0" presId="urn:microsoft.com/office/officeart/2005/8/layout/hProcess4"/>
    <dgm:cxn modelId="{517A7638-2572-43D7-B740-4377795FBA2E}" type="presParOf" srcId="{6E9C961B-EEB8-4C80-A564-C207D4BD8F3D}" destId="{F71D00ED-41DF-4D90-B831-27A4ECC51759}" srcOrd="6" destOrd="0" presId="urn:microsoft.com/office/officeart/2005/8/layout/hProcess4"/>
    <dgm:cxn modelId="{1E592FB0-12C7-4E03-968E-63A53D7B73F9}" type="presParOf" srcId="{F71D00ED-41DF-4D90-B831-27A4ECC51759}" destId="{4D9FB656-C86C-472B-814D-5D0884919C4F}" srcOrd="0" destOrd="0" presId="urn:microsoft.com/office/officeart/2005/8/layout/hProcess4"/>
    <dgm:cxn modelId="{CB515542-5ABB-4757-8257-010195365004}" type="presParOf" srcId="{F71D00ED-41DF-4D90-B831-27A4ECC51759}" destId="{4DBB9352-7180-4503-8D8D-35331E11DDC9}" srcOrd="1" destOrd="0" presId="urn:microsoft.com/office/officeart/2005/8/layout/hProcess4"/>
    <dgm:cxn modelId="{E4DDA3F9-9A5C-4F5E-8E87-C66444CF9306}" type="presParOf" srcId="{F71D00ED-41DF-4D90-B831-27A4ECC51759}" destId="{E411482E-2E2E-4379-A613-8A7308CC7E6A}" srcOrd="2" destOrd="0" presId="urn:microsoft.com/office/officeart/2005/8/layout/hProcess4"/>
    <dgm:cxn modelId="{4A4514CC-BFEB-49E4-BB06-27F38F95BF7C}" type="presParOf" srcId="{F71D00ED-41DF-4D90-B831-27A4ECC51759}" destId="{5E12B589-B76F-4036-9938-DBC06734CA1B}" srcOrd="3" destOrd="0" presId="urn:microsoft.com/office/officeart/2005/8/layout/hProcess4"/>
    <dgm:cxn modelId="{BFC00AEA-2101-42FC-8BD6-1C976076BD26}" type="presParOf" srcId="{F71D00ED-41DF-4D90-B831-27A4ECC51759}" destId="{A3C44075-9D17-466F-BC2F-09E41081BC2C}" srcOrd="4" destOrd="0" presId="urn:microsoft.com/office/officeart/2005/8/layout/hProcess4"/>
    <dgm:cxn modelId="{5E146E4C-EFC4-4823-BEF2-4708C4ACC8CB}" type="presParOf" srcId="{6E9C961B-EEB8-4C80-A564-C207D4BD8F3D}" destId="{C77E2B45-C0F9-4E77-9543-ECA50C88D949}" srcOrd="7" destOrd="0" presId="urn:microsoft.com/office/officeart/2005/8/layout/hProcess4"/>
    <dgm:cxn modelId="{06F77757-E7D8-4F2F-A10E-AFC5E936C01B}" type="presParOf" srcId="{6E9C961B-EEB8-4C80-A564-C207D4BD8F3D}" destId="{56842E5D-8E9E-41AA-B670-A23166A6B960}" srcOrd="8" destOrd="0" presId="urn:microsoft.com/office/officeart/2005/8/layout/hProcess4"/>
    <dgm:cxn modelId="{9AAE5DBF-222E-4B42-89B3-1E39D4FF7CC8}" type="presParOf" srcId="{56842E5D-8E9E-41AA-B670-A23166A6B960}" destId="{53FF94BB-D482-46DB-9D52-0E66C4D9F6C7}" srcOrd="0" destOrd="0" presId="urn:microsoft.com/office/officeart/2005/8/layout/hProcess4"/>
    <dgm:cxn modelId="{64FC986F-16BD-4506-86EB-99DC79E8B946}" type="presParOf" srcId="{56842E5D-8E9E-41AA-B670-A23166A6B960}" destId="{2CF64316-E7E6-40F0-8847-9553273A78BA}" srcOrd="1" destOrd="0" presId="urn:microsoft.com/office/officeart/2005/8/layout/hProcess4"/>
    <dgm:cxn modelId="{0C724DA3-41FF-4701-A99D-898DC1349219}" type="presParOf" srcId="{56842E5D-8E9E-41AA-B670-A23166A6B960}" destId="{093B1E67-F905-4C94-B8AD-6F352A5D32A6}" srcOrd="2" destOrd="0" presId="urn:microsoft.com/office/officeart/2005/8/layout/hProcess4"/>
    <dgm:cxn modelId="{07B02FD2-21F3-441F-91A7-A66E3441EFD4}" type="presParOf" srcId="{56842E5D-8E9E-41AA-B670-A23166A6B960}" destId="{709D4817-E501-49CF-A27A-BC1E914C1EE9}" srcOrd="3" destOrd="0" presId="urn:microsoft.com/office/officeart/2005/8/layout/hProcess4"/>
    <dgm:cxn modelId="{75C5572C-CC69-4FFD-A224-09F395B37FB2}" type="presParOf" srcId="{56842E5D-8E9E-41AA-B670-A23166A6B960}" destId="{A828A166-D4E5-463A-AEB7-A7B46157790D}" srcOrd="4" destOrd="0" presId="urn:microsoft.com/office/officeart/2005/8/layout/h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8AA8F6-E19E-4CA3-BE4C-E585DABF82CD}">
      <dsp:nvSpPr>
        <dsp:cNvPr id="0" name=""/>
        <dsp:cNvSpPr/>
      </dsp:nvSpPr>
      <dsp:spPr>
        <a:xfrm rot="5400000">
          <a:off x="5358683" y="-2314157"/>
          <a:ext cx="531584" cy="5293623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3740"/>
            <a:buNone/>
          </a:pPr>
          <a:r>
            <a:rPr lang="en-NZ" sz="2000" b="0" kern="1200" dirty="0"/>
            <a:t>Delay, Bureaucracy, &amp; Unnecessary code </a:t>
          </a:r>
        </a:p>
      </dsp:txBody>
      <dsp:txXfrm rot="-5400000">
        <a:off x="2977664" y="92812"/>
        <a:ext cx="5267673" cy="479684"/>
      </dsp:txXfrm>
    </dsp:sp>
    <dsp:sp modelId="{BE4E8F0F-96E5-4D0C-BBEA-6A0DBD9B1585}">
      <dsp:nvSpPr>
        <dsp:cNvPr id="0" name=""/>
        <dsp:cNvSpPr/>
      </dsp:nvSpPr>
      <dsp:spPr>
        <a:xfrm>
          <a:off x="0" y="414"/>
          <a:ext cx="2977663" cy="664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3200"/>
            <a:buFont typeface="Calibri"/>
            <a:buNone/>
          </a:pPr>
          <a:r>
            <a:rPr lang="en-NZ" sz="2400" kern="1200" dirty="0"/>
            <a:t>Eliminate Waste</a:t>
          </a:r>
        </a:p>
      </dsp:txBody>
      <dsp:txXfrm>
        <a:off x="32437" y="32851"/>
        <a:ext cx="2912789" cy="599606"/>
      </dsp:txXfrm>
    </dsp:sp>
    <dsp:sp modelId="{3BD1B07D-6E43-4F19-B8D1-DD88AAC92351}">
      <dsp:nvSpPr>
        <dsp:cNvPr id="0" name=""/>
        <dsp:cNvSpPr/>
      </dsp:nvSpPr>
      <dsp:spPr>
        <a:xfrm rot="5400000">
          <a:off x="5358683" y="-1616452"/>
          <a:ext cx="531584" cy="5293623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NZ" sz="2000" kern="1200" dirty="0"/>
            <a:t>Combined skills, automation, and test</a:t>
          </a:r>
        </a:p>
      </dsp:txBody>
      <dsp:txXfrm rot="-5400000">
        <a:off x="2977664" y="790517"/>
        <a:ext cx="5267673" cy="479684"/>
      </dsp:txXfrm>
    </dsp:sp>
    <dsp:sp modelId="{983C0B06-DBA9-41A2-999E-086048F1FA06}">
      <dsp:nvSpPr>
        <dsp:cNvPr id="0" name=""/>
        <dsp:cNvSpPr/>
      </dsp:nvSpPr>
      <dsp:spPr>
        <a:xfrm>
          <a:off x="0" y="698118"/>
          <a:ext cx="2977663" cy="664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400" kern="1200" dirty="0"/>
            <a:t>Build Quality In</a:t>
          </a:r>
        </a:p>
      </dsp:txBody>
      <dsp:txXfrm>
        <a:off x="32437" y="730555"/>
        <a:ext cx="2912789" cy="599606"/>
      </dsp:txXfrm>
    </dsp:sp>
    <dsp:sp modelId="{F578A353-171F-4544-AEDC-4F0FB19555A8}">
      <dsp:nvSpPr>
        <dsp:cNvPr id="0" name=""/>
        <dsp:cNvSpPr/>
      </dsp:nvSpPr>
      <dsp:spPr>
        <a:xfrm rot="5400000">
          <a:off x="5358683" y="-918748"/>
          <a:ext cx="531584" cy="5293623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NZ" sz="2000" kern="1200" dirty="0"/>
            <a:t>Infrastructure and documentation</a:t>
          </a:r>
        </a:p>
      </dsp:txBody>
      <dsp:txXfrm rot="-5400000">
        <a:off x="2977664" y="1488221"/>
        <a:ext cx="5267673" cy="479684"/>
      </dsp:txXfrm>
    </dsp:sp>
    <dsp:sp modelId="{BF0A9565-42A0-4E37-A145-2B8E14FA5657}">
      <dsp:nvSpPr>
        <dsp:cNvPr id="0" name=""/>
        <dsp:cNvSpPr/>
      </dsp:nvSpPr>
      <dsp:spPr>
        <a:xfrm>
          <a:off x="0" y="1395823"/>
          <a:ext cx="2977663" cy="664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400" kern="1200" dirty="0"/>
            <a:t>Create Knowledge</a:t>
          </a:r>
        </a:p>
      </dsp:txBody>
      <dsp:txXfrm>
        <a:off x="32437" y="1428260"/>
        <a:ext cx="2912789" cy="599606"/>
      </dsp:txXfrm>
    </dsp:sp>
    <dsp:sp modelId="{60632507-4965-4BFA-A51D-98B12E30E04D}">
      <dsp:nvSpPr>
        <dsp:cNvPr id="0" name=""/>
        <dsp:cNvSpPr/>
      </dsp:nvSpPr>
      <dsp:spPr>
        <a:xfrm rot="5400000">
          <a:off x="5358683" y="-221044"/>
          <a:ext cx="531584" cy="5293623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NZ" sz="2000" kern="1200" dirty="0"/>
            <a:t>Options open, collect and analyse info. </a:t>
          </a:r>
        </a:p>
      </dsp:txBody>
      <dsp:txXfrm rot="-5400000">
        <a:off x="2977664" y="2185925"/>
        <a:ext cx="5267673" cy="479684"/>
      </dsp:txXfrm>
    </dsp:sp>
    <dsp:sp modelId="{040339EC-4776-4B42-AE90-949022E10803}">
      <dsp:nvSpPr>
        <dsp:cNvPr id="0" name=""/>
        <dsp:cNvSpPr/>
      </dsp:nvSpPr>
      <dsp:spPr>
        <a:xfrm>
          <a:off x="0" y="2093527"/>
          <a:ext cx="2977663" cy="664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400" kern="1200" dirty="0"/>
            <a:t>Defer Commitment </a:t>
          </a:r>
        </a:p>
      </dsp:txBody>
      <dsp:txXfrm>
        <a:off x="32437" y="2125964"/>
        <a:ext cx="2912789" cy="599606"/>
      </dsp:txXfrm>
    </dsp:sp>
    <dsp:sp modelId="{2DA3BB37-DDB0-49B3-9419-252E058D4E10}">
      <dsp:nvSpPr>
        <dsp:cNvPr id="0" name=""/>
        <dsp:cNvSpPr/>
      </dsp:nvSpPr>
      <dsp:spPr>
        <a:xfrm rot="5400000">
          <a:off x="5358683" y="476659"/>
          <a:ext cx="531584" cy="5293623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NZ" sz="2000" kern="1200" dirty="0"/>
            <a:t>speed bumps and simple solution</a:t>
          </a:r>
        </a:p>
      </dsp:txBody>
      <dsp:txXfrm rot="-5400000">
        <a:off x="2977664" y="2883628"/>
        <a:ext cx="5267673" cy="479684"/>
      </dsp:txXfrm>
    </dsp:sp>
    <dsp:sp modelId="{331F31CE-031A-4AD9-BB42-2DFAD5AF2739}">
      <dsp:nvSpPr>
        <dsp:cNvPr id="0" name=""/>
        <dsp:cNvSpPr/>
      </dsp:nvSpPr>
      <dsp:spPr>
        <a:xfrm>
          <a:off x="0" y="2791231"/>
          <a:ext cx="2977663" cy="664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3200"/>
            <a:buFont typeface="Calibri"/>
            <a:buNone/>
          </a:pPr>
          <a:r>
            <a:rPr lang="en-NZ" sz="2400" kern="1200" dirty="0"/>
            <a:t>Deliver Fast</a:t>
          </a:r>
        </a:p>
      </dsp:txBody>
      <dsp:txXfrm>
        <a:off x="32437" y="2823668"/>
        <a:ext cx="2912789" cy="599606"/>
      </dsp:txXfrm>
    </dsp:sp>
    <dsp:sp modelId="{4EA58ECC-3B7D-495C-AE2D-C327B64FFC7B}">
      <dsp:nvSpPr>
        <dsp:cNvPr id="0" name=""/>
        <dsp:cNvSpPr/>
      </dsp:nvSpPr>
      <dsp:spPr>
        <a:xfrm rot="5400000">
          <a:off x="5358683" y="1174364"/>
          <a:ext cx="531584" cy="5293623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NZ" sz="2000" kern="1200" dirty="0"/>
            <a:t>Focus on communication and health</a:t>
          </a:r>
        </a:p>
      </dsp:txBody>
      <dsp:txXfrm rot="-5400000">
        <a:off x="2977664" y="3581333"/>
        <a:ext cx="5267673" cy="479684"/>
      </dsp:txXfrm>
    </dsp:sp>
    <dsp:sp modelId="{9E8F02F8-7548-42AE-BB6E-DA82E5359562}">
      <dsp:nvSpPr>
        <dsp:cNvPr id="0" name=""/>
        <dsp:cNvSpPr/>
      </dsp:nvSpPr>
      <dsp:spPr>
        <a:xfrm>
          <a:off x="0" y="3488935"/>
          <a:ext cx="2977663" cy="664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400" kern="1200" dirty="0"/>
            <a:t>Respect People</a:t>
          </a:r>
        </a:p>
      </dsp:txBody>
      <dsp:txXfrm>
        <a:off x="32437" y="3521372"/>
        <a:ext cx="2912789" cy="599606"/>
      </dsp:txXfrm>
    </dsp:sp>
    <dsp:sp modelId="{235158E4-CA5F-484E-BE60-69D55800DCFC}">
      <dsp:nvSpPr>
        <dsp:cNvPr id="0" name=""/>
        <dsp:cNvSpPr/>
      </dsp:nvSpPr>
      <dsp:spPr>
        <a:xfrm rot="5400000">
          <a:off x="5358683" y="1872068"/>
          <a:ext cx="531584" cy="5293623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NZ" sz="2000" kern="1200" dirty="0"/>
            <a:t>Sub optimise &gt; multi-disciplined team</a:t>
          </a:r>
        </a:p>
      </dsp:txBody>
      <dsp:txXfrm rot="-5400000">
        <a:off x="2977664" y="4279037"/>
        <a:ext cx="5267673" cy="479684"/>
      </dsp:txXfrm>
    </dsp:sp>
    <dsp:sp modelId="{004F4121-01D4-452C-9122-F918B303B475}">
      <dsp:nvSpPr>
        <dsp:cNvPr id="0" name=""/>
        <dsp:cNvSpPr/>
      </dsp:nvSpPr>
      <dsp:spPr>
        <a:xfrm>
          <a:off x="0" y="4186640"/>
          <a:ext cx="2977663" cy="664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3200"/>
            <a:buFont typeface="Calibri"/>
            <a:buNone/>
          </a:pPr>
          <a:r>
            <a:rPr lang="en-NZ" sz="2400" kern="1200"/>
            <a:t>Optimize the Whole</a:t>
          </a:r>
          <a:endParaRPr lang="en-NZ" sz="2400" kern="1200" dirty="0"/>
        </a:p>
      </dsp:txBody>
      <dsp:txXfrm>
        <a:off x="32437" y="4219077"/>
        <a:ext cx="2912789" cy="59960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99CDF9-D119-44AB-B074-E1D321F70C53}">
      <dsp:nvSpPr>
        <dsp:cNvPr id="0" name=""/>
        <dsp:cNvSpPr/>
      </dsp:nvSpPr>
      <dsp:spPr>
        <a:xfrm>
          <a:off x="2316" y="1832963"/>
          <a:ext cx="1431139" cy="118039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2840"/>
            <a:buChar char="−"/>
          </a:pPr>
          <a:r>
            <a:rPr lang="en-NZ" sz="1200" kern="1200" dirty="0"/>
            <a:t>Avoid quality issues by combining the skills and experience</a:t>
          </a:r>
        </a:p>
      </dsp:txBody>
      <dsp:txXfrm>
        <a:off x="29480" y="1860127"/>
        <a:ext cx="1376811" cy="873122"/>
      </dsp:txXfrm>
    </dsp:sp>
    <dsp:sp modelId="{CA5D3D9D-9008-4C67-8511-4F4B3DEA8FAE}">
      <dsp:nvSpPr>
        <dsp:cNvPr id="0" name=""/>
        <dsp:cNvSpPr/>
      </dsp:nvSpPr>
      <dsp:spPr>
        <a:xfrm>
          <a:off x="811881" y="2133135"/>
          <a:ext cx="1550155" cy="1550155"/>
        </a:xfrm>
        <a:prstGeom prst="leftCircularArrow">
          <a:avLst>
            <a:gd name="adj1" fmla="val 2974"/>
            <a:gd name="adj2" fmla="val 364464"/>
            <a:gd name="adj3" fmla="val 2139974"/>
            <a:gd name="adj4" fmla="val 9024489"/>
            <a:gd name="adj5" fmla="val 347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965F5B-A093-44C7-90C6-7DC447019632}">
      <dsp:nvSpPr>
        <dsp:cNvPr id="0" name=""/>
        <dsp:cNvSpPr/>
      </dsp:nvSpPr>
      <dsp:spPr>
        <a:xfrm>
          <a:off x="320347" y="2760414"/>
          <a:ext cx="1272124" cy="5058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500" b="0" kern="1200" dirty="0"/>
            <a:t>Pair programming</a:t>
          </a:r>
        </a:p>
      </dsp:txBody>
      <dsp:txXfrm>
        <a:off x="335164" y="2775231"/>
        <a:ext cx="1242490" cy="476247"/>
      </dsp:txXfrm>
    </dsp:sp>
    <dsp:sp modelId="{6E870587-AED2-4F7B-91DC-79877E2175E1}">
      <dsp:nvSpPr>
        <dsp:cNvPr id="0" name=""/>
        <dsp:cNvSpPr/>
      </dsp:nvSpPr>
      <dsp:spPr>
        <a:xfrm>
          <a:off x="1812018" y="1832963"/>
          <a:ext cx="1431139" cy="118039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NZ" sz="1200" kern="1200" dirty="0"/>
            <a:t>Writing criteria for code before writing the code </a:t>
          </a:r>
        </a:p>
      </dsp:txBody>
      <dsp:txXfrm>
        <a:off x="1839182" y="2113068"/>
        <a:ext cx="1376811" cy="873122"/>
      </dsp:txXfrm>
    </dsp:sp>
    <dsp:sp modelId="{B756C001-FDC2-43A9-ACA0-107E40509DC3}">
      <dsp:nvSpPr>
        <dsp:cNvPr id="0" name=""/>
        <dsp:cNvSpPr/>
      </dsp:nvSpPr>
      <dsp:spPr>
        <a:xfrm rot="438811">
          <a:off x="2589327" y="1208180"/>
          <a:ext cx="1733023" cy="1733023"/>
        </a:xfrm>
        <a:prstGeom prst="circularArrow">
          <a:avLst>
            <a:gd name="adj1" fmla="val 2660"/>
            <a:gd name="adj2" fmla="val 323621"/>
            <a:gd name="adj3" fmla="val 19500868"/>
            <a:gd name="adj4" fmla="val 12575511"/>
            <a:gd name="adj5" fmla="val 3104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5B0D37-C894-4A28-83BC-B5567EBE1B86}">
      <dsp:nvSpPr>
        <dsp:cNvPr id="0" name=""/>
        <dsp:cNvSpPr/>
      </dsp:nvSpPr>
      <dsp:spPr>
        <a:xfrm>
          <a:off x="2130049" y="1580023"/>
          <a:ext cx="1272124" cy="5058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2840"/>
            <a:buNone/>
          </a:pPr>
          <a:r>
            <a:rPr lang="en-NZ" sz="1500" b="0" kern="1200" dirty="0"/>
            <a:t>Test-driven</a:t>
          </a:r>
          <a:r>
            <a:rPr lang="en-NZ" sz="1500" b="1" kern="1200" dirty="0"/>
            <a:t> </a:t>
          </a:r>
          <a:r>
            <a:rPr lang="en-NZ" sz="1500" b="0" kern="1200" dirty="0"/>
            <a:t>development</a:t>
          </a:r>
        </a:p>
      </dsp:txBody>
      <dsp:txXfrm>
        <a:off x="2144866" y="1594840"/>
        <a:ext cx="1242490" cy="476247"/>
      </dsp:txXfrm>
    </dsp:sp>
    <dsp:sp modelId="{8ED78B32-5E1A-4C0B-871B-6830896C7441}">
      <dsp:nvSpPr>
        <dsp:cNvPr id="0" name=""/>
        <dsp:cNvSpPr/>
      </dsp:nvSpPr>
      <dsp:spPr>
        <a:xfrm>
          <a:off x="3621719" y="1832963"/>
          <a:ext cx="1431139" cy="118039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NZ" sz="1200" kern="1200" dirty="0"/>
            <a:t>Help to get constant feedback</a:t>
          </a:r>
        </a:p>
      </dsp:txBody>
      <dsp:txXfrm>
        <a:off x="3648883" y="1860127"/>
        <a:ext cx="1376811" cy="873122"/>
      </dsp:txXfrm>
    </dsp:sp>
    <dsp:sp modelId="{CA0EB044-19CF-4D2F-9560-6FC18F3DC1FD}">
      <dsp:nvSpPr>
        <dsp:cNvPr id="0" name=""/>
        <dsp:cNvSpPr/>
      </dsp:nvSpPr>
      <dsp:spPr>
        <a:xfrm>
          <a:off x="4431283" y="2133135"/>
          <a:ext cx="1550155" cy="1550155"/>
        </a:xfrm>
        <a:prstGeom prst="leftCircularArrow">
          <a:avLst>
            <a:gd name="adj1" fmla="val 2974"/>
            <a:gd name="adj2" fmla="val 364464"/>
            <a:gd name="adj3" fmla="val 2139974"/>
            <a:gd name="adj4" fmla="val 9024489"/>
            <a:gd name="adj5" fmla="val 347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6ADE1B-0190-4419-B7D6-B84E53B81684}">
      <dsp:nvSpPr>
        <dsp:cNvPr id="0" name=""/>
        <dsp:cNvSpPr/>
      </dsp:nvSpPr>
      <dsp:spPr>
        <a:xfrm>
          <a:off x="3939750" y="2760414"/>
          <a:ext cx="1272124" cy="5058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500" b="0" kern="1200" dirty="0"/>
            <a:t>Incremental development</a:t>
          </a:r>
        </a:p>
      </dsp:txBody>
      <dsp:txXfrm>
        <a:off x="3954567" y="2775231"/>
        <a:ext cx="1242490" cy="476247"/>
      </dsp:txXfrm>
    </dsp:sp>
    <dsp:sp modelId="{4DBB9352-7180-4503-8D8D-35331E11DDC9}">
      <dsp:nvSpPr>
        <dsp:cNvPr id="0" name=""/>
        <dsp:cNvSpPr/>
      </dsp:nvSpPr>
      <dsp:spPr>
        <a:xfrm>
          <a:off x="5431420" y="1832963"/>
          <a:ext cx="1431139" cy="118039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NZ" sz="1200" kern="1200" dirty="0"/>
            <a:t>Reduce human error</a:t>
          </a:r>
        </a:p>
      </dsp:txBody>
      <dsp:txXfrm>
        <a:off x="5458584" y="2113068"/>
        <a:ext cx="1376811" cy="873122"/>
      </dsp:txXfrm>
    </dsp:sp>
    <dsp:sp modelId="{C77E2B45-C0F9-4E77-9543-ECA50C88D949}">
      <dsp:nvSpPr>
        <dsp:cNvPr id="0" name=""/>
        <dsp:cNvSpPr/>
      </dsp:nvSpPr>
      <dsp:spPr>
        <a:xfrm>
          <a:off x="6229058" y="1116745"/>
          <a:ext cx="1733023" cy="1733023"/>
        </a:xfrm>
        <a:prstGeom prst="circularArrow">
          <a:avLst>
            <a:gd name="adj1" fmla="val 2660"/>
            <a:gd name="adj2" fmla="val 323621"/>
            <a:gd name="adj3" fmla="val 19500868"/>
            <a:gd name="adj4" fmla="val 12575511"/>
            <a:gd name="adj5" fmla="val 3104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12B589-B76F-4036-9938-DBC06734CA1B}">
      <dsp:nvSpPr>
        <dsp:cNvPr id="0" name=""/>
        <dsp:cNvSpPr/>
      </dsp:nvSpPr>
      <dsp:spPr>
        <a:xfrm>
          <a:off x="5749451" y="1580023"/>
          <a:ext cx="1272124" cy="5058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500" kern="1200" dirty="0"/>
            <a:t>Automation</a:t>
          </a:r>
        </a:p>
      </dsp:txBody>
      <dsp:txXfrm>
        <a:off x="5764268" y="1594840"/>
        <a:ext cx="1242490" cy="476247"/>
      </dsp:txXfrm>
    </dsp:sp>
    <dsp:sp modelId="{2CF64316-E7E6-40F0-8847-9553273A78BA}">
      <dsp:nvSpPr>
        <dsp:cNvPr id="0" name=""/>
        <dsp:cNvSpPr/>
      </dsp:nvSpPr>
      <dsp:spPr>
        <a:xfrm>
          <a:off x="7241121" y="1832963"/>
          <a:ext cx="1431139" cy="118039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NZ" sz="1200" kern="1200" dirty="0"/>
            <a:t>Reduce switching, and knowledge gap. </a:t>
          </a:r>
        </a:p>
      </dsp:txBody>
      <dsp:txXfrm>
        <a:off x="7268285" y="1860127"/>
        <a:ext cx="1376811" cy="873122"/>
      </dsp:txXfrm>
    </dsp:sp>
    <dsp:sp modelId="{709D4817-E501-49CF-A27A-BC1E914C1EE9}">
      <dsp:nvSpPr>
        <dsp:cNvPr id="0" name=""/>
        <dsp:cNvSpPr/>
      </dsp:nvSpPr>
      <dsp:spPr>
        <a:xfrm>
          <a:off x="7559152" y="2760414"/>
          <a:ext cx="1272124" cy="5058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500" kern="1200" dirty="0"/>
            <a:t>Minimise wait states</a:t>
          </a:r>
        </a:p>
      </dsp:txBody>
      <dsp:txXfrm>
        <a:off x="7573969" y="2775231"/>
        <a:ext cx="1242490" cy="47624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connRout" val="curve"/>
              <dgm:param type="srcNode" val="parentNode1"/>
              <dgm:param type="dstNode" val="connSite2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connRout" val="curve"/>
                <dgm:param type="srcNode" val="parentNode2"/>
                <dgm:param type="dstNode" val="connSite1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Z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7e92bed751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7e92bed751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g7e92bed751_0_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NZ"/>
              <a:t>3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817cf981c9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817cf981c9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g817cf981c9_0_3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NZ"/>
              <a:t>4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817cf981c9_0_1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817cf981c9_0_1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g817cf981c9_0_17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NZ"/>
              <a:t>9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817cf981c9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817cf981c9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817cf981c9_0_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NZ"/>
              <a:t>10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817cf981c9_0_1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817cf981c9_0_1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g817cf981c9_0_15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NZ"/>
              <a:t>11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817cf981c9_0_1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817cf981c9_0_1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914400" lvl="1" indent="-408940" algn="l" rtl="0">
              <a:spcBef>
                <a:spcPts val="0"/>
              </a:spcBef>
              <a:spcAft>
                <a:spcPts val="0"/>
              </a:spcAft>
              <a:buSzPts val="2840"/>
              <a:buChar char="−"/>
            </a:pPr>
            <a:r>
              <a:rPr lang="en-NZ" sz="2300" dirty="0"/>
              <a:t>Avoid quality issues by combining the skills and experience of two developers instead of one.</a:t>
            </a:r>
          </a:p>
          <a:p>
            <a:pPr marL="914400" marR="0" lvl="1" indent="-4089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40"/>
              <a:buFont typeface="Arial"/>
              <a:buChar char="−"/>
              <a:tabLst/>
              <a:defRPr/>
            </a:pPr>
            <a:r>
              <a:rPr lang="en-NZ" sz="2300" dirty="0"/>
              <a:t>Writing criteria for code before writing the code to ensure it meets business requirements.</a:t>
            </a:r>
          </a:p>
          <a:p>
            <a:pPr marL="914400" lvl="1" indent="-408940" algn="l" rtl="0">
              <a:spcBef>
                <a:spcPts val="0"/>
              </a:spcBef>
              <a:spcAft>
                <a:spcPts val="0"/>
              </a:spcAft>
              <a:buSzPts val="2840"/>
              <a:buChar char="−"/>
            </a:pPr>
            <a:endParaRPr lang="en-NZ" sz="2300" dirty="0"/>
          </a:p>
          <a:p>
            <a:pPr marL="457200" lvl="0" indent="-447040" algn="l" rtl="0">
              <a:spcBef>
                <a:spcPts val="750"/>
              </a:spcBef>
              <a:spcAft>
                <a:spcPts val="0"/>
              </a:spcAft>
              <a:buSzPts val="3440"/>
              <a:buChar char="▪"/>
            </a:pPr>
            <a:r>
              <a:rPr lang="en-NZ" sz="2800" b="1" dirty="0"/>
              <a:t>.</a:t>
            </a:r>
          </a:p>
          <a:p>
            <a:pPr marL="457200" lvl="0" indent="-447040" algn="l" rtl="0">
              <a:spcBef>
                <a:spcPts val="0"/>
              </a:spcBef>
              <a:spcAft>
                <a:spcPts val="0"/>
              </a:spcAft>
              <a:buSzPts val="3440"/>
              <a:buChar char="▪"/>
            </a:pPr>
            <a:r>
              <a:rPr lang="en-NZ" sz="2800" b="1" dirty="0"/>
              <a:t>Test-driven development.</a:t>
            </a:r>
          </a:p>
          <a:p>
            <a:pPr marL="914400" lvl="1" indent="-408940" algn="l" rtl="0">
              <a:spcBef>
                <a:spcPts val="0"/>
              </a:spcBef>
              <a:spcAft>
                <a:spcPts val="0"/>
              </a:spcAft>
              <a:buSzPts val="2840"/>
              <a:buChar char="−"/>
            </a:pPr>
            <a:endParaRPr lang="en-NZ" sz="2300" dirty="0"/>
          </a:p>
          <a:p>
            <a:pPr marL="457200" lvl="0" indent="-447040" algn="l" rtl="0">
              <a:spcBef>
                <a:spcPts val="0"/>
              </a:spcBef>
              <a:spcAft>
                <a:spcPts val="0"/>
              </a:spcAft>
              <a:buSzPts val="3440"/>
              <a:buChar char="▪"/>
            </a:pPr>
            <a:r>
              <a:rPr lang="en-NZ" sz="2800" b="1" dirty="0"/>
              <a:t>Incremental development and constant feedback. </a:t>
            </a:r>
          </a:p>
          <a:p>
            <a:pPr marL="457200" lvl="0" indent="-447040" algn="l" rtl="0">
              <a:spcBef>
                <a:spcPts val="0"/>
              </a:spcBef>
              <a:spcAft>
                <a:spcPts val="0"/>
              </a:spcAft>
              <a:buSzPts val="3440"/>
              <a:buChar char="▪"/>
            </a:pPr>
            <a:endParaRPr lang="en-NZ" sz="2800" b="1" dirty="0"/>
          </a:p>
          <a:p>
            <a:pPr marL="457200" lvl="0" indent="-447040" algn="l" rtl="0">
              <a:spcBef>
                <a:spcPts val="0"/>
              </a:spcBef>
              <a:spcAft>
                <a:spcPts val="0"/>
              </a:spcAft>
              <a:buSzPts val="3440"/>
              <a:buChar char="▪"/>
            </a:pPr>
            <a:r>
              <a:rPr lang="en-NZ" sz="2800" b="1" dirty="0"/>
              <a:t>Minimize wait states </a:t>
            </a:r>
          </a:p>
          <a:p>
            <a:pPr marL="914400" lvl="1" indent="-408940" algn="l" rtl="0">
              <a:spcBef>
                <a:spcPts val="0"/>
              </a:spcBef>
              <a:spcAft>
                <a:spcPts val="0"/>
              </a:spcAft>
              <a:buSzPts val="2840"/>
              <a:buChar char="−"/>
            </a:pPr>
            <a:r>
              <a:rPr lang="en-NZ" sz="2300" dirty="0"/>
              <a:t>Reduce </a:t>
            </a:r>
            <a:r>
              <a:rPr lang="en-NZ" sz="2300" i="1" dirty="0"/>
              <a:t>context switching</a:t>
            </a:r>
            <a:r>
              <a:rPr lang="en-NZ" sz="2300" dirty="0"/>
              <a:t>, knowledge gaps, and lack of focus.</a:t>
            </a:r>
          </a:p>
          <a:p>
            <a:pPr marL="914400" lvl="1" indent="-408940" algn="l" rtl="0">
              <a:spcBef>
                <a:spcPts val="0"/>
              </a:spcBef>
              <a:spcAft>
                <a:spcPts val="0"/>
              </a:spcAft>
              <a:buSzPts val="2840"/>
              <a:buChar char="−"/>
            </a:pPr>
            <a:endParaRPr lang="en-NZ" sz="2300" dirty="0"/>
          </a:p>
          <a:p>
            <a:pPr marL="457200" lvl="0" indent="-447040" algn="l" rtl="0">
              <a:spcBef>
                <a:spcPts val="0"/>
              </a:spcBef>
              <a:spcAft>
                <a:spcPts val="0"/>
              </a:spcAft>
              <a:buSzPts val="3440"/>
              <a:buChar char="▪"/>
            </a:pPr>
            <a:r>
              <a:rPr lang="en-NZ" sz="2800" b="1" dirty="0"/>
              <a:t>Automation </a:t>
            </a:r>
          </a:p>
          <a:p>
            <a:pPr marL="914400" lvl="1" indent="-408940" algn="l" rtl="0">
              <a:spcBef>
                <a:spcPts val="0"/>
              </a:spcBef>
              <a:spcAft>
                <a:spcPts val="0"/>
              </a:spcAft>
              <a:buSzPts val="2840"/>
              <a:buChar char="−"/>
            </a:pPr>
            <a:r>
              <a:rPr lang="en-NZ" sz="2300" dirty="0"/>
              <a:t>Automate any tedious, manual process or any process prone to human error</a:t>
            </a:r>
          </a:p>
          <a:p>
            <a:pPr marL="914400" lvl="1" indent="-408940" algn="l" rtl="0">
              <a:spcBef>
                <a:spcPts val="0"/>
              </a:spcBef>
              <a:spcAft>
                <a:spcPts val="0"/>
              </a:spcAft>
              <a:buSzPts val="2840"/>
              <a:buChar char="−"/>
            </a:pPr>
            <a:endParaRPr lang="en-NZ" sz="2300" dirty="0"/>
          </a:p>
          <a:p>
            <a:pPr marL="914400" lvl="1" indent="-408940" algn="l" rtl="0">
              <a:spcBef>
                <a:spcPts val="0"/>
              </a:spcBef>
              <a:spcAft>
                <a:spcPts val="0"/>
              </a:spcAft>
              <a:buSzPts val="2840"/>
              <a:buChar char="−"/>
            </a:pPr>
            <a:endParaRPr lang="en-NZ" sz="2300" dirty="0"/>
          </a:p>
          <a:p>
            <a:pPr marL="914400" lvl="1" indent="-408940" algn="l" rtl="0">
              <a:spcBef>
                <a:spcPts val="0"/>
              </a:spcBef>
              <a:spcAft>
                <a:spcPts val="0"/>
              </a:spcAft>
              <a:buSzPts val="2840"/>
              <a:buChar char="−"/>
            </a:pPr>
            <a:endParaRPr lang="en-NZ" sz="23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4" name="Google Shape;104;g817cf981c9_0_16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NZ"/>
              <a:t>12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817cf981c9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817cf981c9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g817cf981c9_0_20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NZ"/>
              <a:t>13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817cf981c9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817cf981c9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g817cf981c9_0_2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NZ"/>
              <a:t>14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817cf981c9_0_1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817cf981c9_0_1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g817cf981c9_0_18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NZ"/>
              <a:t>15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817cf981c9_0_2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817cf981c9_0_2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g817cf981c9_0_20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NZ"/>
              <a:t>16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817cf981c9_0_2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817cf981c9_0_2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g817cf981c9_0_2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NZ"/>
              <a:t>17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81a2924bb5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81a2924bb5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NZ" sz="1200" b="1" dirty="0"/>
              <a:t>Scheduling system</a:t>
            </a:r>
            <a:r>
              <a:rPr lang="en-NZ" sz="1200" dirty="0"/>
              <a:t> for </a:t>
            </a:r>
            <a:r>
              <a:rPr lang="en-NZ" sz="1200" i="1" dirty="0"/>
              <a:t>Lean </a:t>
            </a:r>
            <a:r>
              <a:rPr lang="en-NZ" sz="1200" dirty="0"/>
              <a:t>manufacturing.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NZ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NZ" sz="1200" dirty="0"/>
              <a:t>Visualisation workflow to highlight bottlenecks and prevent </a:t>
            </a:r>
            <a:r>
              <a:rPr lang="en-NZ" sz="1200" dirty="0" err="1"/>
              <a:t>buildup</a:t>
            </a:r>
            <a:r>
              <a:rPr lang="en-NZ" sz="1200" dirty="0"/>
              <a:t> of excess “inventory” in the production pipeline.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0" name="Google Shape;180;g81a2924bb5_0_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NZ"/>
              <a:t>18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81a78e45ae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81a78e45ae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g81a78e45ae_0_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Z"/>
              <a:t>19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81a2924bb5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81a2924bb5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g81a2924bb5_0_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NZ"/>
              <a:t>20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81a2924bb5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81a2924bb5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g81a2924bb5_0_3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Z"/>
              <a:t>22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81a2924bb5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81a2924bb5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g81a2924bb5_0_4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Z"/>
              <a:t>23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81a2924bb5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81a2924bb5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g81a2924bb5_0_4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Z"/>
              <a:t>24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81a2924bb5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81a2924bb5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g81a2924bb5_0_5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Z"/>
              <a:t>25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81a2924bb5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81a2924bb5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g81a2924bb5_0_6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Z"/>
              <a:t>26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817cf981c9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817cf981c9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g817cf981c9_0_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NZ"/>
              <a:t>27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817cf981c9_0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817cf981c9_0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g817cf981c9_0_25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NZ"/>
              <a:t>28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817cf981c9_0_3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817cf981c9_0_3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g817cf981c9_0_30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Z"/>
              <a:t>29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817cf981c9_0_2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817cf981c9_0_2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g817cf981c9_0_24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Z"/>
              <a:t>30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817cf981c9_0_2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817cf981c9_0_2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g817cf981c9_0_28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Z"/>
              <a:t>31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817cf981c9_0_2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817cf981c9_0_2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g817cf981c9_0_29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Z"/>
              <a:t>32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817cf981c9_0_3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817cf981c9_0_3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g817cf981c9_0_3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NZ"/>
              <a:t>33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817cf981c9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817cf981c9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g817cf981c9_0_3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NZ"/>
              <a:t>34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817cf981c9_0_3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817cf981c9_0_3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g817cf981c9_0_36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Z"/>
              <a:t>35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817cf981c9_0_3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817cf981c9_0_3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g817cf981c9_0_37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NZ"/>
              <a:t>36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817cf981c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817cf981c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" name="Google Shape;438;g817cf981c9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NZ"/>
              <a:t>37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81a2924bb5_0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81a2924bb5_0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" name="Google Shape;446;g81a2924bb5_0_10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NZ"/>
              <a:t>38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81a2924bb5_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81a2924bb5_0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4" name="Google Shape;454;g81a2924bb5_0_1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Z"/>
              <a:t>39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81a2924bb5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81a2924bb5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g81a2924bb5_0_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NZ"/>
              <a:t>40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81a2924bb5_0_1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81a2924bb5_0_1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g81a2924bb5_0_16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Z"/>
              <a:t>41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81a2924bb5_0_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81a2924bb5_0_1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8" name="Google Shape;478;g81a2924bb5_0_16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Z"/>
              <a:t>42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81a2924bb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81a2924bb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6" name="Google Shape;486;g81a2924bb5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NZ"/>
              <a:t>43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81a2924bb5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81a2924bb5_0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g81a2924bb5_0_8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Z"/>
              <a:t>44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81a2924bb5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81a2924bb5_0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g81a2924bb5_0_9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Z"/>
              <a:t>45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81a2924bb5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" name="Google Shape;509;g81a2924bb5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g81a2924bb5_0_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NZ"/>
              <a:t>46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81a2924bb5_0_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81a2924bb5_0_1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" name="Google Shape;518;g81a2924bb5_0_1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NZ"/>
              <a:t>47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81a2924bb5_0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5" name="Google Shape;525;g81a2924bb5_0_1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" name="Google Shape;526;g81a2924bb5_0_13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NZ"/>
              <a:t>48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81a2924bb5_0_1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81a2924bb5_0_1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4" name="Google Shape;534;g81a2924bb5_0_14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NZ"/>
              <a:t>49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81a2924bb5_0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1" name="Google Shape;541;g81a2924bb5_0_1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2" name="Google Shape;542;g81a2924bb5_0_15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NZ"/>
              <a:t>50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81a2924bb5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9" name="Google Shape;549;g81a2924bb5_0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0" name="Google Shape;550;g81a2924bb5_0_1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Z"/>
              <a:t>51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Title Slide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15365"/>
            <a:ext cx="9144000" cy="60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2"/>
          <p:cNvSpPr/>
          <p:nvPr/>
        </p:nvSpPr>
        <p:spPr>
          <a:xfrm>
            <a:off x="7071074" y="6101763"/>
            <a:ext cx="2073000" cy="756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2"/>
          <p:cNvSpPr txBox="1">
            <a:spLocks noGrp="1"/>
          </p:cNvSpPr>
          <p:nvPr>
            <p:ph type="ctrTitle"/>
          </p:nvPr>
        </p:nvSpPr>
        <p:spPr>
          <a:xfrm>
            <a:off x="539552" y="2642230"/>
            <a:ext cx="5748000" cy="2195700"/>
          </a:xfrm>
          <a:prstGeom prst="rect">
            <a:avLst/>
          </a:prstGeom>
          <a:solidFill>
            <a:schemeClr val="lt1">
              <a:alpha val="69800"/>
            </a:schemeClr>
          </a:solidFill>
          <a:ln>
            <a:noFill/>
          </a:ln>
        </p:spPr>
        <p:txBody>
          <a:bodyPr spcFirstLastPara="1" wrap="square" lIns="144000" tIns="144000" rIns="144000" bIns="144000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"/>
          <p:cNvSpPr txBox="1">
            <a:spLocks noGrp="1"/>
          </p:cNvSpPr>
          <p:nvPr>
            <p:ph type="subTitle" idx="1"/>
          </p:nvPr>
        </p:nvSpPr>
        <p:spPr>
          <a:xfrm>
            <a:off x="539552" y="4802581"/>
            <a:ext cx="5748000" cy="715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144000" tIns="144000" rIns="144000" bIns="144000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62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4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4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4" name="Google Shape;24;p2"/>
          <p:cNvSpPr/>
          <p:nvPr/>
        </p:nvSpPr>
        <p:spPr>
          <a:xfrm>
            <a:off x="-25170" y="6100273"/>
            <a:ext cx="7909500" cy="757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" name="Google Shape;25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21364" y="6065763"/>
            <a:ext cx="1520111" cy="675605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2"/>
          <p:cNvSpPr/>
          <p:nvPr/>
        </p:nvSpPr>
        <p:spPr>
          <a:xfrm>
            <a:off x="-30234" y="6065012"/>
            <a:ext cx="9174300" cy="3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" name="Google Shape;27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7479" y="6316694"/>
            <a:ext cx="3377478" cy="274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63749" y="6318829"/>
            <a:ext cx="1201016" cy="2682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"/>
          <p:cNvSpPr txBox="1">
            <a:spLocks noGrp="1"/>
          </p:cNvSpPr>
          <p:nvPr>
            <p:ph type="title"/>
          </p:nvPr>
        </p:nvSpPr>
        <p:spPr>
          <a:xfrm>
            <a:off x="628650" y="-15875"/>
            <a:ext cx="7886700" cy="11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2000" tIns="45700" rIns="432000" bIns="45700" anchor="ctr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"/>
          <p:cNvSpPr txBox="1">
            <a:spLocks noGrp="1"/>
          </p:cNvSpPr>
          <p:nvPr>
            <p:ph type="body" idx="1"/>
          </p:nvPr>
        </p:nvSpPr>
        <p:spPr>
          <a:xfrm>
            <a:off x="628650" y="1044100"/>
            <a:ext cx="8191800" cy="49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472440" rtl="0">
              <a:spcBef>
                <a:spcPts val="750"/>
              </a:spcBef>
              <a:spcAft>
                <a:spcPts val="0"/>
              </a:spcAft>
              <a:buSzPts val="3840"/>
              <a:buChar char="▪"/>
              <a:defRPr sz="3200"/>
            </a:lvl1pPr>
            <a:lvl2pPr marL="914400" lvl="1" indent="-43434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3240"/>
              <a:buFont typeface="Calibri"/>
              <a:buChar char="−"/>
              <a:defRPr sz="2700"/>
            </a:lvl2pPr>
            <a:lvl3pPr marL="1371600" lvl="2" indent="-434339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3240"/>
              <a:buFont typeface="Calibri"/>
              <a:buChar char="−"/>
              <a:defRPr sz="2700"/>
            </a:lvl3pPr>
            <a:lvl4pPr marL="1828800" lvl="3" indent="-434339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3240"/>
              <a:buFont typeface="Calibri"/>
              <a:buChar char="−"/>
              <a:defRPr sz="2700"/>
            </a:lvl4pPr>
            <a:lvl5pPr marL="2286000" lvl="4" indent="-434339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3240"/>
              <a:buFont typeface="Calibri"/>
              <a:buChar char="−"/>
              <a:defRPr sz="2700"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3"/>
          <p:cNvSpPr txBox="1">
            <a:spLocks noGrp="1"/>
          </p:cNvSpPr>
          <p:nvPr>
            <p:ph type="sldNum" idx="12"/>
          </p:nvPr>
        </p:nvSpPr>
        <p:spPr>
          <a:xfrm>
            <a:off x="750793" y="0"/>
            <a:ext cx="324300" cy="28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 rtl="0">
              <a:spcBef>
                <a:spcPts val="0"/>
              </a:spcBef>
              <a:buNone/>
              <a:defRPr/>
            </a:lvl1pPr>
            <a:lvl2pPr marL="0" lvl="1" indent="0" algn="ctr" rtl="0">
              <a:spcBef>
                <a:spcPts val="0"/>
              </a:spcBef>
              <a:buNone/>
              <a:defRPr/>
            </a:lvl2pPr>
            <a:lvl3pPr marL="0" lvl="2" indent="0" algn="ctr" rtl="0">
              <a:spcBef>
                <a:spcPts val="0"/>
              </a:spcBef>
              <a:buNone/>
              <a:defRPr/>
            </a:lvl3pPr>
            <a:lvl4pPr marL="0" lvl="3" indent="0" algn="ctr" rtl="0">
              <a:spcBef>
                <a:spcPts val="0"/>
              </a:spcBef>
              <a:buNone/>
              <a:defRPr/>
            </a:lvl4pPr>
            <a:lvl5pPr marL="0" lvl="4" indent="0" algn="ctr" rtl="0">
              <a:spcBef>
                <a:spcPts val="0"/>
              </a:spcBef>
              <a:buNone/>
              <a:defRPr/>
            </a:lvl5pPr>
            <a:lvl6pPr marL="0" lvl="5" indent="0" algn="ctr" rtl="0">
              <a:spcBef>
                <a:spcPts val="0"/>
              </a:spcBef>
              <a:buNone/>
              <a:defRPr/>
            </a:lvl6pPr>
            <a:lvl7pPr marL="0" lvl="6" indent="0" algn="ctr" rtl="0">
              <a:spcBef>
                <a:spcPts val="0"/>
              </a:spcBef>
              <a:buNone/>
              <a:defRPr/>
            </a:lvl7pPr>
            <a:lvl8pPr marL="0" lvl="7" indent="0" algn="ctr" rtl="0">
              <a:spcBef>
                <a:spcPts val="0"/>
              </a:spcBef>
              <a:buNone/>
              <a:defRPr/>
            </a:lvl8pPr>
            <a:lvl9pPr marL="0" lvl="8" indent="0" algn="ctr" rtl="0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Z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>
            <a:spLocks noGrp="1"/>
          </p:cNvSpPr>
          <p:nvPr>
            <p:ph type="title"/>
          </p:nvPr>
        </p:nvSpPr>
        <p:spPr>
          <a:xfrm>
            <a:off x="628649" y="365126"/>
            <a:ext cx="78867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2000" tIns="45700" rIns="432000" bIns="45700" anchor="ctr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sldNum" idx="12"/>
          </p:nvPr>
        </p:nvSpPr>
        <p:spPr>
          <a:xfrm>
            <a:off x="750793" y="0"/>
            <a:ext cx="324300" cy="28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 rtl="0">
              <a:spcBef>
                <a:spcPts val="0"/>
              </a:spcBef>
              <a:buNone/>
              <a:defRPr/>
            </a:lvl1pPr>
            <a:lvl2pPr marL="0" lvl="1" indent="0" algn="ctr" rtl="0">
              <a:spcBef>
                <a:spcPts val="0"/>
              </a:spcBef>
              <a:buNone/>
              <a:defRPr/>
            </a:lvl2pPr>
            <a:lvl3pPr marL="0" lvl="2" indent="0" algn="ctr" rtl="0">
              <a:spcBef>
                <a:spcPts val="0"/>
              </a:spcBef>
              <a:buNone/>
              <a:defRPr/>
            </a:lvl3pPr>
            <a:lvl4pPr marL="0" lvl="3" indent="0" algn="ctr" rtl="0">
              <a:spcBef>
                <a:spcPts val="0"/>
              </a:spcBef>
              <a:buNone/>
              <a:defRPr/>
            </a:lvl4pPr>
            <a:lvl5pPr marL="0" lvl="4" indent="0" algn="ctr" rtl="0">
              <a:spcBef>
                <a:spcPts val="0"/>
              </a:spcBef>
              <a:buNone/>
              <a:defRPr/>
            </a:lvl5pPr>
            <a:lvl6pPr marL="0" lvl="5" indent="0" algn="ctr" rtl="0">
              <a:spcBef>
                <a:spcPts val="0"/>
              </a:spcBef>
              <a:buNone/>
              <a:defRPr/>
            </a:lvl6pPr>
            <a:lvl7pPr marL="0" lvl="6" indent="0" algn="ctr" rtl="0">
              <a:spcBef>
                <a:spcPts val="0"/>
              </a:spcBef>
              <a:buNone/>
              <a:defRPr/>
            </a:lvl7pPr>
            <a:lvl8pPr marL="0" lvl="7" indent="0" algn="ctr" rtl="0">
              <a:spcBef>
                <a:spcPts val="0"/>
              </a:spcBef>
              <a:buNone/>
              <a:defRPr/>
            </a:lvl8pPr>
            <a:lvl9pPr marL="0" lvl="8" indent="0" algn="ctr" rtl="0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Z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DC3E7-0F06-2D4C-9E65-E2293616E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DFD4C37-F7CC-AE6F-AB30-182060518C1A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388656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750793" y="0"/>
            <a:ext cx="324300" cy="285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1"/>
          <p:cNvSpPr/>
          <p:nvPr/>
        </p:nvSpPr>
        <p:spPr>
          <a:xfrm>
            <a:off x="-5077" y="0"/>
            <a:ext cx="756000" cy="285600"/>
          </a:xfrm>
          <a:prstGeom prst="rect">
            <a:avLst/>
          </a:prstGeom>
          <a:solidFill>
            <a:schemeClr val="accent1">
              <a:alpha val="698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1"/>
          <p:cNvSpPr txBox="1">
            <a:spLocks noGrp="1"/>
          </p:cNvSpPr>
          <p:nvPr>
            <p:ph type="title"/>
          </p:nvPr>
        </p:nvSpPr>
        <p:spPr>
          <a:xfrm>
            <a:off x="628650" y="-15875"/>
            <a:ext cx="7886700" cy="9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2000" tIns="45700" rIns="432000" bIns="4570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body" idx="1"/>
          </p:nvPr>
        </p:nvSpPr>
        <p:spPr>
          <a:xfrm>
            <a:off x="307200" y="921625"/>
            <a:ext cx="8511300" cy="508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47244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2"/>
              </a:buClr>
              <a:buSzPts val="3840"/>
              <a:buFont typeface="Noto Sans Symbols"/>
              <a:buChar char="▪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3434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2"/>
              </a:buClr>
              <a:buSzPts val="3240"/>
              <a:buFont typeface="Calibri"/>
              <a:buChar char="−"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434339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2"/>
              </a:buClr>
              <a:buSzPts val="3240"/>
              <a:buFont typeface="Calibri"/>
              <a:buChar char="−"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434339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2"/>
              </a:buClr>
              <a:buSzPts val="3240"/>
              <a:buFont typeface="Calibri"/>
              <a:buChar char="−"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434339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2"/>
              </a:buClr>
              <a:buSzPts val="3240"/>
              <a:buFont typeface="Calibri"/>
              <a:buChar char="−"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14" name="Google Shape;14;p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782687" y="6118116"/>
            <a:ext cx="1101566" cy="489585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1"/>
          <p:cNvSpPr txBox="1">
            <a:spLocks noGrp="1"/>
          </p:cNvSpPr>
          <p:nvPr>
            <p:ph type="sldNum" idx="12"/>
          </p:nvPr>
        </p:nvSpPr>
        <p:spPr>
          <a:xfrm>
            <a:off x="750793" y="0"/>
            <a:ext cx="324300" cy="28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Z"/>
              <a:t>‹#›</a:t>
            </a:fld>
            <a:endParaRPr/>
          </a:p>
        </p:txBody>
      </p:sp>
      <p:pic>
        <p:nvPicPr>
          <p:cNvPr id="16" name="Google Shape;16;p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499992" y="6078517"/>
            <a:ext cx="3111857" cy="563371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"/>
          <p:cNvSpPr txBox="1"/>
          <p:nvPr/>
        </p:nvSpPr>
        <p:spPr>
          <a:xfrm>
            <a:off x="76200" y="6563375"/>
            <a:ext cx="23853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NZ" sz="900" dirty="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ITPM5.248 Agile Projects</a:t>
            </a:r>
            <a:endParaRPr sz="900" dirty="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 txBox="1"/>
          <p:nvPr/>
        </p:nvSpPr>
        <p:spPr>
          <a:xfrm>
            <a:off x="6626975" y="6563375"/>
            <a:ext cx="22692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NZ" sz="900" dirty="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Week 3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requirements.com/Content/What-is/what-are-system-requirements" TargetMode="External"/><Relationship Id="rId2" Type="http://schemas.openxmlformats.org/officeDocument/2006/relationships/hyperlink" Target="https://www.sciencedirect.com/topics/computer-science/system-requirement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sciencedirect.com/book/9780123964649/agile-data-warehousing-for-the-enterprise" TargetMode="External"/><Relationship Id="rId4" Type="http://schemas.openxmlformats.org/officeDocument/2006/relationships/hyperlink" Target="https://www.sciencedirect.com/science/article/pii/B9780123964649000023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geeksforgeeks.org/software-engineering/what-is-kanban-board/" TargetMode="External"/><Relationship Id="rId4" Type="http://schemas.openxmlformats.org/officeDocument/2006/relationships/hyperlink" Target="https://en.wikipedia.org/wiki/Kanban_board/" TargetMode="Externa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extremeprogramming.org/map/project.html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extremeprogramming.org/map/interation.html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extremeprogramming.org/map/development.html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extremeprogramming.org/map/loops.html" TargetMode="Externa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vectorstock.com/22575698" TargetMode="Externa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>
            <a:spLocks noGrp="1"/>
          </p:cNvSpPr>
          <p:nvPr>
            <p:ph type="ctrTitle"/>
          </p:nvPr>
        </p:nvSpPr>
        <p:spPr>
          <a:xfrm>
            <a:off x="539550" y="2642225"/>
            <a:ext cx="6160500" cy="2195700"/>
          </a:xfrm>
          <a:prstGeom prst="rect">
            <a:avLst/>
          </a:prstGeom>
          <a:solidFill>
            <a:schemeClr val="lt1">
              <a:alpha val="69803"/>
            </a:schemeClr>
          </a:solidFill>
          <a:ln>
            <a:noFill/>
          </a:ln>
        </p:spPr>
        <p:txBody>
          <a:bodyPr spcFirstLastPara="1" wrap="square" lIns="144000" tIns="144000" rIns="144000" bIns="1440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500"/>
              <a:buFont typeface="Calibri"/>
              <a:buNone/>
            </a:pPr>
            <a:r>
              <a:rPr lang="en-NZ" dirty="0"/>
              <a:t>03 - Agile Methodologies</a:t>
            </a:r>
            <a:endParaRPr dirty="0"/>
          </a:p>
        </p:txBody>
      </p:sp>
      <p:sp>
        <p:nvSpPr>
          <p:cNvPr id="41" name="Google Shape;41;p5"/>
          <p:cNvSpPr txBox="1">
            <a:spLocks noGrp="1"/>
          </p:cNvSpPr>
          <p:nvPr>
            <p:ph type="subTitle" idx="1"/>
          </p:nvPr>
        </p:nvSpPr>
        <p:spPr>
          <a:xfrm>
            <a:off x="539550" y="4802575"/>
            <a:ext cx="6160500" cy="715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144000" tIns="144000" rIns="144000" bIns="1440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</a:pPr>
            <a:r>
              <a:rPr lang="en-NZ" dirty="0"/>
              <a:t>ITPM5.248 Agile Projects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6C19A-9E65-740D-85FA-21379A5C4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importance of requirements</a:t>
            </a:r>
            <a:endParaRPr lang="en-N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AA65A7-8CCB-5AB9-DE8F-EE72E264C8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4730" y="1034372"/>
            <a:ext cx="8191800" cy="4941300"/>
          </a:xfrm>
        </p:spPr>
        <p:txBody>
          <a:bodyPr/>
          <a:lstStyle/>
          <a:p>
            <a:r>
              <a:rPr lang="en-US" dirty="0"/>
              <a:t>The Standish Group’s analysis revealed that only projects with very </a:t>
            </a:r>
            <a:r>
              <a:rPr lang="en-US" dirty="0">
                <a:solidFill>
                  <a:srgbClr val="FF0000"/>
                </a:solidFill>
              </a:rPr>
              <a:t>small scopes </a:t>
            </a:r>
            <a:r>
              <a:rPr lang="en-US" dirty="0"/>
              <a:t>were achieving anything better than a </a:t>
            </a:r>
            <a:r>
              <a:rPr lang="en-US" dirty="0">
                <a:solidFill>
                  <a:srgbClr val="FF0000"/>
                </a:solidFill>
              </a:rPr>
              <a:t>50% success </a:t>
            </a:r>
            <a:r>
              <a:rPr lang="en-US" dirty="0"/>
              <a:t>rate, highlighting the importance of effective requirements integration in software development life cycle (SDLC) models.</a:t>
            </a:r>
          </a:p>
          <a:p>
            <a:endParaRPr lang="en-US" dirty="0"/>
          </a:p>
          <a:p>
            <a:r>
              <a:rPr lang="en-NZ" sz="1800" dirty="0">
                <a:hlinkClick r:id="rId2"/>
              </a:rPr>
              <a:t>https://www.sciencedirect.com/topics/computer-science/system-requirement</a:t>
            </a:r>
            <a:r>
              <a:rPr lang="en-NZ" dirty="0"/>
              <a:t> </a:t>
            </a:r>
          </a:p>
          <a:p>
            <a:r>
              <a:rPr lang="en-NZ" sz="1800" dirty="0"/>
              <a:t>Recommended reading: </a:t>
            </a:r>
            <a:r>
              <a:rPr lang="en-NZ" sz="1800" dirty="0">
                <a:hlinkClick r:id="rId3"/>
              </a:rPr>
              <a:t>https://requirements.com/Content/What-is/what-are-system-requirements</a:t>
            </a:r>
            <a:r>
              <a:rPr lang="en-NZ" sz="1800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A2F055-B631-1FE3-6258-0D1664C20EA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Z" smtClean="0"/>
              <a:t>2</a:t>
            </a:fld>
            <a:endParaRPr lang="en-NZ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DC2C2D-F795-DF44-649A-2809563F2A0E}"/>
              </a:ext>
            </a:extLst>
          </p:cNvPr>
          <p:cNvSpPr txBox="1"/>
          <p:nvPr/>
        </p:nvSpPr>
        <p:spPr>
          <a:xfrm>
            <a:off x="3881336" y="3718000"/>
            <a:ext cx="50425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dirty="0">
                <a:hlinkClick r:id="rId4"/>
              </a:rPr>
              <a:t>Primer on Agile Development Methods</a:t>
            </a:r>
            <a:r>
              <a:rPr lang="en-US" sz="1200" dirty="0"/>
              <a:t>, Ralph Hughes</a:t>
            </a:r>
          </a:p>
          <a:p>
            <a:pPr>
              <a:buNone/>
            </a:pPr>
            <a:r>
              <a:rPr lang="en-US" sz="1200" dirty="0">
                <a:hlinkClick r:id="rId5"/>
              </a:rPr>
              <a:t>Agile Data Warehousing for the Enterprise </a:t>
            </a:r>
            <a:r>
              <a:rPr lang="en-US" sz="1200" dirty="0"/>
              <a:t>, 2016 pp 13-29</a:t>
            </a:r>
          </a:p>
        </p:txBody>
      </p:sp>
    </p:spTree>
    <p:extLst>
      <p:ext uri="{BB962C8B-B14F-4D97-AF65-F5344CB8AC3E}">
        <p14:creationId xmlns:p14="http://schemas.microsoft.com/office/powerpoint/2010/main" val="36273961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8"/>
          <p:cNvSpPr txBox="1">
            <a:spLocks noGrp="1"/>
          </p:cNvSpPr>
          <p:nvPr>
            <p:ph type="title"/>
          </p:nvPr>
        </p:nvSpPr>
        <p:spPr>
          <a:xfrm>
            <a:off x="628650" y="-15875"/>
            <a:ext cx="7886700" cy="1118100"/>
          </a:xfrm>
          <a:prstGeom prst="rect">
            <a:avLst/>
          </a:prstGeom>
        </p:spPr>
        <p:txBody>
          <a:bodyPr spcFirstLastPara="1" wrap="square" lIns="432000" tIns="45700" rIns="4320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NZ" dirty="0"/>
              <a:t>Overview </a:t>
            </a:r>
            <a:endParaRPr dirty="0"/>
          </a:p>
        </p:txBody>
      </p:sp>
      <p:sp>
        <p:nvSpPr>
          <p:cNvPr id="65" name="Google Shape;65;p8"/>
          <p:cNvSpPr txBox="1">
            <a:spLocks noGrp="1"/>
          </p:cNvSpPr>
          <p:nvPr>
            <p:ph type="body" idx="1"/>
          </p:nvPr>
        </p:nvSpPr>
        <p:spPr>
          <a:xfrm>
            <a:off x="628650" y="1044100"/>
            <a:ext cx="8191800" cy="494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>
              <a:buNone/>
            </a:pPr>
            <a:r>
              <a:rPr lang="en-NZ" sz="2800" dirty="0"/>
              <a:t>Frameworks which fall under the “Agile” umbrella:</a:t>
            </a:r>
          </a:p>
          <a:p>
            <a:pPr lvl="0">
              <a:lnSpc>
                <a:spcPct val="100000"/>
              </a:lnSpc>
            </a:pPr>
            <a:r>
              <a:rPr lang="en-NZ" sz="2800" dirty="0" err="1"/>
              <a:t>LeanSD</a:t>
            </a:r>
            <a:endParaRPr lang="en-NZ" sz="2800" dirty="0"/>
          </a:p>
          <a:p>
            <a:pPr lvl="0">
              <a:lnSpc>
                <a:spcPct val="100000"/>
              </a:lnSpc>
            </a:pPr>
            <a:r>
              <a:rPr lang="en-NZ" sz="2800" dirty="0"/>
              <a:t>Scrum</a:t>
            </a:r>
          </a:p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en-NZ" sz="2800" dirty="0"/>
              <a:t>Kanban</a:t>
            </a:r>
          </a:p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en-NZ" sz="2800" dirty="0"/>
              <a:t>Extreme Programming (XP)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NZ" sz="2800" dirty="0"/>
              <a:t>DevOps</a:t>
            </a:r>
          </a:p>
          <a:p>
            <a:pPr lvl="0">
              <a:spcBef>
                <a:spcPts val="0"/>
              </a:spcBef>
            </a:pPr>
            <a:r>
              <a:rPr lang="en-NZ" sz="2800" dirty="0">
                <a:solidFill>
                  <a:schemeClr val="accent2">
                    <a:lumMod val="75000"/>
                    <a:lumOff val="25000"/>
                  </a:schemeClr>
                </a:solidFill>
              </a:rPr>
              <a:t>Adaptive Project Framework (APF)</a:t>
            </a:r>
          </a:p>
          <a:p>
            <a:pPr lvl="0">
              <a:spcBef>
                <a:spcPts val="0"/>
              </a:spcBef>
            </a:pPr>
            <a:r>
              <a:rPr lang="en-NZ" sz="2800" dirty="0">
                <a:solidFill>
                  <a:schemeClr val="accent2">
                    <a:lumMod val="75000"/>
                    <a:lumOff val="25000"/>
                  </a:schemeClr>
                </a:solidFill>
              </a:rPr>
              <a:t>Extreme Project Management (XPM)</a:t>
            </a:r>
          </a:p>
          <a:p>
            <a:pPr lvl="0">
              <a:spcBef>
                <a:spcPts val="0"/>
              </a:spcBef>
            </a:pPr>
            <a:r>
              <a:rPr lang="en-NZ" sz="2800" dirty="0">
                <a:solidFill>
                  <a:schemeClr val="accent2">
                    <a:lumMod val="75000"/>
                    <a:lumOff val="25000"/>
                  </a:schemeClr>
                </a:solidFill>
              </a:rPr>
              <a:t>Adaptive Software Development (ASD)</a:t>
            </a:r>
          </a:p>
          <a:p>
            <a:pPr lvl="0">
              <a:spcBef>
                <a:spcPts val="0"/>
              </a:spcBef>
            </a:pPr>
            <a:r>
              <a:rPr lang="en-NZ" sz="2800" dirty="0">
                <a:solidFill>
                  <a:schemeClr val="accent2">
                    <a:lumMod val="75000"/>
                    <a:lumOff val="25000"/>
                  </a:schemeClr>
                </a:solidFill>
              </a:rPr>
              <a:t>Dynamic Systems Development Method (DSDM)</a:t>
            </a:r>
          </a:p>
          <a:p>
            <a:pPr lvl="0">
              <a:spcBef>
                <a:spcPts val="0"/>
              </a:spcBef>
            </a:pPr>
            <a:r>
              <a:rPr lang="en-NZ" sz="2800" dirty="0">
                <a:solidFill>
                  <a:schemeClr val="accent2">
                    <a:lumMod val="75000"/>
                    <a:lumOff val="25000"/>
                  </a:schemeClr>
                </a:solidFill>
              </a:rPr>
              <a:t>Feature Driven Development (FDD)</a:t>
            </a:r>
          </a:p>
          <a:p>
            <a:pPr marL="457200" lvl="0" indent="0" algn="l" rtl="0">
              <a:spcBef>
                <a:spcPts val="750"/>
              </a:spcBef>
              <a:spcAft>
                <a:spcPts val="0"/>
              </a:spcAft>
              <a:buNone/>
            </a:pPr>
            <a:endParaRPr sz="2800" dirty="0"/>
          </a:p>
        </p:txBody>
      </p:sp>
      <p:sp>
        <p:nvSpPr>
          <p:cNvPr id="66" name="Google Shape;66;p8"/>
          <p:cNvSpPr txBox="1">
            <a:spLocks noGrp="1"/>
          </p:cNvSpPr>
          <p:nvPr>
            <p:ph type="sldNum" idx="12"/>
          </p:nvPr>
        </p:nvSpPr>
        <p:spPr>
          <a:xfrm>
            <a:off x="750793" y="0"/>
            <a:ext cx="324300" cy="2856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NZ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8"/>
          <p:cNvSpPr txBox="1">
            <a:spLocks noGrp="1"/>
          </p:cNvSpPr>
          <p:nvPr>
            <p:ph type="title"/>
          </p:nvPr>
        </p:nvSpPr>
        <p:spPr>
          <a:xfrm>
            <a:off x="628650" y="-15875"/>
            <a:ext cx="7886700" cy="1118100"/>
          </a:xfrm>
          <a:prstGeom prst="rect">
            <a:avLst/>
          </a:prstGeom>
        </p:spPr>
        <p:txBody>
          <a:bodyPr spcFirstLastPara="1" wrap="square" lIns="432000" tIns="45700" rIns="4320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NZ" dirty="0"/>
              <a:t>Agile Methodology</a:t>
            </a:r>
            <a:endParaRPr dirty="0"/>
          </a:p>
        </p:txBody>
      </p:sp>
      <p:sp>
        <p:nvSpPr>
          <p:cNvPr id="65" name="Google Shape;65;p8"/>
          <p:cNvSpPr txBox="1">
            <a:spLocks noGrp="1"/>
          </p:cNvSpPr>
          <p:nvPr>
            <p:ph type="body" idx="1"/>
          </p:nvPr>
        </p:nvSpPr>
        <p:spPr>
          <a:xfrm>
            <a:off x="628650" y="1044100"/>
            <a:ext cx="8191800" cy="494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750"/>
              </a:spcBef>
              <a:spcAft>
                <a:spcPts val="0"/>
              </a:spcAft>
              <a:buNone/>
            </a:pPr>
            <a:r>
              <a:rPr lang="en-NZ" dirty="0"/>
              <a:t> </a:t>
            </a:r>
            <a:endParaRPr dirty="0"/>
          </a:p>
        </p:txBody>
      </p:sp>
      <p:sp>
        <p:nvSpPr>
          <p:cNvPr id="66" name="Google Shape;66;p8"/>
          <p:cNvSpPr txBox="1">
            <a:spLocks noGrp="1"/>
          </p:cNvSpPr>
          <p:nvPr>
            <p:ph type="sldNum" idx="12"/>
          </p:nvPr>
        </p:nvSpPr>
        <p:spPr>
          <a:xfrm>
            <a:off x="750793" y="0"/>
            <a:ext cx="324300" cy="2856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NZ"/>
              <a:t>4</a:t>
            </a:fld>
            <a:endParaRPr/>
          </a:p>
        </p:txBody>
      </p:sp>
      <p:pic>
        <p:nvPicPr>
          <p:cNvPr id="67" name="Google Shape;67;p8"/>
          <p:cNvPicPr preferRelativeResize="0"/>
          <p:nvPr/>
        </p:nvPicPr>
        <p:blipFill rotWithShape="1">
          <a:blip r:embed="rId3">
            <a:alphaModFix/>
          </a:blip>
          <a:srcRect l="18349" t="21603" r="14459" b="22486"/>
          <a:stretch/>
        </p:blipFill>
        <p:spPr>
          <a:xfrm>
            <a:off x="1597262" y="1231650"/>
            <a:ext cx="6131674" cy="3942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8"/>
          <p:cNvSpPr txBox="1"/>
          <p:nvPr/>
        </p:nvSpPr>
        <p:spPr>
          <a:xfrm>
            <a:off x="6381575" y="5303775"/>
            <a:ext cx="1791300" cy="36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NZ">
                <a:latin typeface="Calibri"/>
                <a:ea typeface="Calibri"/>
                <a:cs typeface="Calibri"/>
                <a:sym typeface="Calibri"/>
              </a:rPr>
              <a:t>Image: Ahmed Sidky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D9AAB6-9541-C19A-BAB6-B9593434A7D7}"/>
              </a:ext>
            </a:extLst>
          </p:cNvPr>
          <p:cNvSpPr txBox="1"/>
          <p:nvPr/>
        </p:nvSpPr>
        <p:spPr>
          <a:xfrm>
            <a:off x="1202349" y="1044100"/>
            <a:ext cx="69215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Agile Methodology is a</a:t>
            </a:r>
            <a:r>
              <a:rPr lang="en-US" dirty="0"/>
              <a:t> way to manage projects by breaking them into smaller parts.</a:t>
            </a:r>
            <a:endParaRPr lang="en-NZ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76C1D-3584-FA9F-83DE-91FDA2108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4 Values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0298FC-7B67-F78B-40B4-ED23201B49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27710" indent="-742950">
              <a:buFont typeface="+mj-lt"/>
              <a:buAutoNum type="arabicPeriod"/>
            </a:pPr>
            <a:r>
              <a:rPr lang="en-NZ" sz="3600" dirty="0"/>
              <a:t>Individuals over processes and tools. </a:t>
            </a:r>
          </a:p>
          <a:p>
            <a:pPr marL="727710" indent="-742950">
              <a:buFont typeface="+mj-lt"/>
              <a:buAutoNum type="arabicPeriod"/>
            </a:pPr>
            <a:r>
              <a:rPr lang="en-NZ" sz="3600" dirty="0"/>
              <a:t>Working software over comprehensive documentation. </a:t>
            </a:r>
          </a:p>
          <a:p>
            <a:pPr marL="727710" indent="-742950">
              <a:buFont typeface="+mj-lt"/>
              <a:buAutoNum type="arabicPeriod"/>
            </a:pPr>
            <a:r>
              <a:rPr lang="en-NZ" sz="3600" dirty="0"/>
              <a:t>Customer collaboration over contract negotiation. </a:t>
            </a:r>
          </a:p>
          <a:p>
            <a:pPr marL="727710" indent="-742950">
              <a:buFont typeface="+mj-lt"/>
              <a:buAutoNum type="arabicPeriod"/>
            </a:pPr>
            <a:r>
              <a:rPr lang="en-NZ" sz="3600" dirty="0"/>
              <a:t>Responding to change over following a plan.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1C92DD-C737-DD0A-E8DC-D4885713F46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Z" smtClean="0"/>
              <a:t>5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5530328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B226B-6471-A874-2192-58B62D965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12 Agile principles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2B1D89-FAEA-447A-169B-17684E38BA8E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Z" smtClean="0"/>
              <a:t>6</a:t>
            </a:fld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796C86-B2AB-8A98-E57E-AE403F238AAE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952500" y="1044575"/>
            <a:ext cx="8191500" cy="4940300"/>
          </a:xfrm>
        </p:spPr>
        <p:txBody>
          <a:bodyPr/>
          <a:lstStyle/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NZ" sz="1600" dirty="0"/>
              <a:t>Satisfy customers through early, continuous improvement and delivery. 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NZ" sz="1600" dirty="0"/>
              <a:t>Welcome changing requirements, even late in the project. 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NZ" sz="1600" dirty="0"/>
              <a:t>Deliver value frequently. 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NZ" sz="1600" dirty="0"/>
              <a:t>Cross-functional teams and collaboration are key Agile values. 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NZ" sz="1600" dirty="0"/>
              <a:t>Build projects around motivated individuals. 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NZ" sz="1600" dirty="0"/>
              <a:t>The most effective way to communicate is face-to-face.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NZ" sz="1600" dirty="0"/>
              <a:t>Working software is the primary measure of progress. 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NZ" sz="1600" dirty="0"/>
              <a:t>Maintain a sustainable working pace. 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NZ" sz="1600" dirty="0"/>
              <a:t>Continuous excellence enhances agility. 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NZ" sz="1600" dirty="0"/>
              <a:t>Simplicity is essential. 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NZ" sz="1600" dirty="0"/>
              <a:t>Self-organizing teams generate the most value. 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NZ" sz="1600" dirty="0"/>
              <a:t>Regularly reflect and adjust your way of working to improve effectiveness. </a:t>
            </a:r>
          </a:p>
        </p:txBody>
      </p:sp>
    </p:spTree>
    <p:extLst>
      <p:ext uri="{BB962C8B-B14F-4D97-AF65-F5344CB8AC3E}">
        <p14:creationId xmlns:p14="http://schemas.microsoft.com/office/powerpoint/2010/main" val="42376537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70724-10D8-4804-BB90-F085ECCCC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Agile methods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1B1E31-684C-41C6-80F3-9E0B6CB5DD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Z" dirty="0"/>
              <a:t>Refer to the software models </a:t>
            </a:r>
            <a:r>
              <a:rPr lang="en-NZ" dirty="0" err="1"/>
              <a:t>centered</a:t>
            </a:r>
            <a:r>
              <a:rPr lang="en-NZ" dirty="0"/>
              <a:t> round the idea of iterative development.</a:t>
            </a:r>
          </a:p>
          <a:p>
            <a:endParaRPr lang="en-NZ" dirty="0"/>
          </a:p>
          <a:p>
            <a:r>
              <a:rPr lang="en-NZ" dirty="0"/>
              <a:t>The demands and solutions evolve. </a:t>
            </a:r>
          </a:p>
          <a:p>
            <a:endParaRPr lang="en-NZ" dirty="0"/>
          </a:p>
          <a:p>
            <a:r>
              <a:rPr lang="en-NZ" dirty="0"/>
              <a:t>Help teams to deliver values to their customers faster.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1348C7-F333-43D9-ABB4-11B1B3FF30A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Z" smtClean="0"/>
              <a:t>7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8788087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2E6D9-D160-B9A7-EC2D-220B4AC6E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Agile vs Traditional Methodologies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843A32-622A-45F6-2445-29AEDABD206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Z" smtClean="0"/>
              <a:t>8</a:t>
            </a:fld>
            <a:endParaRPr lang="en-NZ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6C58541-60D1-EC72-66E3-EDFE37CE86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2959461"/>
              </p:ext>
            </p:extLst>
          </p:nvPr>
        </p:nvGraphicFramePr>
        <p:xfrm>
          <a:off x="716889" y="1389888"/>
          <a:ext cx="7710222" cy="3818532"/>
        </p:xfrm>
        <a:graphic>
          <a:graphicData uri="http://schemas.openxmlformats.org/drawingml/2006/table">
            <a:tbl>
              <a:tblPr/>
              <a:tblGrid>
                <a:gridCol w="3855111">
                  <a:extLst>
                    <a:ext uri="{9D8B030D-6E8A-4147-A177-3AD203B41FA5}">
                      <a16:colId xmlns:a16="http://schemas.microsoft.com/office/drawing/2014/main" val="3984305825"/>
                    </a:ext>
                  </a:extLst>
                </a:gridCol>
                <a:gridCol w="3855111">
                  <a:extLst>
                    <a:ext uri="{9D8B030D-6E8A-4147-A177-3AD203B41FA5}">
                      <a16:colId xmlns:a16="http://schemas.microsoft.com/office/drawing/2014/main" val="500881898"/>
                    </a:ext>
                  </a:extLst>
                </a:gridCol>
              </a:tblGrid>
              <a:tr h="37436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NZ" b="1" dirty="0">
                          <a:effectLst/>
                        </a:rPr>
                        <a:t>Agile Project Management</a:t>
                      </a:r>
                      <a:endParaRPr lang="en-NZ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NZ" b="1" dirty="0">
                          <a:effectLst/>
                        </a:rPr>
                        <a:t>Waterfall Project Management</a:t>
                      </a:r>
                      <a:endParaRPr lang="en-NZ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6051412"/>
                  </a:ext>
                </a:extLst>
              </a:tr>
              <a:tr h="63642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NZ" dirty="0">
                          <a:effectLst/>
                        </a:rPr>
                        <a:t>Client input is required throughout the product development.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NZ">
                          <a:effectLst/>
                        </a:rPr>
                        <a:t>Client input is required only after completing each phase.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7581178"/>
                  </a:ext>
                </a:extLst>
              </a:tr>
              <a:tr h="63642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NZ" dirty="0">
                          <a:effectLst/>
                        </a:rPr>
                        <a:t>Changes can be made at any stage.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NZ">
                          <a:effectLst/>
                        </a:rPr>
                        <a:t>Changes cannot be made after the completion of a phase.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6117380"/>
                  </a:ext>
                </a:extLst>
              </a:tr>
              <a:tr h="89847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NZ" dirty="0">
                          <a:effectLst/>
                        </a:rPr>
                        <a:t>Coordination among project teams is required to ensure correctness.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NZ">
                          <a:effectLst/>
                        </a:rPr>
                        <a:t>Coordination is not needed as one team starts the work after the finish of another team.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2976286"/>
                  </a:ext>
                </a:extLst>
              </a:tr>
              <a:tr h="63642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NZ">
                          <a:effectLst/>
                        </a:rPr>
                        <a:t>It is really useful in large and complex projects.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NZ" dirty="0">
                          <a:effectLst/>
                        </a:rPr>
                        <a:t>It is mainly used for small project development.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6200476"/>
                  </a:ext>
                </a:extLst>
              </a:tr>
              <a:tr h="63642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NZ" dirty="0">
                          <a:effectLst/>
                        </a:rPr>
                        <a:t>The testing part can be started before the development of the entire product.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NZ" dirty="0">
                          <a:effectLst/>
                        </a:rPr>
                        <a:t>Testing can only be performed when the complete product is ready.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74398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91851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0"/>
          <p:cNvSpPr txBox="1">
            <a:spLocks noGrp="1"/>
          </p:cNvSpPr>
          <p:nvPr>
            <p:ph type="title"/>
          </p:nvPr>
        </p:nvSpPr>
        <p:spPr>
          <a:xfrm>
            <a:off x="628650" y="-15875"/>
            <a:ext cx="7886700" cy="1118100"/>
          </a:xfrm>
          <a:prstGeom prst="rect">
            <a:avLst/>
          </a:prstGeom>
        </p:spPr>
        <p:txBody>
          <a:bodyPr spcFirstLastPara="1" wrap="square" lIns="432000" tIns="45700" rIns="4320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NZ"/>
              <a:t>Lean Software Development</a:t>
            </a:r>
            <a:endParaRPr/>
          </a:p>
        </p:txBody>
      </p:sp>
      <p:sp>
        <p:nvSpPr>
          <p:cNvPr id="83" name="Google Shape;83;p10"/>
          <p:cNvSpPr txBox="1">
            <a:spLocks noGrp="1"/>
          </p:cNvSpPr>
          <p:nvPr>
            <p:ph type="body" idx="1"/>
          </p:nvPr>
        </p:nvSpPr>
        <p:spPr>
          <a:xfrm>
            <a:off x="628650" y="1044100"/>
            <a:ext cx="8191800" cy="494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72440" algn="l" rtl="0">
              <a:spcBef>
                <a:spcPts val="750"/>
              </a:spcBef>
              <a:spcAft>
                <a:spcPts val="0"/>
              </a:spcAft>
              <a:buSzPts val="3840"/>
              <a:buChar char="▪"/>
            </a:pPr>
            <a:r>
              <a:rPr lang="en-NZ" i="1" dirty="0"/>
              <a:t>Lean </a:t>
            </a:r>
            <a:r>
              <a:rPr lang="en-NZ" dirty="0"/>
              <a:t>is a term coined by </a:t>
            </a:r>
            <a:r>
              <a:rPr lang="en-NZ" i="1" dirty="0"/>
              <a:t>John Krafcik</a:t>
            </a:r>
            <a:r>
              <a:rPr lang="en-NZ" dirty="0"/>
              <a:t> in 1988.</a:t>
            </a:r>
          </a:p>
          <a:p>
            <a:pPr marL="457200" lvl="0" indent="-472440" algn="l" rtl="0">
              <a:spcBef>
                <a:spcPts val="750"/>
              </a:spcBef>
              <a:spcAft>
                <a:spcPts val="0"/>
              </a:spcAft>
              <a:buSzPts val="3840"/>
              <a:buChar char="▪"/>
            </a:pPr>
            <a:endParaRPr dirty="0"/>
          </a:p>
          <a:p>
            <a:pPr marL="457200" lvl="0" indent="-472440" algn="l" rtl="0">
              <a:spcBef>
                <a:spcPts val="0"/>
              </a:spcBef>
              <a:spcAft>
                <a:spcPts val="0"/>
              </a:spcAft>
              <a:buSzPts val="3840"/>
              <a:buChar char="▪"/>
            </a:pPr>
            <a:r>
              <a:rPr lang="en-NZ" dirty="0"/>
              <a:t>The original methodology originates from the manufacturing sector.</a:t>
            </a:r>
          </a:p>
          <a:p>
            <a:pPr marL="457200" lvl="0" indent="-472440" algn="l" rtl="0">
              <a:spcBef>
                <a:spcPts val="0"/>
              </a:spcBef>
              <a:spcAft>
                <a:spcPts val="0"/>
              </a:spcAft>
              <a:buSzPts val="3840"/>
              <a:buChar char="▪"/>
            </a:pPr>
            <a:endParaRPr dirty="0"/>
          </a:p>
          <a:p>
            <a:pPr marL="457200" lvl="0" indent="-472440" algn="l" rtl="0">
              <a:spcBef>
                <a:spcPts val="0"/>
              </a:spcBef>
              <a:spcAft>
                <a:spcPts val="0"/>
              </a:spcAft>
              <a:buSzPts val="3840"/>
              <a:buChar char="▪"/>
            </a:pPr>
            <a:r>
              <a:rPr lang="en-NZ" dirty="0"/>
              <a:t>Derived from the </a:t>
            </a:r>
            <a:r>
              <a:rPr lang="en-NZ" i="1" dirty="0"/>
              <a:t>Toyota Production System</a:t>
            </a:r>
            <a:r>
              <a:rPr lang="en-NZ" dirty="0"/>
              <a:t> which was created in the 1930’s.</a:t>
            </a:r>
          </a:p>
          <a:p>
            <a:pPr marL="457200" lvl="0" indent="-472440" algn="l" rtl="0">
              <a:spcBef>
                <a:spcPts val="0"/>
              </a:spcBef>
              <a:spcAft>
                <a:spcPts val="0"/>
              </a:spcAft>
              <a:buSzPts val="3840"/>
              <a:buChar char="▪"/>
            </a:pPr>
            <a:endParaRPr dirty="0"/>
          </a:p>
          <a:p>
            <a:pPr marL="457200" lvl="0" indent="-472440" algn="l" rtl="0">
              <a:spcBef>
                <a:spcPts val="0"/>
              </a:spcBef>
              <a:spcAft>
                <a:spcPts val="0"/>
              </a:spcAft>
              <a:buSzPts val="3840"/>
              <a:buChar char="▪"/>
            </a:pPr>
            <a:r>
              <a:rPr lang="en-NZ" dirty="0"/>
              <a:t>Has 7 principles </a:t>
            </a:r>
            <a:endParaRPr dirty="0"/>
          </a:p>
        </p:txBody>
      </p:sp>
      <p:sp>
        <p:nvSpPr>
          <p:cNvPr id="84" name="Google Shape;84;p10"/>
          <p:cNvSpPr txBox="1">
            <a:spLocks noGrp="1"/>
          </p:cNvSpPr>
          <p:nvPr>
            <p:ph type="sldNum" idx="12"/>
          </p:nvPr>
        </p:nvSpPr>
        <p:spPr>
          <a:xfrm>
            <a:off x="750793" y="0"/>
            <a:ext cx="324300" cy="2856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NZ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1"/>
          <p:cNvSpPr txBox="1">
            <a:spLocks noGrp="1"/>
          </p:cNvSpPr>
          <p:nvPr>
            <p:ph type="title"/>
          </p:nvPr>
        </p:nvSpPr>
        <p:spPr>
          <a:xfrm>
            <a:off x="628650" y="-15875"/>
            <a:ext cx="7886700" cy="1118100"/>
          </a:xfrm>
          <a:prstGeom prst="rect">
            <a:avLst/>
          </a:prstGeom>
        </p:spPr>
        <p:txBody>
          <a:bodyPr spcFirstLastPara="1" wrap="square" lIns="432000" tIns="45700" rIns="4320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NZ"/>
              <a:t>LeanSD Principles</a:t>
            </a:r>
            <a:endParaRPr/>
          </a:p>
        </p:txBody>
      </p:sp>
      <p:sp>
        <p:nvSpPr>
          <p:cNvPr id="92" name="Google Shape;92;p11"/>
          <p:cNvSpPr txBox="1">
            <a:spLocks noGrp="1"/>
          </p:cNvSpPr>
          <p:nvPr>
            <p:ph type="sldNum" idx="12"/>
          </p:nvPr>
        </p:nvSpPr>
        <p:spPr>
          <a:xfrm>
            <a:off x="750793" y="0"/>
            <a:ext cx="324300" cy="2856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NZ"/>
              <a:t>10</a:t>
            </a:fld>
            <a:endParaRPr/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D6DC8262-22A6-4475-A35C-5B39C70DCD6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83827813"/>
              </p:ext>
            </p:extLst>
          </p:nvPr>
        </p:nvGraphicFramePr>
        <p:xfrm>
          <a:off x="750793" y="1102225"/>
          <a:ext cx="8271287" cy="48515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2"/>
          <p:cNvSpPr txBox="1">
            <a:spLocks noGrp="1"/>
          </p:cNvSpPr>
          <p:nvPr>
            <p:ph type="title"/>
          </p:nvPr>
        </p:nvSpPr>
        <p:spPr>
          <a:xfrm>
            <a:off x="628650" y="-15875"/>
            <a:ext cx="7886700" cy="1118100"/>
          </a:xfrm>
          <a:prstGeom prst="rect">
            <a:avLst/>
          </a:prstGeom>
        </p:spPr>
        <p:txBody>
          <a:bodyPr spcFirstLastPara="1" wrap="square" lIns="432000" tIns="45700" rIns="4320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NZ" dirty="0"/>
              <a:t>1. Eliminate Waste</a:t>
            </a:r>
            <a:endParaRPr dirty="0"/>
          </a:p>
        </p:txBody>
      </p:sp>
      <p:sp>
        <p:nvSpPr>
          <p:cNvPr id="99" name="Google Shape;99;p12"/>
          <p:cNvSpPr txBox="1">
            <a:spLocks noGrp="1"/>
          </p:cNvSpPr>
          <p:nvPr>
            <p:ph type="body" idx="1"/>
          </p:nvPr>
        </p:nvSpPr>
        <p:spPr>
          <a:xfrm>
            <a:off x="628650" y="1044100"/>
            <a:ext cx="8191800" cy="494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indent="-457200">
              <a:spcBef>
                <a:spcPts val="0"/>
              </a:spcBef>
              <a:buSzPts val="3740"/>
            </a:pPr>
            <a:r>
              <a:rPr lang="en-NZ" sz="3100" dirty="0"/>
              <a:t>Starting </a:t>
            </a:r>
            <a:r>
              <a:rPr lang="en-NZ" sz="3100" b="1" dirty="0"/>
              <a:t>more </a:t>
            </a:r>
            <a:r>
              <a:rPr lang="en-NZ" sz="3100" dirty="0"/>
              <a:t>than can be completed. </a:t>
            </a:r>
          </a:p>
          <a:p>
            <a:pPr indent="-457200">
              <a:spcBef>
                <a:spcPts val="0"/>
              </a:spcBef>
              <a:buSzPts val="3740"/>
            </a:pPr>
            <a:endParaRPr sz="3100" dirty="0"/>
          </a:p>
          <a:p>
            <a:pPr marL="457200" lvl="0" indent="-466090" algn="l" rtl="0">
              <a:spcBef>
                <a:spcPts val="0"/>
              </a:spcBef>
              <a:spcAft>
                <a:spcPts val="0"/>
              </a:spcAft>
              <a:buSzPts val="3740"/>
              <a:buChar char="▪"/>
            </a:pPr>
            <a:r>
              <a:rPr lang="en-NZ" sz="3100" b="1" dirty="0"/>
              <a:t>Delay </a:t>
            </a:r>
            <a:r>
              <a:rPr lang="en-NZ" sz="3100" dirty="0"/>
              <a:t>in the software development process. </a:t>
            </a:r>
            <a:endParaRPr sz="2600" dirty="0"/>
          </a:p>
          <a:p>
            <a:pPr marL="457200" lvl="0" indent="-466090" algn="l" rtl="0">
              <a:spcBef>
                <a:spcPts val="0"/>
              </a:spcBef>
              <a:spcAft>
                <a:spcPts val="0"/>
              </a:spcAft>
              <a:buSzPts val="3740"/>
              <a:buChar char="▪"/>
            </a:pPr>
            <a:endParaRPr lang="en-NZ" sz="3100" b="1" dirty="0"/>
          </a:p>
          <a:p>
            <a:pPr marL="457200" lvl="0" indent="-466090" algn="l" rtl="0">
              <a:spcBef>
                <a:spcPts val="0"/>
              </a:spcBef>
              <a:spcAft>
                <a:spcPts val="0"/>
              </a:spcAft>
              <a:buSzPts val="3740"/>
              <a:buChar char="▪"/>
            </a:pPr>
            <a:r>
              <a:rPr lang="en-NZ" sz="3100" b="1" dirty="0"/>
              <a:t>Unclear </a:t>
            </a:r>
            <a:r>
              <a:rPr lang="en-NZ" sz="3100" dirty="0"/>
              <a:t>or constantly </a:t>
            </a:r>
            <a:r>
              <a:rPr lang="en-NZ" sz="3100" b="1" dirty="0"/>
              <a:t>changing </a:t>
            </a:r>
            <a:r>
              <a:rPr lang="en-NZ" sz="3100" dirty="0"/>
              <a:t>requirements. </a:t>
            </a:r>
            <a:endParaRPr sz="2600" b="1" dirty="0"/>
          </a:p>
          <a:p>
            <a:pPr marL="457200" lvl="0" indent="-466090" algn="l" rtl="0">
              <a:spcBef>
                <a:spcPts val="0"/>
              </a:spcBef>
              <a:spcAft>
                <a:spcPts val="0"/>
              </a:spcAft>
              <a:buSzPts val="3740"/>
              <a:buChar char="▪"/>
            </a:pPr>
            <a:endParaRPr lang="en-NZ" sz="3100" b="1" dirty="0"/>
          </a:p>
          <a:p>
            <a:pPr marL="457200" lvl="0" indent="-466090" algn="l" rtl="0">
              <a:spcBef>
                <a:spcPts val="0"/>
              </a:spcBef>
              <a:spcAft>
                <a:spcPts val="0"/>
              </a:spcAft>
              <a:buSzPts val="3740"/>
              <a:buChar char="▪"/>
            </a:pPr>
            <a:r>
              <a:rPr lang="en-NZ" sz="3100" b="1" dirty="0"/>
              <a:t>Partially </a:t>
            </a:r>
            <a:r>
              <a:rPr lang="en-NZ" sz="3100" dirty="0"/>
              <a:t>done work.</a:t>
            </a:r>
          </a:p>
          <a:p>
            <a:pPr marL="457200" lvl="0" indent="-466090" algn="l" rtl="0">
              <a:spcBef>
                <a:spcPts val="0"/>
              </a:spcBef>
              <a:spcAft>
                <a:spcPts val="0"/>
              </a:spcAft>
              <a:buSzPts val="3740"/>
              <a:buChar char="▪"/>
            </a:pPr>
            <a:endParaRPr sz="2600" dirty="0"/>
          </a:p>
          <a:p>
            <a:pPr marL="457200" lvl="0" indent="-466090" algn="l" rtl="0">
              <a:spcBef>
                <a:spcPts val="0"/>
              </a:spcBef>
              <a:spcAft>
                <a:spcPts val="0"/>
              </a:spcAft>
              <a:buSzPts val="3740"/>
              <a:buChar char="▪"/>
            </a:pPr>
            <a:r>
              <a:rPr lang="en-NZ" sz="3100" b="1" dirty="0"/>
              <a:t>Defects </a:t>
            </a:r>
            <a:r>
              <a:rPr lang="en-NZ" sz="3100" dirty="0"/>
              <a:t>and quality issues. </a:t>
            </a:r>
            <a:endParaRPr sz="2600" dirty="0"/>
          </a:p>
          <a:p>
            <a:pPr marL="457200" lvl="0" indent="-466090" algn="l" rtl="0">
              <a:spcBef>
                <a:spcPts val="0"/>
              </a:spcBef>
              <a:spcAft>
                <a:spcPts val="0"/>
              </a:spcAft>
              <a:buSzPts val="3740"/>
              <a:buChar char="▪"/>
            </a:pPr>
            <a:endParaRPr lang="en-NZ" sz="3100" dirty="0"/>
          </a:p>
          <a:p>
            <a:pPr marL="457200" lvl="0" indent="-466090" algn="l" rtl="0">
              <a:spcBef>
                <a:spcPts val="0"/>
              </a:spcBef>
              <a:spcAft>
                <a:spcPts val="0"/>
              </a:spcAft>
              <a:buSzPts val="3740"/>
              <a:buChar char="▪"/>
            </a:pPr>
            <a:r>
              <a:rPr lang="en-NZ" sz="3100" dirty="0"/>
              <a:t>Task </a:t>
            </a:r>
            <a:r>
              <a:rPr lang="en-NZ" sz="3100" b="1" dirty="0"/>
              <a:t>switching. </a:t>
            </a:r>
            <a:endParaRPr sz="2600" b="1" dirty="0"/>
          </a:p>
        </p:txBody>
      </p:sp>
      <p:sp>
        <p:nvSpPr>
          <p:cNvPr id="100" name="Google Shape;100;p12"/>
          <p:cNvSpPr txBox="1">
            <a:spLocks noGrp="1"/>
          </p:cNvSpPr>
          <p:nvPr>
            <p:ph type="sldNum" idx="12"/>
          </p:nvPr>
        </p:nvSpPr>
        <p:spPr>
          <a:xfrm>
            <a:off x="750793" y="0"/>
            <a:ext cx="324300" cy="2856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NZ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3"/>
          <p:cNvSpPr txBox="1">
            <a:spLocks noGrp="1"/>
          </p:cNvSpPr>
          <p:nvPr>
            <p:ph type="title"/>
          </p:nvPr>
        </p:nvSpPr>
        <p:spPr>
          <a:xfrm>
            <a:off x="628650" y="-15875"/>
            <a:ext cx="7886700" cy="1118100"/>
          </a:xfrm>
          <a:prstGeom prst="rect">
            <a:avLst/>
          </a:prstGeom>
        </p:spPr>
        <p:txBody>
          <a:bodyPr spcFirstLastPara="1" wrap="square" lIns="432000" tIns="45700" rIns="4320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NZ" dirty="0"/>
              <a:t>2. Build Quality In</a:t>
            </a:r>
            <a:endParaRPr dirty="0"/>
          </a:p>
        </p:txBody>
      </p:sp>
      <p:sp>
        <p:nvSpPr>
          <p:cNvPr id="108" name="Google Shape;108;p13"/>
          <p:cNvSpPr txBox="1">
            <a:spLocks noGrp="1"/>
          </p:cNvSpPr>
          <p:nvPr>
            <p:ph type="sldNum" idx="12"/>
          </p:nvPr>
        </p:nvSpPr>
        <p:spPr>
          <a:xfrm>
            <a:off x="750793" y="0"/>
            <a:ext cx="324300" cy="2856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NZ"/>
              <a:t>12</a:t>
            </a:fld>
            <a:endParaRPr/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4AA9ED4C-B652-45FD-B933-3A041828D8A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81225311"/>
              </p:ext>
            </p:extLst>
          </p:nvPr>
        </p:nvGraphicFramePr>
        <p:xfrm>
          <a:off x="142240" y="711201"/>
          <a:ext cx="8833594" cy="48463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4"/>
          <p:cNvSpPr txBox="1">
            <a:spLocks noGrp="1"/>
          </p:cNvSpPr>
          <p:nvPr>
            <p:ph type="title"/>
          </p:nvPr>
        </p:nvSpPr>
        <p:spPr>
          <a:xfrm>
            <a:off x="628650" y="-15875"/>
            <a:ext cx="7886700" cy="1118100"/>
          </a:xfrm>
          <a:prstGeom prst="rect">
            <a:avLst/>
          </a:prstGeom>
        </p:spPr>
        <p:txBody>
          <a:bodyPr spcFirstLastPara="1" wrap="square" lIns="432000" tIns="45700" rIns="4320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NZ" dirty="0"/>
              <a:t>3. Create Knowledge</a:t>
            </a:r>
            <a:endParaRPr dirty="0"/>
          </a:p>
        </p:txBody>
      </p:sp>
      <p:sp>
        <p:nvSpPr>
          <p:cNvPr id="115" name="Google Shape;115;p14"/>
          <p:cNvSpPr txBox="1">
            <a:spLocks noGrp="1"/>
          </p:cNvSpPr>
          <p:nvPr>
            <p:ph type="body" idx="1"/>
          </p:nvPr>
        </p:nvSpPr>
        <p:spPr>
          <a:xfrm>
            <a:off x="628650" y="909375"/>
            <a:ext cx="8191800" cy="507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78790" algn="l" rtl="0">
              <a:spcBef>
                <a:spcPts val="750"/>
              </a:spcBef>
              <a:spcAft>
                <a:spcPts val="0"/>
              </a:spcAft>
              <a:buSzPts val="3940"/>
              <a:buChar char="▪"/>
            </a:pPr>
            <a:r>
              <a:rPr lang="en-NZ" sz="3300" dirty="0"/>
              <a:t>Requires discipline and focus to implement. </a:t>
            </a:r>
          </a:p>
          <a:p>
            <a:pPr marL="457200" lvl="0" indent="-478790" algn="l" rtl="0">
              <a:spcBef>
                <a:spcPts val="750"/>
              </a:spcBef>
              <a:spcAft>
                <a:spcPts val="0"/>
              </a:spcAft>
              <a:buSzPts val="3940"/>
              <a:buChar char="▪"/>
            </a:pPr>
            <a:endParaRPr sz="3300" dirty="0"/>
          </a:p>
          <a:p>
            <a:pPr marL="457200" lvl="0" indent="-478790" algn="l" rtl="0">
              <a:spcBef>
                <a:spcPts val="0"/>
              </a:spcBef>
              <a:spcAft>
                <a:spcPts val="0"/>
              </a:spcAft>
              <a:buSzPts val="3940"/>
              <a:buChar char="▪"/>
            </a:pPr>
            <a:r>
              <a:rPr lang="en-NZ" sz="3300" dirty="0"/>
              <a:t>Infrastructure must be available to document and retain valuable learning. </a:t>
            </a:r>
          </a:p>
          <a:p>
            <a:pPr marL="457200" lvl="0" indent="-478790" algn="l" rtl="0">
              <a:spcBef>
                <a:spcPts val="0"/>
              </a:spcBef>
              <a:spcAft>
                <a:spcPts val="0"/>
              </a:spcAft>
              <a:buSzPts val="3940"/>
              <a:buChar char="▪"/>
            </a:pPr>
            <a:endParaRPr sz="3300" dirty="0"/>
          </a:p>
          <a:p>
            <a:pPr marL="457200" lvl="0" indent="-478790" algn="l" rtl="0">
              <a:spcBef>
                <a:spcPts val="0"/>
              </a:spcBef>
              <a:spcAft>
                <a:spcPts val="0"/>
              </a:spcAft>
              <a:buSzPts val="3940"/>
              <a:buChar char="▪"/>
            </a:pPr>
            <a:r>
              <a:rPr lang="en-NZ" sz="3300" dirty="0"/>
              <a:t>Example of tools and practices:</a:t>
            </a:r>
            <a:endParaRPr sz="3300" dirty="0"/>
          </a:p>
          <a:p>
            <a:pPr marL="914400" lvl="1" indent="-440690" algn="l" rtl="0">
              <a:spcBef>
                <a:spcPts val="0"/>
              </a:spcBef>
              <a:spcAft>
                <a:spcPts val="0"/>
              </a:spcAft>
              <a:buSzPts val="3340"/>
              <a:buChar char="−"/>
            </a:pPr>
            <a:r>
              <a:rPr lang="en-NZ" sz="2800" dirty="0"/>
              <a:t>Code reviews / Pair Programming</a:t>
            </a:r>
            <a:endParaRPr sz="2800" dirty="0"/>
          </a:p>
          <a:p>
            <a:pPr marL="914400" lvl="1" indent="-440690" algn="l" rtl="0">
              <a:spcBef>
                <a:spcPts val="0"/>
              </a:spcBef>
              <a:spcAft>
                <a:spcPts val="0"/>
              </a:spcAft>
              <a:buSzPts val="3340"/>
              <a:buChar char="−"/>
            </a:pPr>
            <a:r>
              <a:rPr lang="en-NZ" sz="2800" dirty="0"/>
              <a:t>Documentation</a:t>
            </a:r>
            <a:endParaRPr sz="2800" dirty="0"/>
          </a:p>
          <a:p>
            <a:pPr marL="914400" lvl="1" indent="-440690" algn="l" rtl="0">
              <a:spcBef>
                <a:spcPts val="0"/>
              </a:spcBef>
              <a:spcAft>
                <a:spcPts val="0"/>
              </a:spcAft>
              <a:buSzPts val="3340"/>
              <a:buChar char="−"/>
            </a:pPr>
            <a:r>
              <a:rPr lang="en-NZ" sz="2800" dirty="0"/>
              <a:t>Wiki </a:t>
            </a:r>
            <a:endParaRPr sz="2800" dirty="0"/>
          </a:p>
          <a:p>
            <a:pPr marL="914400" lvl="1" indent="-440690" algn="l" rtl="0">
              <a:spcBef>
                <a:spcPts val="0"/>
              </a:spcBef>
              <a:spcAft>
                <a:spcPts val="0"/>
              </a:spcAft>
              <a:buSzPts val="3340"/>
              <a:buChar char="−"/>
            </a:pPr>
            <a:r>
              <a:rPr lang="en-NZ" sz="2800" dirty="0"/>
              <a:t>Code comments</a:t>
            </a:r>
            <a:endParaRPr sz="2800" dirty="0"/>
          </a:p>
          <a:p>
            <a:pPr marL="914400" lvl="1" indent="-440690" algn="l" rtl="0">
              <a:spcBef>
                <a:spcPts val="0"/>
              </a:spcBef>
              <a:spcAft>
                <a:spcPts val="0"/>
              </a:spcAft>
              <a:buSzPts val="3340"/>
              <a:buChar char="−"/>
            </a:pPr>
            <a:r>
              <a:rPr lang="en-NZ" sz="2800" dirty="0"/>
              <a:t>Knowledge sharing sessions</a:t>
            </a:r>
            <a:endParaRPr sz="2800" dirty="0"/>
          </a:p>
          <a:p>
            <a:pPr marL="914400" lvl="1" indent="-440690" algn="l" rtl="0">
              <a:spcBef>
                <a:spcPts val="0"/>
              </a:spcBef>
              <a:spcAft>
                <a:spcPts val="0"/>
              </a:spcAft>
              <a:buSzPts val="3340"/>
              <a:buChar char="−"/>
            </a:pPr>
            <a:r>
              <a:rPr lang="en-NZ" sz="2800" dirty="0"/>
              <a:t>Training</a:t>
            </a:r>
            <a:endParaRPr sz="2800" dirty="0"/>
          </a:p>
        </p:txBody>
      </p:sp>
      <p:sp>
        <p:nvSpPr>
          <p:cNvPr id="116" name="Google Shape;116;p14"/>
          <p:cNvSpPr txBox="1">
            <a:spLocks noGrp="1"/>
          </p:cNvSpPr>
          <p:nvPr>
            <p:ph type="sldNum" idx="12"/>
          </p:nvPr>
        </p:nvSpPr>
        <p:spPr>
          <a:xfrm>
            <a:off x="750793" y="0"/>
            <a:ext cx="324300" cy="2856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NZ"/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 txBox="1">
            <a:spLocks noGrp="1"/>
          </p:cNvSpPr>
          <p:nvPr>
            <p:ph type="title"/>
          </p:nvPr>
        </p:nvSpPr>
        <p:spPr>
          <a:xfrm>
            <a:off x="628650" y="-15875"/>
            <a:ext cx="7886700" cy="1118100"/>
          </a:xfrm>
          <a:prstGeom prst="rect">
            <a:avLst/>
          </a:prstGeom>
        </p:spPr>
        <p:txBody>
          <a:bodyPr spcFirstLastPara="1" wrap="square" lIns="432000" tIns="45700" rIns="4320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NZ" dirty="0"/>
              <a:t>4. Defer Commitment</a:t>
            </a:r>
            <a:endParaRPr dirty="0"/>
          </a:p>
        </p:txBody>
      </p:sp>
      <p:sp>
        <p:nvSpPr>
          <p:cNvPr id="123" name="Google Shape;123;p15"/>
          <p:cNvSpPr txBox="1">
            <a:spLocks noGrp="1"/>
          </p:cNvSpPr>
          <p:nvPr>
            <p:ph type="body" idx="1"/>
          </p:nvPr>
        </p:nvSpPr>
        <p:spPr>
          <a:xfrm>
            <a:off x="628650" y="1044100"/>
            <a:ext cx="8191800" cy="494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78790" algn="l" rtl="0">
              <a:spcBef>
                <a:spcPts val="750"/>
              </a:spcBef>
              <a:spcAft>
                <a:spcPts val="0"/>
              </a:spcAft>
              <a:buSzPts val="3940"/>
              <a:buChar char="▪"/>
            </a:pPr>
            <a:r>
              <a:rPr lang="en-NZ" sz="3300"/>
              <a:t>Does not mean </a:t>
            </a:r>
            <a:r>
              <a:rPr lang="en-NZ" sz="3300" i="1"/>
              <a:t>irresponsible </a:t>
            </a:r>
            <a:r>
              <a:rPr lang="en-NZ" sz="3300"/>
              <a:t>decision making </a:t>
            </a:r>
            <a:endParaRPr sz="3300"/>
          </a:p>
          <a:p>
            <a:pPr marL="457200" lvl="0" indent="0" algn="l" rtl="0">
              <a:spcBef>
                <a:spcPts val="750"/>
              </a:spcBef>
              <a:spcAft>
                <a:spcPts val="0"/>
              </a:spcAft>
              <a:buNone/>
            </a:pPr>
            <a:endParaRPr sz="3300"/>
          </a:p>
          <a:p>
            <a:pPr marL="457200" lvl="0" indent="-478790" algn="l" rtl="0">
              <a:spcBef>
                <a:spcPts val="750"/>
              </a:spcBef>
              <a:spcAft>
                <a:spcPts val="0"/>
              </a:spcAft>
              <a:buSzPts val="3940"/>
              <a:buChar char="▪"/>
            </a:pPr>
            <a:r>
              <a:rPr lang="en-NZ" sz="3300"/>
              <a:t>To </a:t>
            </a:r>
            <a:r>
              <a:rPr lang="en-NZ" sz="3300" i="1"/>
              <a:t>defer commitment</a:t>
            </a:r>
            <a:r>
              <a:rPr lang="en-NZ" sz="3300"/>
              <a:t> means to:</a:t>
            </a:r>
            <a:endParaRPr sz="3300"/>
          </a:p>
          <a:p>
            <a:pPr marL="914400" lvl="1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−"/>
            </a:pPr>
            <a:r>
              <a:rPr lang="en-NZ" sz="3000"/>
              <a:t>Keep your options </a:t>
            </a:r>
            <a:r>
              <a:rPr lang="en-NZ" sz="3000" b="1"/>
              <a:t>open </a:t>
            </a:r>
            <a:endParaRPr sz="3000" b="1"/>
          </a:p>
          <a:p>
            <a:pPr marL="914400" lvl="1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−"/>
            </a:pPr>
            <a:r>
              <a:rPr lang="en-NZ" sz="3000"/>
              <a:t>constantly </a:t>
            </a:r>
            <a:r>
              <a:rPr lang="en-NZ" sz="3000" b="1"/>
              <a:t>collect </a:t>
            </a:r>
            <a:r>
              <a:rPr lang="en-NZ" sz="3000"/>
              <a:t>and analyse information to help make decisions</a:t>
            </a:r>
            <a:endParaRPr sz="3000"/>
          </a:p>
          <a:p>
            <a:pPr marL="914400" lvl="1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−"/>
            </a:pPr>
            <a:r>
              <a:rPr lang="en-NZ" sz="3000"/>
              <a:t>not commit without a </a:t>
            </a:r>
            <a:r>
              <a:rPr lang="en-NZ" sz="3000" b="1"/>
              <a:t>full understanding</a:t>
            </a:r>
            <a:r>
              <a:rPr lang="en-NZ" sz="3000"/>
              <a:t> of the business requirements</a:t>
            </a:r>
            <a:endParaRPr sz="3000"/>
          </a:p>
          <a:p>
            <a:pPr marL="914400" lvl="1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−"/>
            </a:pPr>
            <a:r>
              <a:rPr lang="en-NZ" sz="3000"/>
              <a:t>avoid </a:t>
            </a:r>
            <a:r>
              <a:rPr lang="en-NZ" sz="3000" b="1"/>
              <a:t>detailed </a:t>
            </a:r>
            <a:r>
              <a:rPr lang="en-NZ" sz="3000"/>
              <a:t>long-term planning</a:t>
            </a:r>
            <a:endParaRPr sz="3000"/>
          </a:p>
        </p:txBody>
      </p:sp>
      <p:sp>
        <p:nvSpPr>
          <p:cNvPr id="124" name="Google Shape;124;p15"/>
          <p:cNvSpPr txBox="1">
            <a:spLocks noGrp="1"/>
          </p:cNvSpPr>
          <p:nvPr>
            <p:ph type="sldNum" idx="12"/>
          </p:nvPr>
        </p:nvSpPr>
        <p:spPr>
          <a:xfrm>
            <a:off x="750793" y="0"/>
            <a:ext cx="324300" cy="2856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NZ"/>
              <a:t>14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 txBox="1">
            <a:spLocks noGrp="1"/>
          </p:cNvSpPr>
          <p:nvPr>
            <p:ph type="title"/>
          </p:nvPr>
        </p:nvSpPr>
        <p:spPr>
          <a:xfrm>
            <a:off x="628650" y="-15875"/>
            <a:ext cx="7886700" cy="1118100"/>
          </a:xfrm>
          <a:prstGeom prst="rect">
            <a:avLst/>
          </a:prstGeom>
        </p:spPr>
        <p:txBody>
          <a:bodyPr spcFirstLastPara="1" wrap="square" lIns="432000" tIns="45700" rIns="4320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NZ" dirty="0"/>
              <a:t>5. Deliver Fast</a:t>
            </a:r>
            <a:endParaRPr dirty="0"/>
          </a:p>
        </p:txBody>
      </p:sp>
      <p:sp>
        <p:nvSpPr>
          <p:cNvPr id="131" name="Google Shape;131;p16"/>
          <p:cNvSpPr txBox="1">
            <a:spLocks noGrp="1"/>
          </p:cNvSpPr>
          <p:nvPr>
            <p:ph type="body" idx="1"/>
          </p:nvPr>
        </p:nvSpPr>
        <p:spPr>
          <a:xfrm>
            <a:off x="360025" y="1044100"/>
            <a:ext cx="8460300" cy="494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66090" algn="l" rtl="0">
              <a:spcBef>
                <a:spcPts val="750"/>
              </a:spcBef>
              <a:spcAft>
                <a:spcPts val="0"/>
              </a:spcAft>
              <a:buSzPts val="3740"/>
              <a:buChar char="▪"/>
            </a:pPr>
            <a:r>
              <a:rPr lang="en-NZ" sz="3100" dirty="0"/>
              <a:t>Software is only valuable when it’s in the hands of your customers:</a:t>
            </a:r>
            <a:endParaRPr sz="3100" dirty="0"/>
          </a:p>
          <a:p>
            <a:pPr marL="914400" lvl="1" indent="-427990" algn="l" rtl="0">
              <a:spcBef>
                <a:spcPts val="0"/>
              </a:spcBef>
              <a:spcAft>
                <a:spcPts val="0"/>
              </a:spcAft>
              <a:buSzPts val="3140"/>
              <a:buChar char="−"/>
            </a:pPr>
            <a:r>
              <a:rPr lang="en-NZ" sz="2600" dirty="0"/>
              <a:t>speed to market is a major competitive advantage</a:t>
            </a:r>
            <a:endParaRPr sz="2600" dirty="0"/>
          </a:p>
          <a:p>
            <a:pPr marL="457200" lvl="0" indent="-466090" algn="l" rtl="0">
              <a:spcBef>
                <a:spcPts val="0"/>
              </a:spcBef>
              <a:spcAft>
                <a:spcPts val="0"/>
              </a:spcAft>
              <a:buSzPts val="3740"/>
              <a:buChar char="▪"/>
            </a:pPr>
            <a:r>
              <a:rPr lang="en-NZ" sz="3100" dirty="0"/>
              <a:t> Common speed bumps:</a:t>
            </a:r>
            <a:endParaRPr sz="3100" dirty="0"/>
          </a:p>
          <a:p>
            <a:pPr marL="914400" lvl="1" indent="-427990" algn="l" rtl="0">
              <a:spcBef>
                <a:spcPts val="0"/>
              </a:spcBef>
              <a:spcAft>
                <a:spcPts val="0"/>
              </a:spcAft>
              <a:buSzPts val="3140"/>
              <a:buChar char="−"/>
            </a:pPr>
            <a:r>
              <a:rPr lang="en-NZ" sz="2600" dirty="0"/>
              <a:t>Thinking too far in advance about future requirements</a:t>
            </a:r>
            <a:endParaRPr sz="2600" dirty="0"/>
          </a:p>
          <a:p>
            <a:pPr marL="914400" lvl="1" indent="-427990" algn="l" rtl="0">
              <a:spcBef>
                <a:spcPts val="0"/>
              </a:spcBef>
              <a:spcAft>
                <a:spcPts val="0"/>
              </a:spcAft>
              <a:buSzPts val="3140"/>
              <a:buChar char="−"/>
            </a:pPr>
            <a:r>
              <a:rPr lang="en-NZ" sz="2600" dirty="0"/>
              <a:t>Blockers that aren’t responded to with urgency</a:t>
            </a:r>
            <a:endParaRPr sz="2600" dirty="0"/>
          </a:p>
          <a:p>
            <a:pPr marL="914400" lvl="1" indent="-427990" algn="l" rtl="0">
              <a:spcBef>
                <a:spcPts val="0"/>
              </a:spcBef>
              <a:spcAft>
                <a:spcPts val="0"/>
              </a:spcAft>
              <a:buSzPts val="3140"/>
              <a:buChar char="−"/>
            </a:pPr>
            <a:r>
              <a:rPr lang="en-NZ" sz="2600" dirty="0"/>
              <a:t>Over-engineering solutions and business requirements</a:t>
            </a:r>
            <a:endParaRPr sz="2600" dirty="0"/>
          </a:p>
          <a:p>
            <a:pPr marL="457200" lvl="0" indent="-466090" algn="l" rtl="0">
              <a:spcBef>
                <a:spcPts val="0"/>
              </a:spcBef>
              <a:spcAft>
                <a:spcPts val="0"/>
              </a:spcAft>
              <a:buSzPts val="3740"/>
              <a:buChar char="▪"/>
            </a:pPr>
            <a:r>
              <a:rPr lang="en-NZ" sz="3100" dirty="0"/>
              <a:t>Create simple solutions, get feedback and iterate:</a:t>
            </a:r>
            <a:endParaRPr sz="3100" dirty="0"/>
          </a:p>
          <a:p>
            <a:pPr marL="914400" lvl="1" indent="-427990" algn="l" rtl="0">
              <a:spcBef>
                <a:spcPts val="0"/>
              </a:spcBef>
              <a:spcAft>
                <a:spcPts val="0"/>
              </a:spcAft>
              <a:buSzPts val="3140"/>
              <a:buChar char="−"/>
            </a:pPr>
            <a:r>
              <a:rPr lang="en-NZ" sz="2600" dirty="0"/>
              <a:t>Not working longer hours and weekends, or working recklessly for the sake of speed.</a:t>
            </a:r>
            <a:endParaRPr sz="2600" dirty="0"/>
          </a:p>
        </p:txBody>
      </p:sp>
      <p:sp>
        <p:nvSpPr>
          <p:cNvPr id="132" name="Google Shape;132;p16"/>
          <p:cNvSpPr txBox="1">
            <a:spLocks noGrp="1"/>
          </p:cNvSpPr>
          <p:nvPr>
            <p:ph type="sldNum" idx="12"/>
          </p:nvPr>
        </p:nvSpPr>
        <p:spPr>
          <a:xfrm>
            <a:off x="750793" y="0"/>
            <a:ext cx="324300" cy="2856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NZ"/>
              <a:t>15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 txBox="1">
            <a:spLocks noGrp="1"/>
          </p:cNvSpPr>
          <p:nvPr>
            <p:ph type="title"/>
          </p:nvPr>
        </p:nvSpPr>
        <p:spPr>
          <a:xfrm>
            <a:off x="628650" y="-15875"/>
            <a:ext cx="7886700" cy="1118100"/>
          </a:xfrm>
          <a:prstGeom prst="rect">
            <a:avLst/>
          </a:prstGeom>
        </p:spPr>
        <p:txBody>
          <a:bodyPr spcFirstLastPara="1" wrap="square" lIns="432000" tIns="45700" rIns="4320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NZ" dirty="0"/>
              <a:t>6. Respect People</a:t>
            </a:r>
            <a:endParaRPr dirty="0"/>
          </a:p>
        </p:txBody>
      </p:sp>
      <p:sp>
        <p:nvSpPr>
          <p:cNvPr id="139" name="Google Shape;139;p17"/>
          <p:cNvSpPr txBox="1">
            <a:spLocks noGrp="1"/>
          </p:cNvSpPr>
          <p:nvPr>
            <p:ph type="body" idx="1"/>
          </p:nvPr>
        </p:nvSpPr>
        <p:spPr>
          <a:xfrm>
            <a:off x="628650" y="1044100"/>
            <a:ext cx="8191800" cy="494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91490" algn="l" rtl="0">
              <a:spcBef>
                <a:spcPts val="750"/>
              </a:spcBef>
              <a:spcAft>
                <a:spcPts val="0"/>
              </a:spcAft>
              <a:buSzPts val="4140"/>
              <a:buChar char="▪"/>
            </a:pPr>
            <a:r>
              <a:rPr lang="en-NZ" sz="3500" dirty="0"/>
              <a:t>Often the most </a:t>
            </a:r>
            <a:r>
              <a:rPr lang="en-NZ" sz="3500" i="1" dirty="0"/>
              <a:t>neglected </a:t>
            </a:r>
            <a:r>
              <a:rPr lang="en-NZ" sz="3500" dirty="0"/>
              <a:t>principle</a:t>
            </a:r>
            <a:endParaRPr sz="3500" dirty="0"/>
          </a:p>
          <a:p>
            <a:pPr marL="457200" lvl="0" indent="-491490" algn="l" rtl="0">
              <a:spcBef>
                <a:spcPts val="0"/>
              </a:spcBef>
              <a:spcAft>
                <a:spcPts val="0"/>
              </a:spcAft>
              <a:buSzPts val="4140"/>
              <a:buChar char="▪"/>
            </a:pPr>
            <a:r>
              <a:rPr lang="en-NZ" sz="3500" dirty="0"/>
              <a:t>Applies to every aspect of team operations </a:t>
            </a:r>
            <a:endParaRPr sz="3500" dirty="0"/>
          </a:p>
          <a:p>
            <a:pPr marL="457200" lvl="0" indent="-491490" algn="l" rtl="0">
              <a:spcBef>
                <a:spcPts val="0"/>
              </a:spcBef>
              <a:spcAft>
                <a:spcPts val="0"/>
              </a:spcAft>
              <a:buSzPts val="4140"/>
              <a:buChar char="▪"/>
            </a:pPr>
            <a:r>
              <a:rPr lang="en-NZ" sz="3500" dirty="0"/>
              <a:t>Respect can be encouraged by: </a:t>
            </a:r>
            <a:endParaRPr sz="3500" dirty="0"/>
          </a:p>
          <a:p>
            <a:pPr marL="914400" lvl="1" indent="-453390" algn="l" rtl="0">
              <a:spcBef>
                <a:spcPts val="0"/>
              </a:spcBef>
              <a:spcAft>
                <a:spcPts val="0"/>
              </a:spcAft>
              <a:buSzPts val="3540"/>
              <a:buChar char="−"/>
            </a:pPr>
            <a:r>
              <a:rPr lang="en-NZ" sz="3000" b="1" dirty="0"/>
              <a:t>communicating </a:t>
            </a:r>
            <a:r>
              <a:rPr lang="en-NZ" sz="3000" i="1" dirty="0"/>
              <a:t>proactively </a:t>
            </a:r>
            <a:r>
              <a:rPr lang="en-NZ" sz="3000" dirty="0"/>
              <a:t>and </a:t>
            </a:r>
            <a:r>
              <a:rPr lang="en-NZ" sz="3000" i="1" dirty="0"/>
              <a:t>effectively</a:t>
            </a:r>
            <a:endParaRPr sz="3000" i="1" dirty="0"/>
          </a:p>
          <a:p>
            <a:pPr marL="914400" lvl="1" indent="-453390" algn="l" rtl="0">
              <a:spcBef>
                <a:spcPts val="0"/>
              </a:spcBef>
              <a:spcAft>
                <a:spcPts val="0"/>
              </a:spcAft>
              <a:buSzPts val="3540"/>
              <a:buChar char="−"/>
            </a:pPr>
            <a:r>
              <a:rPr lang="en-NZ" sz="3000" dirty="0"/>
              <a:t>encouraging </a:t>
            </a:r>
            <a:r>
              <a:rPr lang="en-NZ" sz="3000" b="1" dirty="0"/>
              <a:t>healthy </a:t>
            </a:r>
            <a:r>
              <a:rPr lang="en-NZ" sz="3000" dirty="0"/>
              <a:t>conflict &amp; resolution </a:t>
            </a:r>
            <a:endParaRPr sz="3000" dirty="0"/>
          </a:p>
          <a:p>
            <a:pPr marL="914400" lvl="1" indent="-453390" algn="l" rtl="0">
              <a:spcBef>
                <a:spcPts val="0"/>
              </a:spcBef>
              <a:spcAft>
                <a:spcPts val="0"/>
              </a:spcAft>
              <a:buSzPts val="3540"/>
              <a:buChar char="−"/>
            </a:pPr>
            <a:r>
              <a:rPr lang="en-NZ" sz="3000" dirty="0"/>
              <a:t>handling problems as a </a:t>
            </a:r>
            <a:r>
              <a:rPr lang="en-NZ" sz="3000" b="1" dirty="0"/>
              <a:t>team </a:t>
            </a:r>
            <a:endParaRPr sz="3000" b="1" dirty="0"/>
          </a:p>
          <a:p>
            <a:pPr marL="914400" lvl="1" indent="-453390" algn="l" rtl="0">
              <a:spcBef>
                <a:spcPts val="0"/>
              </a:spcBef>
              <a:spcAft>
                <a:spcPts val="0"/>
              </a:spcAft>
              <a:buSzPts val="3540"/>
              <a:buChar char="−"/>
            </a:pPr>
            <a:r>
              <a:rPr lang="en-NZ" sz="3000" b="1" dirty="0"/>
              <a:t>empowering </a:t>
            </a:r>
            <a:r>
              <a:rPr lang="en-NZ" sz="3000" dirty="0"/>
              <a:t>each other to do their best work</a:t>
            </a:r>
            <a:endParaRPr sz="3000" dirty="0"/>
          </a:p>
        </p:txBody>
      </p:sp>
      <p:sp>
        <p:nvSpPr>
          <p:cNvPr id="140" name="Google Shape;140;p17"/>
          <p:cNvSpPr txBox="1">
            <a:spLocks noGrp="1"/>
          </p:cNvSpPr>
          <p:nvPr>
            <p:ph type="sldNum" idx="12"/>
          </p:nvPr>
        </p:nvSpPr>
        <p:spPr>
          <a:xfrm>
            <a:off x="750793" y="0"/>
            <a:ext cx="324300" cy="2856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NZ"/>
              <a:t>16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8"/>
          <p:cNvSpPr txBox="1">
            <a:spLocks noGrp="1"/>
          </p:cNvSpPr>
          <p:nvPr>
            <p:ph type="title"/>
          </p:nvPr>
        </p:nvSpPr>
        <p:spPr>
          <a:xfrm>
            <a:off x="628650" y="-15875"/>
            <a:ext cx="7886700" cy="1118100"/>
          </a:xfrm>
          <a:prstGeom prst="rect">
            <a:avLst/>
          </a:prstGeom>
        </p:spPr>
        <p:txBody>
          <a:bodyPr spcFirstLastPara="1" wrap="square" lIns="432000" tIns="45700" rIns="4320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NZ" dirty="0"/>
              <a:t>7. Optimise the Whole</a:t>
            </a:r>
            <a:endParaRPr dirty="0"/>
          </a:p>
        </p:txBody>
      </p:sp>
      <p:sp>
        <p:nvSpPr>
          <p:cNvPr id="147" name="Google Shape;147;p18"/>
          <p:cNvSpPr txBox="1">
            <a:spLocks noGrp="1"/>
          </p:cNvSpPr>
          <p:nvPr>
            <p:ph type="body" idx="1"/>
          </p:nvPr>
        </p:nvSpPr>
        <p:spPr>
          <a:xfrm>
            <a:off x="628650" y="1044100"/>
            <a:ext cx="8191800" cy="494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750"/>
              </a:spcBef>
              <a:spcAft>
                <a:spcPts val="0"/>
              </a:spcAft>
              <a:buNone/>
            </a:pPr>
            <a:r>
              <a:rPr lang="en-NZ" sz="2600" dirty="0"/>
              <a:t>Software Development is prone to 2 </a:t>
            </a:r>
            <a:r>
              <a:rPr lang="en-NZ" sz="2600" i="1" dirty="0"/>
              <a:t>vicious cycles</a:t>
            </a:r>
            <a:r>
              <a:rPr lang="en-NZ" sz="2600" dirty="0"/>
              <a:t>:</a:t>
            </a:r>
            <a:endParaRPr sz="2600" dirty="0"/>
          </a:p>
          <a:p>
            <a:pPr marL="457200" lvl="0" indent="-393700" algn="l" rtl="0">
              <a:spcBef>
                <a:spcPts val="750"/>
              </a:spcBef>
              <a:spcAft>
                <a:spcPts val="0"/>
              </a:spcAft>
              <a:buSzPts val="2600"/>
              <a:buChar char="▪"/>
            </a:pPr>
            <a:r>
              <a:rPr lang="en-NZ" sz="2600" i="1" dirty="0"/>
              <a:t>Sloppy </a:t>
            </a:r>
            <a:r>
              <a:rPr lang="en-NZ" sz="2600" dirty="0"/>
              <a:t>code for the sake of </a:t>
            </a:r>
            <a:r>
              <a:rPr lang="en-NZ" sz="2600" i="1" dirty="0"/>
              <a:t>speed</a:t>
            </a:r>
            <a:r>
              <a:rPr lang="en-NZ" sz="2600" dirty="0"/>
              <a:t>:</a:t>
            </a:r>
            <a:endParaRPr sz="2600" dirty="0"/>
          </a:p>
          <a:p>
            <a:pPr marL="914400" lvl="1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−"/>
            </a:pPr>
            <a:r>
              <a:rPr lang="en-NZ" sz="2600" dirty="0"/>
              <a:t>Increases code complexity ▸ more defects ▸ more work ▸pressure</a:t>
            </a:r>
            <a:endParaRPr sz="2600" dirty="0"/>
          </a:p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▪"/>
            </a:pPr>
            <a:r>
              <a:rPr lang="en-NZ" sz="2600" i="1" dirty="0"/>
              <a:t>Overloaded </a:t>
            </a:r>
            <a:r>
              <a:rPr lang="en-NZ" sz="2600" dirty="0"/>
              <a:t>testers:</a:t>
            </a:r>
            <a:endParaRPr sz="2600" dirty="0"/>
          </a:p>
          <a:p>
            <a:pPr marL="914400" lvl="1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−"/>
            </a:pPr>
            <a:r>
              <a:rPr lang="en-NZ" sz="2600" dirty="0"/>
              <a:t>Long cycle time between writing code and receiving feedback ▸defects are </a:t>
            </a:r>
            <a:r>
              <a:rPr lang="en-NZ" sz="2600" dirty="0" err="1"/>
              <a:t>built-in▸more</a:t>
            </a:r>
            <a:r>
              <a:rPr lang="en-NZ" sz="2600" dirty="0"/>
              <a:t> testing</a:t>
            </a:r>
            <a:endParaRPr sz="2600" dirty="0"/>
          </a:p>
          <a:p>
            <a:pPr marL="914400" lvl="0" indent="0" algn="l" rtl="0">
              <a:spcBef>
                <a:spcPts val="750"/>
              </a:spcBef>
              <a:spcAft>
                <a:spcPts val="0"/>
              </a:spcAft>
              <a:buNone/>
            </a:pPr>
            <a:endParaRPr sz="2600" dirty="0"/>
          </a:p>
          <a:p>
            <a:pPr marL="457200" lvl="0" indent="-393700" algn="l" rtl="0">
              <a:spcBef>
                <a:spcPts val="750"/>
              </a:spcBef>
              <a:spcAft>
                <a:spcPts val="0"/>
              </a:spcAft>
              <a:buSzPts val="2600"/>
              <a:buChar char="▪"/>
            </a:pPr>
            <a:r>
              <a:rPr lang="en-NZ" sz="2600" dirty="0"/>
              <a:t>The solution to this </a:t>
            </a:r>
            <a:r>
              <a:rPr lang="en-NZ" sz="2600" b="1" i="1" dirty="0"/>
              <a:t>sub-optimization</a:t>
            </a:r>
            <a:r>
              <a:rPr lang="en-NZ" sz="2600" dirty="0"/>
              <a:t>:</a:t>
            </a:r>
            <a:endParaRPr sz="2600" dirty="0"/>
          </a:p>
          <a:p>
            <a:pPr marL="914400" lvl="1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−"/>
            </a:pPr>
            <a:r>
              <a:rPr lang="en-NZ" sz="2600" dirty="0"/>
              <a:t>Eliminate vicious cycles by understanding capacity &amp; overall flow of value stream.</a:t>
            </a:r>
            <a:endParaRPr sz="2600" dirty="0"/>
          </a:p>
          <a:p>
            <a:pPr marL="914400" lvl="1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−"/>
            </a:pPr>
            <a:r>
              <a:rPr lang="en-NZ" sz="2600" dirty="0"/>
              <a:t>Teams are multi-disciplined, co-located, empowered to deliver value from start to finish</a:t>
            </a:r>
            <a:endParaRPr sz="2600" dirty="0"/>
          </a:p>
        </p:txBody>
      </p:sp>
      <p:sp>
        <p:nvSpPr>
          <p:cNvPr id="148" name="Google Shape;148;p18"/>
          <p:cNvSpPr txBox="1">
            <a:spLocks noGrp="1"/>
          </p:cNvSpPr>
          <p:nvPr>
            <p:ph type="sldNum" idx="12"/>
          </p:nvPr>
        </p:nvSpPr>
        <p:spPr>
          <a:xfrm>
            <a:off x="750793" y="0"/>
            <a:ext cx="324300" cy="2856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NZ"/>
              <a:t>17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2"/>
          <p:cNvSpPr txBox="1">
            <a:spLocks noGrp="1"/>
          </p:cNvSpPr>
          <p:nvPr>
            <p:ph type="title"/>
          </p:nvPr>
        </p:nvSpPr>
        <p:spPr>
          <a:xfrm>
            <a:off x="628650" y="-15875"/>
            <a:ext cx="7886700" cy="1118100"/>
          </a:xfrm>
          <a:prstGeom prst="rect">
            <a:avLst/>
          </a:prstGeom>
        </p:spPr>
        <p:txBody>
          <a:bodyPr spcFirstLastPara="1" wrap="square" lIns="432000" tIns="45700" rIns="4320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NZ"/>
              <a:t>Kanban</a:t>
            </a:r>
            <a:endParaRPr/>
          </a:p>
        </p:txBody>
      </p:sp>
      <p:sp>
        <p:nvSpPr>
          <p:cNvPr id="183" name="Google Shape;183;p22"/>
          <p:cNvSpPr txBox="1">
            <a:spLocks noGrp="1"/>
          </p:cNvSpPr>
          <p:nvPr>
            <p:ph type="body" idx="1"/>
          </p:nvPr>
        </p:nvSpPr>
        <p:spPr>
          <a:xfrm>
            <a:off x="628650" y="815500"/>
            <a:ext cx="8191800" cy="555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66090" algn="l" rtl="0">
              <a:spcBef>
                <a:spcPts val="750"/>
              </a:spcBef>
              <a:spcAft>
                <a:spcPts val="0"/>
              </a:spcAft>
              <a:buSzPts val="3740"/>
              <a:buChar char="▪"/>
            </a:pPr>
            <a:r>
              <a:rPr lang="en-NZ" sz="3100" dirty="0"/>
              <a:t>Japanese for “</a:t>
            </a:r>
            <a:r>
              <a:rPr lang="en-NZ" sz="3100" b="1" dirty="0"/>
              <a:t>billboard</a:t>
            </a:r>
            <a:r>
              <a:rPr lang="en-NZ" sz="3100" dirty="0"/>
              <a:t>”</a:t>
            </a:r>
            <a:endParaRPr sz="3100" dirty="0"/>
          </a:p>
          <a:p>
            <a:pPr marL="457200" lvl="0" indent="-466090" algn="l" rtl="0">
              <a:spcBef>
                <a:spcPts val="0"/>
              </a:spcBef>
              <a:spcAft>
                <a:spcPts val="0"/>
              </a:spcAft>
              <a:buSzPts val="3740"/>
              <a:buChar char="▪"/>
            </a:pPr>
            <a:endParaRPr lang="en-NZ" sz="3100" dirty="0"/>
          </a:p>
          <a:p>
            <a:pPr marL="457200" lvl="0" indent="-466090" algn="l" rtl="0">
              <a:spcBef>
                <a:spcPts val="0"/>
              </a:spcBef>
              <a:spcAft>
                <a:spcPts val="0"/>
              </a:spcAft>
              <a:buSzPts val="3740"/>
              <a:buChar char="▪"/>
            </a:pPr>
            <a:r>
              <a:rPr lang="en-NZ" sz="3100" dirty="0"/>
              <a:t>Developed by </a:t>
            </a:r>
            <a:r>
              <a:rPr lang="en-NZ" sz="3100" i="1" dirty="0"/>
              <a:t>Taiichi Ohno to</a:t>
            </a:r>
            <a:r>
              <a:rPr lang="en-NZ" sz="3100" dirty="0"/>
              <a:t> </a:t>
            </a:r>
            <a:r>
              <a:rPr lang="en-NZ" sz="3100" b="1" dirty="0"/>
              <a:t>improve efficiency</a:t>
            </a:r>
            <a:r>
              <a:rPr lang="en-NZ" sz="3100" dirty="0"/>
              <a:t> at Toyota.</a:t>
            </a:r>
          </a:p>
          <a:p>
            <a:pPr marL="457200" lvl="0" indent="-466090" algn="l" rtl="0">
              <a:spcBef>
                <a:spcPts val="0"/>
              </a:spcBef>
              <a:spcAft>
                <a:spcPts val="0"/>
              </a:spcAft>
              <a:buSzPts val="3740"/>
              <a:buChar char="▪"/>
            </a:pPr>
            <a:endParaRPr sz="3100" dirty="0"/>
          </a:p>
          <a:p>
            <a:pPr marL="457200" lvl="0" indent="-466090" algn="l" rtl="0">
              <a:spcBef>
                <a:spcPts val="0"/>
              </a:spcBef>
              <a:spcAft>
                <a:spcPts val="0"/>
              </a:spcAft>
              <a:buSzPts val="3740"/>
              <a:buChar char="▪"/>
            </a:pPr>
            <a:r>
              <a:rPr lang="en-NZ" sz="3100" dirty="0"/>
              <a:t>Focussed on </a:t>
            </a:r>
            <a:r>
              <a:rPr lang="en-NZ" sz="3100" b="1" dirty="0"/>
              <a:t>visualising </a:t>
            </a:r>
            <a:r>
              <a:rPr lang="en-NZ" sz="3100" dirty="0"/>
              <a:t>workflow </a:t>
            </a:r>
          </a:p>
          <a:p>
            <a:pPr marL="457200" lvl="0" indent="-466090" algn="l" rtl="0">
              <a:spcBef>
                <a:spcPts val="0"/>
              </a:spcBef>
              <a:spcAft>
                <a:spcPts val="0"/>
              </a:spcAft>
              <a:buSzPts val="3740"/>
              <a:buChar char="▪"/>
            </a:pPr>
            <a:endParaRPr lang="en-NZ" sz="3100" dirty="0"/>
          </a:p>
          <a:p>
            <a:pPr marL="457200" lvl="0" indent="-466090" algn="l" rtl="0">
              <a:spcBef>
                <a:spcPts val="0"/>
              </a:spcBef>
              <a:spcAft>
                <a:spcPts val="0"/>
              </a:spcAft>
              <a:buSzPts val="3740"/>
              <a:buChar char="▪"/>
            </a:pPr>
            <a:r>
              <a:rPr lang="en-NZ" sz="3100" dirty="0"/>
              <a:t>Uses a </a:t>
            </a:r>
            <a:r>
              <a:rPr lang="en-NZ" sz="3100" b="1" i="1" dirty="0"/>
              <a:t>“pull”</a:t>
            </a:r>
            <a:r>
              <a:rPr lang="en-NZ" sz="3100" dirty="0"/>
              <a:t> system based on </a:t>
            </a:r>
            <a:r>
              <a:rPr lang="en-NZ" sz="3100" b="1" dirty="0"/>
              <a:t>need</a:t>
            </a:r>
            <a:r>
              <a:rPr lang="en-NZ" sz="3100" dirty="0"/>
              <a:t>, rather than a “</a:t>
            </a:r>
            <a:r>
              <a:rPr lang="en-NZ" sz="3100" i="1" dirty="0"/>
              <a:t>push”</a:t>
            </a:r>
            <a:r>
              <a:rPr lang="en-NZ" sz="3100" dirty="0"/>
              <a:t> model based on </a:t>
            </a:r>
            <a:r>
              <a:rPr lang="en-NZ" sz="3100" i="1" dirty="0"/>
              <a:t>forecasts</a:t>
            </a:r>
            <a:r>
              <a:rPr lang="en-NZ" sz="3100" dirty="0"/>
              <a:t>.</a:t>
            </a:r>
          </a:p>
          <a:p>
            <a:pPr marL="457200" lvl="0" indent="-466090" algn="l" rtl="0">
              <a:spcBef>
                <a:spcPts val="0"/>
              </a:spcBef>
              <a:spcAft>
                <a:spcPts val="0"/>
              </a:spcAft>
              <a:buSzPts val="3740"/>
              <a:buChar char="▪"/>
            </a:pPr>
            <a:endParaRPr sz="3100" dirty="0"/>
          </a:p>
          <a:p>
            <a:pPr marL="457200" lvl="0" indent="-466090" algn="l" rtl="0">
              <a:spcBef>
                <a:spcPts val="0"/>
              </a:spcBef>
              <a:spcAft>
                <a:spcPts val="0"/>
              </a:spcAft>
              <a:buSzPts val="3740"/>
              <a:buChar char="▪"/>
            </a:pPr>
            <a:r>
              <a:rPr lang="en-NZ" sz="3100" dirty="0"/>
              <a:t>Practices should be </a:t>
            </a:r>
            <a:r>
              <a:rPr lang="en-NZ" sz="3100" b="1" dirty="0"/>
              <a:t>strictly </a:t>
            </a:r>
            <a:r>
              <a:rPr lang="en-NZ" sz="3100" dirty="0"/>
              <a:t>followed to be more likely to succeed.</a:t>
            </a:r>
            <a:endParaRPr sz="3100" dirty="0"/>
          </a:p>
        </p:txBody>
      </p:sp>
      <p:sp>
        <p:nvSpPr>
          <p:cNvPr id="184" name="Google Shape;184;p22"/>
          <p:cNvSpPr txBox="1">
            <a:spLocks noGrp="1"/>
          </p:cNvSpPr>
          <p:nvPr>
            <p:ph type="sldNum" idx="12"/>
          </p:nvPr>
        </p:nvSpPr>
        <p:spPr>
          <a:xfrm>
            <a:off x="750793" y="0"/>
            <a:ext cx="324300" cy="2856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NZ"/>
              <a:t>18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5"/>
          <p:cNvSpPr txBox="1">
            <a:spLocks noGrp="1"/>
          </p:cNvSpPr>
          <p:nvPr>
            <p:ph type="title"/>
          </p:nvPr>
        </p:nvSpPr>
        <p:spPr>
          <a:xfrm>
            <a:off x="628650" y="-15875"/>
            <a:ext cx="7886700" cy="1118100"/>
          </a:xfrm>
          <a:prstGeom prst="rect">
            <a:avLst/>
          </a:prstGeom>
        </p:spPr>
        <p:txBody>
          <a:bodyPr spcFirstLastPara="1" wrap="square" lIns="432000" tIns="45700" rIns="4320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NZ"/>
              <a:t>Foundational Kanban Principles</a:t>
            </a:r>
            <a:endParaRPr/>
          </a:p>
        </p:txBody>
      </p:sp>
      <p:sp>
        <p:nvSpPr>
          <p:cNvPr id="207" name="Google Shape;207;p25"/>
          <p:cNvSpPr txBox="1">
            <a:spLocks noGrp="1"/>
          </p:cNvSpPr>
          <p:nvPr>
            <p:ph type="body" idx="1"/>
          </p:nvPr>
        </p:nvSpPr>
        <p:spPr>
          <a:xfrm>
            <a:off x="628650" y="1044100"/>
            <a:ext cx="8191800" cy="494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750"/>
              </a:spcBef>
              <a:spcAft>
                <a:spcPts val="0"/>
              </a:spcAft>
              <a:buNone/>
            </a:pPr>
            <a:r>
              <a:rPr lang="en-NZ" sz="2800" b="1" i="1"/>
              <a:t>Change Management</a:t>
            </a:r>
            <a:r>
              <a:rPr lang="en-NZ" sz="2800"/>
              <a:t> principles:</a:t>
            </a:r>
            <a:endParaRPr sz="2800"/>
          </a:p>
          <a:p>
            <a:pPr marL="457200" lvl="0" indent="-447040" algn="l" rtl="0">
              <a:spcBef>
                <a:spcPts val="750"/>
              </a:spcBef>
              <a:spcAft>
                <a:spcPts val="0"/>
              </a:spcAft>
              <a:buSzPts val="3440"/>
              <a:buChar char="▪"/>
            </a:pPr>
            <a:r>
              <a:rPr lang="en-NZ" sz="2800"/>
              <a:t>Start with what you do </a:t>
            </a:r>
            <a:r>
              <a:rPr lang="en-NZ" sz="2800" b="1"/>
              <a:t>NOW </a:t>
            </a:r>
            <a:endParaRPr sz="2800" b="1"/>
          </a:p>
          <a:p>
            <a:pPr marL="457200" lvl="0" indent="-447040" algn="l" rtl="0">
              <a:spcBef>
                <a:spcPts val="0"/>
              </a:spcBef>
              <a:spcAft>
                <a:spcPts val="0"/>
              </a:spcAft>
              <a:buSzPts val="3440"/>
              <a:buChar char="▪"/>
            </a:pPr>
            <a:r>
              <a:rPr lang="en-NZ" sz="2800"/>
              <a:t>Agree to pursue improvement through </a:t>
            </a:r>
            <a:r>
              <a:rPr lang="en-NZ" sz="2800" b="1"/>
              <a:t>evolutionary change</a:t>
            </a:r>
            <a:endParaRPr sz="2800" b="1"/>
          </a:p>
          <a:p>
            <a:pPr marL="457200" lvl="0" indent="-447040" algn="l" rtl="0">
              <a:spcBef>
                <a:spcPts val="0"/>
              </a:spcBef>
              <a:spcAft>
                <a:spcPts val="0"/>
              </a:spcAft>
              <a:buSzPts val="3440"/>
              <a:buChar char="▪"/>
            </a:pPr>
            <a:r>
              <a:rPr lang="en-NZ" sz="2800"/>
              <a:t>Encourage acts of </a:t>
            </a:r>
            <a:r>
              <a:rPr lang="en-NZ" sz="2800" b="1"/>
              <a:t>leadership </a:t>
            </a:r>
            <a:r>
              <a:rPr lang="en-NZ" sz="2800"/>
              <a:t>at every level</a:t>
            </a:r>
            <a:endParaRPr sz="2800"/>
          </a:p>
          <a:p>
            <a:pPr marL="0" lvl="0" indent="0" algn="l" rtl="0">
              <a:spcBef>
                <a:spcPts val="750"/>
              </a:spcBef>
              <a:spcAft>
                <a:spcPts val="0"/>
              </a:spcAft>
              <a:buNone/>
            </a:pPr>
            <a:r>
              <a:rPr lang="en-NZ" sz="2800" b="1" i="1"/>
              <a:t>Service Delivery </a:t>
            </a:r>
            <a:r>
              <a:rPr lang="en-NZ" sz="2800"/>
              <a:t>principles:</a:t>
            </a:r>
            <a:endParaRPr sz="2800"/>
          </a:p>
          <a:p>
            <a:pPr marL="457200" lvl="0" indent="-447040" algn="l" rtl="0">
              <a:spcBef>
                <a:spcPts val="750"/>
              </a:spcBef>
              <a:spcAft>
                <a:spcPts val="0"/>
              </a:spcAft>
              <a:buSzPts val="3440"/>
              <a:buChar char="▪"/>
            </a:pPr>
            <a:r>
              <a:rPr lang="en-NZ" sz="2800"/>
              <a:t>Understand and focus on </a:t>
            </a:r>
            <a:r>
              <a:rPr lang="en-NZ" sz="2800" b="1"/>
              <a:t>customer </a:t>
            </a:r>
            <a:r>
              <a:rPr lang="en-NZ" sz="2800"/>
              <a:t>needs and expectations</a:t>
            </a:r>
            <a:endParaRPr sz="2800"/>
          </a:p>
          <a:p>
            <a:pPr marL="457200" lvl="0" indent="-447040" algn="l" rtl="0">
              <a:spcBef>
                <a:spcPts val="0"/>
              </a:spcBef>
              <a:spcAft>
                <a:spcPts val="0"/>
              </a:spcAft>
              <a:buSzPts val="3440"/>
              <a:buChar char="▪"/>
            </a:pPr>
            <a:r>
              <a:rPr lang="en-NZ" sz="2800"/>
              <a:t>Manage the </a:t>
            </a:r>
            <a:r>
              <a:rPr lang="en-NZ" sz="2800" b="1"/>
              <a:t>work</a:t>
            </a:r>
            <a:r>
              <a:rPr lang="en-NZ" sz="2800"/>
              <a:t>, let people </a:t>
            </a:r>
            <a:r>
              <a:rPr lang="en-NZ" sz="2800" i="1"/>
              <a:t>self-organise</a:t>
            </a:r>
            <a:r>
              <a:rPr lang="en-NZ" sz="2800"/>
              <a:t> around it</a:t>
            </a:r>
            <a:endParaRPr sz="2800"/>
          </a:p>
          <a:p>
            <a:pPr marL="457200" lvl="0" indent="-447040" algn="l" rtl="0">
              <a:spcBef>
                <a:spcPts val="0"/>
              </a:spcBef>
              <a:spcAft>
                <a:spcPts val="0"/>
              </a:spcAft>
              <a:buSzPts val="3440"/>
              <a:buChar char="▪"/>
            </a:pPr>
            <a:r>
              <a:rPr lang="en-NZ" sz="2800"/>
              <a:t>Evolve </a:t>
            </a:r>
            <a:r>
              <a:rPr lang="en-NZ" sz="2800" b="1"/>
              <a:t>policies</a:t>
            </a:r>
            <a:r>
              <a:rPr lang="en-NZ" sz="2800"/>
              <a:t> to improve outcomes</a:t>
            </a:r>
            <a:endParaRPr sz="2800"/>
          </a:p>
        </p:txBody>
      </p:sp>
      <p:sp>
        <p:nvSpPr>
          <p:cNvPr id="208" name="Google Shape;208;p25"/>
          <p:cNvSpPr txBox="1">
            <a:spLocks noGrp="1"/>
          </p:cNvSpPr>
          <p:nvPr>
            <p:ph type="sldNum" idx="12"/>
          </p:nvPr>
        </p:nvSpPr>
        <p:spPr>
          <a:xfrm>
            <a:off x="750793" y="0"/>
            <a:ext cx="324300" cy="2856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Z"/>
              <a:t>19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6"/>
          <p:cNvSpPr txBox="1">
            <a:spLocks noGrp="1"/>
          </p:cNvSpPr>
          <p:nvPr>
            <p:ph type="title"/>
          </p:nvPr>
        </p:nvSpPr>
        <p:spPr>
          <a:xfrm>
            <a:off x="628650" y="-15875"/>
            <a:ext cx="7886700" cy="1118100"/>
          </a:xfrm>
          <a:prstGeom prst="rect">
            <a:avLst/>
          </a:prstGeom>
        </p:spPr>
        <p:txBody>
          <a:bodyPr spcFirstLastPara="1" wrap="square" lIns="432000" tIns="45700" rIns="4320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NZ" dirty="0"/>
              <a:t>Practices of Kanban 1: Visualise</a:t>
            </a:r>
            <a:endParaRPr dirty="0"/>
          </a:p>
        </p:txBody>
      </p:sp>
      <p:sp>
        <p:nvSpPr>
          <p:cNvPr id="215" name="Google Shape;215;p26"/>
          <p:cNvSpPr txBox="1">
            <a:spLocks noGrp="1"/>
          </p:cNvSpPr>
          <p:nvPr>
            <p:ph type="body" idx="1"/>
          </p:nvPr>
        </p:nvSpPr>
        <p:spPr>
          <a:xfrm>
            <a:off x="628650" y="1044100"/>
            <a:ext cx="8191800" cy="494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72440" algn="l" rtl="0">
              <a:spcBef>
                <a:spcPts val="750"/>
              </a:spcBef>
              <a:spcAft>
                <a:spcPts val="0"/>
              </a:spcAft>
              <a:buSzPts val="3840"/>
              <a:buChar char="▪"/>
            </a:pPr>
            <a:r>
              <a:rPr lang="en-NZ"/>
              <a:t>Use a board with </a:t>
            </a:r>
            <a:r>
              <a:rPr lang="en-NZ" b="1"/>
              <a:t>Cards </a:t>
            </a:r>
            <a:r>
              <a:rPr lang="en-NZ"/>
              <a:t>and </a:t>
            </a:r>
            <a:r>
              <a:rPr lang="en-NZ" b="1"/>
              <a:t>Columns</a:t>
            </a:r>
            <a:endParaRPr b="1"/>
          </a:p>
          <a:p>
            <a:pPr marL="457200" lvl="0" indent="-472440" algn="l" rtl="0">
              <a:spcBef>
                <a:spcPts val="0"/>
              </a:spcBef>
              <a:spcAft>
                <a:spcPts val="0"/>
              </a:spcAft>
              <a:buSzPts val="3840"/>
              <a:buChar char="▪"/>
            </a:pPr>
            <a:r>
              <a:rPr lang="en-NZ"/>
              <a:t>Each </a:t>
            </a:r>
            <a:r>
              <a:rPr lang="en-NZ" i="1"/>
              <a:t>card </a:t>
            </a:r>
            <a:r>
              <a:rPr lang="en-NZ"/>
              <a:t>is a </a:t>
            </a:r>
            <a:r>
              <a:rPr lang="en-NZ" b="1"/>
              <a:t>work item</a:t>
            </a:r>
            <a:endParaRPr b="1"/>
          </a:p>
          <a:p>
            <a:pPr marL="457200" lvl="0" indent="-472440" algn="l" rtl="0">
              <a:spcBef>
                <a:spcPts val="0"/>
              </a:spcBef>
              <a:spcAft>
                <a:spcPts val="0"/>
              </a:spcAft>
              <a:buSzPts val="3840"/>
              <a:buChar char="▪"/>
            </a:pPr>
            <a:r>
              <a:rPr lang="en-NZ"/>
              <a:t>Each </a:t>
            </a:r>
            <a:r>
              <a:rPr lang="en-NZ" i="1"/>
              <a:t>Column </a:t>
            </a:r>
            <a:r>
              <a:rPr lang="en-NZ"/>
              <a:t>is a </a:t>
            </a:r>
            <a:r>
              <a:rPr lang="en-NZ" b="1"/>
              <a:t>workflow step</a:t>
            </a:r>
            <a:endParaRPr b="1"/>
          </a:p>
        </p:txBody>
      </p:sp>
      <p:sp>
        <p:nvSpPr>
          <p:cNvPr id="216" name="Google Shape;216;p26"/>
          <p:cNvSpPr txBox="1">
            <a:spLocks noGrp="1"/>
          </p:cNvSpPr>
          <p:nvPr>
            <p:ph type="sldNum" idx="12"/>
          </p:nvPr>
        </p:nvSpPr>
        <p:spPr>
          <a:xfrm>
            <a:off x="750793" y="0"/>
            <a:ext cx="324300" cy="2856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NZ"/>
              <a:t>20</a:t>
            </a:fld>
            <a:endParaRPr/>
          </a:p>
        </p:txBody>
      </p:sp>
      <p:pic>
        <p:nvPicPr>
          <p:cNvPr id="217" name="Google Shape;21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6718" y="2875925"/>
            <a:ext cx="5215671" cy="3109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B491B0F8-6D45-8AD8-76C2-0616FD04ED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55" r="2660" b="5164"/>
          <a:stretch>
            <a:fillRect/>
          </a:stretch>
        </p:blipFill>
        <p:spPr>
          <a:xfrm>
            <a:off x="2821021" y="1102224"/>
            <a:ext cx="6040878" cy="30368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840A910-070F-CB7C-5936-3619F5E8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Practices of Kanban 1: Visualise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355BF1-FD8E-B88C-4B3B-4B7FD00B530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Z" smtClean="0"/>
              <a:t>21</a:t>
            </a:fld>
            <a:endParaRPr lang="en-NZ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74C2A7C-81F2-EA56-FEC9-18D301144F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834" y="3868074"/>
            <a:ext cx="4095346" cy="2144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F9E3929-1E02-3AC4-8698-992A49BEF44E}"/>
              </a:ext>
            </a:extLst>
          </p:cNvPr>
          <p:cNvSpPr txBox="1"/>
          <p:nvPr/>
        </p:nvSpPr>
        <p:spPr>
          <a:xfrm>
            <a:off x="830093" y="6013011"/>
            <a:ext cx="457443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Z" sz="900" dirty="0">
                <a:hlinkClick r:id="rId4"/>
              </a:rPr>
              <a:t>https://en.wikipedia.org/wiki/Kanban_board/</a:t>
            </a:r>
            <a:r>
              <a:rPr lang="en-NZ" sz="900" dirty="0"/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9460A1-0E8A-7BA2-984B-6C97BCE13909}"/>
              </a:ext>
            </a:extLst>
          </p:cNvPr>
          <p:cNvSpPr txBox="1"/>
          <p:nvPr/>
        </p:nvSpPr>
        <p:spPr>
          <a:xfrm>
            <a:off x="2738902" y="856004"/>
            <a:ext cx="490618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Z" sz="1000" dirty="0">
                <a:hlinkClick r:id="rId5"/>
              </a:rPr>
              <a:t>https://www.geeksforgeeks.org/software-engineering/what-is-kanban-board/</a:t>
            </a:r>
            <a:r>
              <a:rPr lang="en-NZ" sz="1000" dirty="0"/>
              <a:t>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F9C0C2D-BB9A-BFDE-6055-3315C11934FD}"/>
              </a:ext>
            </a:extLst>
          </p:cNvPr>
          <p:cNvSpPr/>
          <p:nvPr/>
        </p:nvSpPr>
        <p:spPr>
          <a:xfrm>
            <a:off x="4983480" y="3130322"/>
            <a:ext cx="3487420" cy="67961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Critical</a:t>
            </a:r>
            <a:endParaRPr lang="en-NZ" sz="90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F7F323-7AD1-B205-A081-9590B1EFC860}"/>
              </a:ext>
            </a:extLst>
          </p:cNvPr>
          <p:cNvSpPr txBox="1"/>
          <p:nvPr/>
        </p:nvSpPr>
        <p:spPr>
          <a:xfrm>
            <a:off x="6479202" y="3831343"/>
            <a:ext cx="9621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Swimlane</a:t>
            </a:r>
            <a:endParaRPr lang="en-NZ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1FCC48A-BF97-FCA2-4E2B-BF826FFEC3A1}"/>
              </a:ext>
            </a:extLst>
          </p:cNvPr>
          <p:cNvCxnSpPr>
            <a:cxnSpLocks/>
            <a:stCxn id="5" idx="0"/>
            <a:endCxn id="3" idx="2"/>
          </p:cNvCxnSpPr>
          <p:nvPr/>
        </p:nvCxnSpPr>
        <p:spPr>
          <a:xfrm flipH="1" flipV="1">
            <a:off x="6727190" y="3198283"/>
            <a:ext cx="233074" cy="63306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8D8EFDF-AA2A-E3ED-981B-E57086260081}"/>
              </a:ext>
            </a:extLst>
          </p:cNvPr>
          <p:cNvSpPr txBox="1"/>
          <p:nvPr/>
        </p:nvSpPr>
        <p:spPr>
          <a:xfrm>
            <a:off x="6620933" y="2048707"/>
            <a:ext cx="162984" cy="2308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rgbClr val="FFFF00"/>
                </a:solidFill>
              </a:rPr>
              <a:t>3</a:t>
            </a:r>
            <a:endParaRPr lang="en-NZ" sz="900" dirty="0">
              <a:solidFill>
                <a:srgbClr val="FFFF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D4E4ACF-40BE-3DDF-7588-6B0F8F31BDCB}"/>
              </a:ext>
            </a:extLst>
          </p:cNvPr>
          <p:cNvSpPr txBox="1"/>
          <p:nvPr/>
        </p:nvSpPr>
        <p:spPr>
          <a:xfrm>
            <a:off x="7586642" y="1279916"/>
            <a:ext cx="9621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WIP limit</a:t>
            </a:r>
            <a:endParaRPr lang="en-NZ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0ACC1BF-CAE5-BBE5-59EE-C02B25C13BB1}"/>
              </a:ext>
            </a:extLst>
          </p:cNvPr>
          <p:cNvCxnSpPr>
            <a:cxnSpLocks/>
            <a:stCxn id="14" idx="2"/>
          </p:cNvCxnSpPr>
          <p:nvPr/>
        </p:nvCxnSpPr>
        <p:spPr>
          <a:xfrm flipH="1">
            <a:off x="6800850" y="1587693"/>
            <a:ext cx="1266854" cy="46101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29473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7"/>
          <p:cNvSpPr txBox="1">
            <a:spLocks noGrp="1"/>
          </p:cNvSpPr>
          <p:nvPr>
            <p:ph type="title"/>
          </p:nvPr>
        </p:nvSpPr>
        <p:spPr>
          <a:xfrm>
            <a:off x="628650" y="-15875"/>
            <a:ext cx="7886700" cy="1118100"/>
          </a:xfrm>
          <a:prstGeom prst="rect">
            <a:avLst/>
          </a:prstGeom>
        </p:spPr>
        <p:txBody>
          <a:bodyPr spcFirstLastPara="1" wrap="square" lIns="432000" tIns="45700" rIns="4320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NZ"/>
              <a:t>Practices of Kanban 2: Limit WiP</a:t>
            </a:r>
            <a:endParaRPr/>
          </a:p>
        </p:txBody>
      </p:sp>
      <p:sp>
        <p:nvSpPr>
          <p:cNvPr id="224" name="Google Shape;224;p27"/>
          <p:cNvSpPr txBox="1">
            <a:spLocks noGrp="1"/>
          </p:cNvSpPr>
          <p:nvPr>
            <p:ph type="body" idx="1"/>
          </p:nvPr>
        </p:nvSpPr>
        <p:spPr>
          <a:xfrm>
            <a:off x="628650" y="1044100"/>
            <a:ext cx="8191800" cy="494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72440" algn="l" rtl="0">
              <a:spcBef>
                <a:spcPts val="750"/>
              </a:spcBef>
              <a:spcAft>
                <a:spcPts val="0"/>
              </a:spcAft>
              <a:buSzPts val="3840"/>
              <a:buChar char="▪"/>
            </a:pPr>
            <a:r>
              <a:rPr lang="en-NZ"/>
              <a:t>Multitasking is </a:t>
            </a:r>
            <a:r>
              <a:rPr lang="en-NZ" b="1"/>
              <a:t>inefficient </a:t>
            </a:r>
            <a:r>
              <a:rPr lang="en-NZ"/>
              <a:t>&amp; harmful to </a:t>
            </a:r>
            <a:r>
              <a:rPr lang="en-NZ" b="1"/>
              <a:t>progress</a:t>
            </a:r>
            <a:endParaRPr b="1"/>
          </a:p>
          <a:p>
            <a:pPr marL="457200" lvl="0" indent="-472440" algn="l" rtl="0">
              <a:spcBef>
                <a:spcPts val="0"/>
              </a:spcBef>
              <a:spcAft>
                <a:spcPts val="0"/>
              </a:spcAft>
              <a:buSzPts val="3840"/>
              <a:buChar char="▪"/>
            </a:pPr>
            <a:r>
              <a:rPr lang="en-NZ"/>
              <a:t>Cards can only be </a:t>
            </a:r>
            <a:r>
              <a:rPr lang="en-NZ" i="1"/>
              <a:t>pulled </a:t>
            </a:r>
            <a:r>
              <a:rPr lang="en-NZ"/>
              <a:t>into a column when there is </a:t>
            </a:r>
            <a:r>
              <a:rPr lang="en-NZ" b="1"/>
              <a:t>capacity </a:t>
            </a:r>
            <a:r>
              <a:rPr lang="en-NZ"/>
              <a:t>to do so.</a:t>
            </a:r>
            <a:endParaRPr/>
          </a:p>
          <a:p>
            <a:pPr marL="457200" lvl="0" indent="-472440" algn="l" rtl="0">
              <a:spcBef>
                <a:spcPts val="0"/>
              </a:spcBef>
              <a:spcAft>
                <a:spcPts val="0"/>
              </a:spcAft>
              <a:buSzPts val="3840"/>
              <a:buChar char="▪"/>
            </a:pPr>
            <a:r>
              <a:rPr lang="en-NZ" i="1"/>
              <a:t>WiP limits</a:t>
            </a:r>
            <a:r>
              <a:rPr lang="en-NZ"/>
              <a:t> help reveal </a:t>
            </a:r>
            <a:r>
              <a:rPr lang="en-NZ" b="1"/>
              <a:t>bottlenecks</a:t>
            </a:r>
            <a:endParaRPr b="1"/>
          </a:p>
          <a:p>
            <a:pPr marL="457200" lvl="0" indent="-472440" algn="l" rtl="0">
              <a:spcBef>
                <a:spcPts val="0"/>
              </a:spcBef>
              <a:spcAft>
                <a:spcPts val="0"/>
              </a:spcAft>
              <a:buSzPts val="3840"/>
              <a:buChar char="▪"/>
            </a:pPr>
            <a:r>
              <a:rPr lang="en-NZ"/>
              <a:t>Probably the most important practice of Kanban.</a:t>
            </a:r>
            <a:endParaRPr/>
          </a:p>
          <a:p>
            <a:pPr marL="0" lvl="0" indent="0" algn="l" rtl="0">
              <a:spcBef>
                <a:spcPts val="75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27"/>
          <p:cNvSpPr txBox="1">
            <a:spLocks noGrp="1"/>
          </p:cNvSpPr>
          <p:nvPr>
            <p:ph type="sldNum" idx="12"/>
          </p:nvPr>
        </p:nvSpPr>
        <p:spPr>
          <a:xfrm>
            <a:off x="750793" y="0"/>
            <a:ext cx="324300" cy="2856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Z"/>
              <a:t>22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8"/>
          <p:cNvSpPr txBox="1">
            <a:spLocks noGrp="1"/>
          </p:cNvSpPr>
          <p:nvPr>
            <p:ph type="title"/>
          </p:nvPr>
        </p:nvSpPr>
        <p:spPr>
          <a:xfrm>
            <a:off x="628650" y="-15875"/>
            <a:ext cx="7886700" cy="1118100"/>
          </a:xfrm>
          <a:prstGeom prst="rect">
            <a:avLst/>
          </a:prstGeom>
        </p:spPr>
        <p:txBody>
          <a:bodyPr spcFirstLastPara="1" wrap="square" lIns="432000" tIns="45700" rIns="4320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NZ"/>
              <a:t>Practices of Kanban 3: Manage Flow</a:t>
            </a:r>
            <a:endParaRPr/>
          </a:p>
        </p:txBody>
      </p:sp>
      <p:sp>
        <p:nvSpPr>
          <p:cNvPr id="232" name="Google Shape;232;p28"/>
          <p:cNvSpPr txBox="1">
            <a:spLocks noGrp="1"/>
          </p:cNvSpPr>
          <p:nvPr>
            <p:ph type="body" idx="1"/>
          </p:nvPr>
        </p:nvSpPr>
        <p:spPr>
          <a:xfrm>
            <a:off x="628650" y="1044100"/>
            <a:ext cx="8191800" cy="494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72440" algn="l" rtl="0">
              <a:spcBef>
                <a:spcPts val="750"/>
              </a:spcBef>
              <a:spcAft>
                <a:spcPts val="0"/>
              </a:spcAft>
              <a:buSzPts val="3840"/>
              <a:buChar char="▪"/>
            </a:pPr>
            <a:r>
              <a:rPr lang="en-NZ" b="1"/>
              <a:t>Flow </a:t>
            </a:r>
            <a:r>
              <a:rPr lang="en-NZ"/>
              <a:t>is the movement of cards across the board</a:t>
            </a:r>
            <a:endParaRPr/>
          </a:p>
          <a:p>
            <a:pPr marL="457200" lvl="0" indent="-472440" algn="l" rtl="0">
              <a:spcBef>
                <a:spcPts val="0"/>
              </a:spcBef>
              <a:spcAft>
                <a:spcPts val="0"/>
              </a:spcAft>
              <a:buSzPts val="3840"/>
              <a:buChar char="▪"/>
            </a:pPr>
            <a:r>
              <a:rPr lang="en-NZ"/>
              <a:t>Aim for </a:t>
            </a:r>
            <a:r>
              <a:rPr lang="en-NZ" b="1"/>
              <a:t>speed </a:t>
            </a:r>
            <a:r>
              <a:rPr lang="en-NZ"/>
              <a:t>and </a:t>
            </a:r>
            <a:r>
              <a:rPr lang="en-NZ" b="1"/>
              <a:t>smoothness</a:t>
            </a:r>
            <a:r>
              <a:rPr lang="en-NZ"/>
              <a:t> as an indicator of how </a:t>
            </a:r>
            <a:r>
              <a:rPr lang="en-NZ" b="1"/>
              <a:t>value </a:t>
            </a:r>
            <a:r>
              <a:rPr lang="en-NZ"/>
              <a:t>is being created.</a:t>
            </a:r>
            <a:endParaRPr/>
          </a:p>
          <a:p>
            <a:pPr marL="457200" lvl="0" indent="-472440" algn="l" rtl="0">
              <a:spcBef>
                <a:spcPts val="0"/>
              </a:spcBef>
              <a:spcAft>
                <a:spcPts val="0"/>
              </a:spcAft>
              <a:buSzPts val="3840"/>
              <a:buChar char="▪"/>
            </a:pPr>
            <a:r>
              <a:rPr lang="en-NZ"/>
              <a:t>Focus is on the </a:t>
            </a:r>
            <a:r>
              <a:rPr lang="en-NZ" b="1"/>
              <a:t>work</a:t>
            </a:r>
            <a:r>
              <a:rPr lang="en-NZ"/>
              <a:t> and to </a:t>
            </a:r>
            <a:r>
              <a:rPr lang="en-NZ" i="1"/>
              <a:t>understand </a:t>
            </a:r>
            <a:r>
              <a:rPr lang="en-NZ"/>
              <a:t>how to move it swiftly across the board, not micro-managing </a:t>
            </a:r>
            <a:r>
              <a:rPr lang="en-NZ" i="1"/>
              <a:t>people.</a:t>
            </a:r>
            <a:endParaRPr i="1"/>
          </a:p>
          <a:p>
            <a:pPr marL="457200" lvl="0" indent="0" algn="l" rtl="0">
              <a:spcBef>
                <a:spcPts val="75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28"/>
          <p:cNvSpPr txBox="1">
            <a:spLocks noGrp="1"/>
          </p:cNvSpPr>
          <p:nvPr>
            <p:ph type="sldNum" idx="12"/>
          </p:nvPr>
        </p:nvSpPr>
        <p:spPr>
          <a:xfrm>
            <a:off x="750793" y="0"/>
            <a:ext cx="324300" cy="2856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Z"/>
              <a:t>23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9"/>
          <p:cNvSpPr txBox="1">
            <a:spLocks noGrp="1"/>
          </p:cNvSpPr>
          <p:nvPr>
            <p:ph type="title"/>
          </p:nvPr>
        </p:nvSpPr>
        <p:spPr>
          <a:xfrm>
            <a:off x="628650" y="-15875"/>
            <a:ext cx="7886700" cy="1118100"/>
          </a:xfrm>
          <a:prstGeom prst="rect">
            <a:avLst/>
          </a:prstGeom>
        </p:spPr>
        <p:txBody>
          <a:bodyPr spcFirstLastPara="1" wrap="square" lIns="432000" tIns="45700" rIns="4320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NZ"/>
              <a:t>Practices of Kanban 4: Policies</a:t>
            </a:r>
            <a:endParaRPr/>
          </a:p>
        </p:txBody>
      </p:sp>
      <p:sp>
        <p:nvSpPr>
          <p:cNvPr id="240" name="Google Shape;240;p29"/>
          <p:cNvSpPr txBox="1">
            <a:spLocks noGrp="1"/>
          </p:cNvSpPr>
          <p:nvPr>
            <p:ph type="body" idx="1"/>
          </p:nvPr>
        </p:nvSpPr>
        <p:spPr>
          <a:xfrm>
            <a:off x="628650" y="1044100"/>
            <a:ext cx="8191800" cy="494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72440" algn="l" rtl="0">
              <a:spcBef>
                <a:spcPts val="750"/>
              </a:spcBef>
              <a:spcAft>
                <a:spcPts val="0"/>
              </a:spcAft>
              <a:buSzPts val="3840"/>
              <a:buChar char="▪"/>
            </a:pPr>
            <a:r>
              <a:rPr lang="en-NZ"/>
              <a:t>Policies should be made </a:t>
            </a:r>
            <a:r>
              <a:rPr lang="en-NZ" b="1"/>
              <a:t>explicit</a:t>
            </a:r>
            <a:r>
              <a:rPr lang="en-NZ"/>
              <a:t>:</a:t>
            </a:r>
            <a:endParaRPr/>
          </a:p>
          <a:p>
            <a:pPr marL="914400" lvl="1" indent="-434340" algn="l" rtl="0">
              <a:spcBef>
                <a:spcPts val="0"/>
              </a:spcBef>
              <a:spcAft>
                <a:spcPts val="0"/>
              </a:spcAft>
              <a:buSzPts val="3240"/>
              <a:buChar char="−"/>
            </a:pPr>
            <a:r>
              <a:rPr lang="en-NZ"/>
              <a:t>You can’t improve something you don’t understand</a:t>
            </a:r>
            <a:endParaRPr/>
          </a:p>
          <a:p>
            <a:pPr marL="457200" lvl="0" indent="-472440" algn="l" rtl="0">
              <a:spcBef>
                <a:spcPts val="0"/>
              </a:spcBef>
              <a:spcAft>
                <a:spcPts val="0"/>
              </a:spcAft>
              <a:buSzPts val="3840"/>
              <a:buChar char="▪"/>
            </a:pPr>
            <a:r>
              <a:rPr lang="en-NZ" b="1"/>
              <a:t>Available</a:t>
            </a:r>
            <a:endParaRPr b="1"/>
          </a:p>
          <a:p>
            <a:pPr marL="914400" lvl="1" indent="-434340" algn="l" rtl="0">
              <a:spcBef>
                <a:spcPts val="0"/>
              </a:spcBef>
              <a:spcAft>
                <a:spcPts val="0"/>
              </a:spcAft>
              <a:buSzPts val="3240"/>
              <a:buChar char="−"/>
            </a:pPr>
            <a:r>
              <a:rPr lang="en-NZ"/>
              <a:t>Useless if they are not made </a:t>
            </a:r>
            <a:r>
              <a:rPr lang="en-NZ" b="1"/>
              <a:t>visible</a:t>
            </a:r>
            <a:endParaRPr b="1"/>
          </a:p>
          <a:p>
            <a:pPr marL="457200" lvl="0" indent="-472440" algn="l" rtl="0">
              <a:spcBef>
                <a:spcPts val="0"/>
              </a:spcBef>
              <a:spcAft>
                <a:spcPts val="0"/>
              </a:spcAft>
              <a:buSzPts val="3840"/>
              <a:buChar char="▪"/>
            </a:pPr>
            <a:r>
              <a:rPr lang="en-NZ" b="1"/>
              <a:t>Supported </a:t>
            </a:r>
            <a:endParaRPr b="1"/>
          </a:p>
          <a:p>
            <a:pPr marL="914400" lvl="1" indent="-434340" algn="l" rtl="0">
              <a:spcBef>
                <a:spcPts val="0"/>
              </a:spcBef>
              <a:spcAft>
                <a:spcPts val="0"/>
              </a:spcAft>
              <a:buSzPts val="3240"/>
              <a:buChar char="−"/>
            </a:pPr>
            <a:r>
              <a:rPr lang="en-NZ"/>
              <a:t>People will not follow policies if they do not deem them to be </a:t>
            </a:r>
            <a:r>
              <a:rPr lang="en-NZ" b="1"/>
              <a:t>useful</a:t>
            </a:r>
            <a:r>
              <a:rPr lang="en-NZ"/>
              <a:t>.</a:t>
            </a:r>
            <a:endParaRPr/>
          </a:p>
          <a:p>
            <a:pPr marL="457200" lvl="0" indent="0" algn="l" rtl="0">
              <a:spcBef>
                <a:spcPts val="750"/>
              </a:spcBef>
              <a:spcAft>
                <a:spcPts val="0"/>
              </a:spcAft>
              <a:buNone/>
            </a:pPr>
            <a:endParaRPr b="1"/>
          </a:p>
        </p:txBody>
      </p:sp>
      <p:sp>
        <p:nvSpPr>
          <p:cNvPr id="241" name="Google Shape;241;p29"/>
          <p:cNvSpPr txBox="1">
            <a:spLocks noGrp="1"/>
          </p:cNvSpPr>
          <p:nvPr>
            <p:ph type="sldNum" idx="12"/>
          </p:nvPr>
        </p:nvSpPr>
        <p:spPr>
          <a:xfrm>
            <a:off x="750793" y="0"/>
            <a:ext cx="324300" cy="2856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Z"/>
              <a:t>24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0"/>
          <p:cNvSpPr txBox="1">
            <a:spLocks noGrp="1"/>
          </p:cNvSpPr>
          <p:nvPr>
            <p:ph type="title"/>
          </p:nvPr>
        </p:nvSpPr>
        <p:spPr>
          <a:xfrm>
            <a:off x="628650" y="-15875"/>
            <a:ext cx="7886700" cy="1118100"/>
          </a:xfrm>
          <a:prstGeom prst="rect">
            <a:avLst/>
          </a:prstGeom>
        </p:spPr>
        <p:txBody>
          <a:bodyPr spcFirstLastPara="1" wrap="square" lIns="432000" tIns="45700" rIns="4320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NZ"/>
              <a:t>Practices of Kanban 5: Feed Back</a:t>
            </a:r>
            <a:endParaRPr/>
          </a:p>
        </p:txBody>
      </p:sp>
      <p:sp>
        <p:nvSpPr>
          <p:cNvPr id="248" name="Google Shape;248;p30"/>
          <p:cNvSpPr txBox="1">
            <a:spLocks noGrp="1"/>
          </p:cNvSpPr>
          <p:nvPr>
            <p:ph type="body" idx="1"/>
          </p:nvPr>
        </p:nvSpPr>
        <p:spPr>
          <a:xfrm>
            <a:off x="628650" y="1044100"/>
            <a:ext cx="8191800" cy="494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750"/>
              </a:spcBef>
              <a:spcAft>
                <a:spcPts val="0"/>
              </a:spcAft>
              <a:buNone/>
            </a:pPr>
            <a:r>
              <a:rPr lang="en-NZ" sz="3000"/>
              <a:t>Regular (short) meetings are necessary for knowledge transfer:</a:t>
            </a:r>
            <a:endParaRPr sz="3000"/>
          </a:p>
          <a:p>
            <a:pPr marL="457200" lvl="0" indent="-459740" algn="l" rtl="0">
              <a:spcBef>
                <a:spcPts val="750"/>
              </a:spcBef>
              <a:spcAft>
                <a:spcPts val="0"/>
              </a:spcAft>
              <a:buSzPts val="3640"/>
              <a:buChar char="▪"/>
            </a:pPr>
            <a:r>
              <a:rPr lang="en-NZ" sz="3000" b="1"/>
              <a:t>Daily stand up</a:t>
            </a:r>
            <a:r>
              <a:rPr lang="en-NZ" sz="3000"/>
              <a:t> meetings (10-15 minutes) are held in front of the Kanban board:</a:t>
            </a:r>
            <a:endParaRPr sz="3000"/>
          </a:p>
          <a:p>
            <a:pPr marL="914400" lvl="1" indent="-421640" algn="l" rtl="0">
              <a:spcBef>
                <a:spcPts val="0"/>
              </a:spcBef>
              <a:spcAft>
                <a:spcPts val="0"/>
              </a:spcAft>
              <a:buSzPts val="3040"/>
              <a:buChar char="−"/>
            </a:pPr>
            <a:r>
              <a:rPr lang="en-NZ" sz="2500"/>
              <a:t>Each team member says </a:t>
            </a:r>
            <a:r>
              <a:rPr lang="en-NZ" sz="2500" b="1"/>
              <a:t>what they did</a:t>
            </a:r>
            <a:r>
              <a:rPr lang="en-NZ" sz="2500"/>
              <a:t> and what they </a:t>
            </a:r>
            <a:r>
              <a:rPr lang="en-NZ" sz="2500" b="1"/>
              <a:t>will be doing</a:t>
            </a:r>
            <a:r>
              <a:rPr lang="en-NZ" sz="2500"/>
              <a:t>.</a:t>
            </a:r>
            <a:endParaRPr sz="2500"/>
          </a:p>
          <a:p>
            <a:pPr marL="457200" lvl="0" indent="-459740" algn="l" rtl="0">
              <a:spcBef>
                <a:spcPts val="0"/>
              </a:spcBef>
              <a:spcAft>
                <a:spcPts val="0"/>
              </a:spcAft>
              <a:buSzPts val="3640"/>
              <a:buChar char="▪"/>
            </a:pPr>
            <a:r>
              <a:rPr lang="en-NZ" sz="3000"/>
              <a:t>Reviews:</a:t>
            </a:r>
            <a:endParaRPr sz="3000"/>
          </a:p>
          <a:p>
            <a:pPr marL="914400" lvl="1" indent="-421640" algn="l" rtl="0">
              <a:spcBef>
                <a:spcPts val="0"/>
              </a:spcBef>
              <a:spcAft>
                <a:spcPts val="0"/>
              </a:spcAft>
              <a:buSzPts val="3040"/>
              <a:buChar char="−"/>
            </a:pPr>
            <a:r>
              <a:rPr lang="en-NZ" sz="2500" b="1"/>
              <a:t>Strategy, Service Delivery,</a:t>
            </a:r>
            <a:r>
              <a:rPr lang="en-NZ" sz="2500"/>
              <a:t> </a:t>
            </a:r>
            <a:r>
              <a:rPr lang="en-NZ" sz="2500" b="1"/>
              <a:t>Operations, Risk </a:t>
            </a:r>
            <a:endParaRPr sz="2500"/>
          </a:p>
          <a:p>
            <a:pPr marL="457200" lvl="0" indent="-459740" algn="l" rtl="0">
              <a:spcBef>
                <a:spcPts val="0"/>
              </a:spcBef>
              <a:spcAft>
                <a:spcPts val="0"/>
              </a:spcAft>
              <a:buSzPts val="3640"/>
              <a:buChar char="▪"/>
            </a:pPr>
            <a:r>
              <a:rPr lang="en-NZ" sz="3000" b="1"/>
              <a:t>Replenishment </a:t>
            </a:r>
            <a:r>
              <a:rPr lang="en-NZ" sz="3000"/>
              <a:t>Meeting</a:t>
            </a:r>
            <a:endParaRPr sz="3000"/>
          </a:p>
          <a:p>
            <a:pPr marL="457200" lvl="0" indent="-459740" algn="l" rtl="0">
              <a:spcBef>
                <a:spcPts val="0"/>
              </a:spcBef>
              <a:spcAft>
                <a:spcPts val="0"/>
              </a:spcAft>
              <a:buSzPts val="3640"/>
              <a:buChar char="▪"/>
            </a:pPr>
            <a:r>
              <a:rPr lang="en-NZ" sz="3000" b="1"/>
              <a:t>Kanban </a:t>
            </a:r>
            <a:r>
              <a:rPr lang="en-NZ" sz="3000"/>
              <a:t>Meeting</a:t>
            </a:r>
            <a:endParaRPr sz="3000"/>
          </a:p>
          <a:p>
            <a:pPr marL="457200" lvl="0" indent="-459740" algn="l" rtl="0">
              <a:spcBef>
                <a:spcPts val="0"/>
              </a:spcBef>
              <a:spcAft>
                <a:spcPts val="0"/>
              </a:spcAft>
              <a:buSzPts val="3640"/>
              <a:buChar char="▪"/>
            </a:pPr>
            <a:r>
              <a:rPr lang="en-NZ" sz="3000" b="1"/>
              <a:t>Delivery Planning</a:t>
            </a:r>
            <a:r>
              <a:rPr lang="en-NZ" sz="3000"/>
              <a:t> Meeting</a:t>
            </a:r>
            <a:endParaRPr sz="3000"/>
          </a:p>
          <a:p>
            <a:pPr marL="457200" lvl="0" indent="0" algn="l" rtl="0">
              <a:spcBef>
                <a:spcPts val="750"/>
              </a:spcBef>
              <a:spcAft>
                <a:spcPts val="0"/>
              </a:spcAft>
              <a:buNone/>
            </a:pPr>
            <a:endParaRPr sz="3000"/>
          </a:p>
        </p:txBody>
      </p:sp>
      <p:sp>
        <p:nvSpPr>
          <p:cNvPr id="249" name="Google Shape;249;p30"/>
          <p:cNvSpPr txBox="1">
            <a:spLocks noGrp="1"/>
          </p:cNvSpPr>
          <p:nvPr>
            <p:ph type="sldNum" idx="12"/>
          </p:nvPr>
        </p:nvSpPr>
        <p:spPr>
          <a:xfrm>
            <a:off x="750793" y="0"/>
            <a:ext cx="324300" cy="2856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Z"/>
              <a:t>25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1"/>
          <p:cNvSpPr txBox="1">
            <a:spLocks noGrp="1"/>
          </p:cNvSpPr>
          <p:nvPr>
            <p:ph type="title"/>
          </p:nvPr>
        </p:nvSpPr>
        <p:spPr>
          <a:xfrm>
            <a:off x="628650" y="-15875"/>
            <a:ext cx="7886700" cy="1118100"/>
          </a:xfrm>
          <a:prstGeom prst="rect">
            <a:avLst/>
          </a:prstGeom>
        </p:spPr>
        <p:txBody>
          <a:bodyPr spcFirstLastPara="1" wrap="square" lIns="432000" tIns="45700" rIns="4320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NZ"/>
              <a:t>Practices of Kanban 6: Improve/Evolve</a:t>
            </a:r>
            <a:endParaRPr/>
          </a:p>
        </p:txBody>
      </p:sp>
      <p:sp>
        <p:nvSpPr>
          <p:cNvPr id="256" name="Google Shape;256;p31"/>
          <p:cNvSpPr txBox="1">
            <a:spLocks noGrp="1"/>
          </p:cNvSpPr>
          <p:nvPr>
            <p:ph type="body" idx="1"/>
          </p:nvPr>
        </p:nvSpPr>
        <p:spPr>
          <a:xfrm>
            <a:off x="386375" y="1044100"/>
            <a:ext cx="8434200" cy="494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44500" algn="l" rtl="0">
              <a:spcBef>
                <a:spcPts val="750"/>
              </a:spcBef>
              <a:spcAft>
                <a:spcPts val="0"/>
              </a:spcAft>
              <a:buSzPts val="3400"/>
              <a:buChar char="▪"/>
            </a:pPr>
            <a:r>
              <a:rPr lang="en-NZ" sz="3400"/>
              <a:t>No </a:t>
            </a:r>
            <a:r>
              <a:rPr lang="en-NZ" sz="3400" b="1"/>
              <a:t>instant change</a:t>
            </a:r>
            <a:r>
              <a:rPr lang="en-NZ" sz="3400"/>
              <a:t> to a predefined approach</a:t>
            </a:r>
            <a:endParaRPr sz="3400"/>
          </a:p>
          <a:p>
            <a:pPr marL="457200" lvl="0" indent="-444500" algn="l" rtl="0">
              <a:spcBef>
                <a:spcPts val="0"/>
              </a:spcBef>
              <a:spcAft>
                <a:spcPts val="0"/>
              </a:spcAft>
              <a:buSzPts val="3400"/>
              <a:buChar char="▪"/>
            </a:pPr>
            <a:r>
              <a:rPr lang="en-NZ" sz="3400"/>
              <a:t>No </a:t>
            </a:r>
            <a:r>
              <a:rPr lang="en-NZ" sz="3400" i="1"/>
              <a:t>endpoint </a:t>
            </a:r>
            <a:r>
              <a:rPr lang="en-NZ" sz="3400"/>
              <a:t>in a continuously changing </a:t>
            </a:r>
            <a:r>
              <a:rPr lang="en-NZ" sz="3400" b="1"/>
              <a:t>fitness </a:t>
            </a:r>
            <a:r>
              <a:rPr lang="en-NZ" sz="3400"/>
              <a:t>environment</a:t>
            </a:r>
            <a:endParaRPr sz="3400"/>
          </a:p>
          <a:p>
            <a:pPr marL="457200" lvl="0" indent="-444500" algn="l" rtl="0">
              <a:spcBef>
                <a:spcPts val="0"/>
              </a:spcBef>
              <a:spcAft>
                <a:spcPts val="0"/>
              </a:spcAft>
              <a:buSzPts val="3400"/>
              <a:buChar char="▪"/>
            </a:pPr>
            <a:r>
              <a:rPr lang="en-NZ" sz="3400"/>
              <a:t>Evolution either </a:t>
            </a:r>
            <a:r>
              <a:rPr lang="en-NZ" sz="3400" b="1"/>
              <a:t>works </a:t>
            </a:r>
            <a:r>
              <a:rPr lang="en-NZ" sz="3400"/>
              <a:t>for an organisation or </a:t>
            </a:r>
            <a:r>
              <a:rPr lang="en-NZ" sz="3400" b="1"/>
              <a:t>happens </a:t>
            </a:r>
            <a:r>
              <a:rPr lang="en-NZ" sz="3400"/>
              <a:t>to them - </a:t>
            </a:r>
            <a:r>
              <a:rPr lang="en-NZ" sz="3400" i="1"/>
              <a:t>Extinction </a:t>
            </a:r>
            <a:r>
              <a:rPr lang="en-NZ" sz="3400"/>
              <a:t>is also evolutionary</a:t>
            </a:r>
            <a:endParaRPr sz="3400"/>
          </a:p>
          <a:p>
            <a:pPr marL="457200" lvl="0" indent="-444500" algn="l" rtl="0">
              <a:spcBef>
                <a:spcPts val="0"/>
              </a:spcBef>
              <a:spcAft>
                <a:spcPts val="0"/>
              </a:spcAft>
              <a:buSzPts val="3400"/>
              <a:buChar char="▪"/>
            </a:pPr>
            <a:r>
              <a:rPr lang="en-NZ" sz="3400"/>
              <a:t>Kanban facilitates </a:t>
            </a:r>
            <a:r>
              <a:rPr lang="en-NZ" sz="3400" b="1"/>
              <a:t>proactive</a:t>
            </a:r>
            <a:r>
              <a:rPr lang="en-NZ" sz="3400"/>
              <a:t> evolution</a:t>
            </a:r>
            <a:endParaRPr sz="3400"/>
          </a:p>
          <a:p>
            <a:pPr marL="457200" lvl="0" indent="-444500" algn="l" rtl="0">
              <a:spcBef>
                <a:spcPts val="0"/>
              </a:spcBef>
              <a:spcAft>
                <a:spcPts val="0"/>
              </a:spcAft>
              <a:buSzPts val="3400"/>
              <a:buChar char="▪"/>
            </a:pPr>
            <a:r>
              <a:rPr lang="en-NZ" sz="3400"/>
              <a:t>Can be useful to employ the </a:t>
            </a:r>
            <a:r>
              <a:rPr lang="en-NZ" sz="3400" i="1"/>
              <a:t>scientific method</a:t>
            </a:r>
            <a:r>
              <a:rPr lang="en-NZ" sz="3400"/>
              <a:t> and </a:t>
            </a:r>
            <a:r>
              <a:rPr lang="en-NZ" sz="3400" i="1"/>
              <a:t>pragmatic</a:t>
            </a:r>
            <a:r>
              <a:rPr lang="en-NZ" sz="3400"/>
              <a:t> approaches to find the greatest </a:t>
            </a:r>
            <a:r>
              <a:rPr lang="en-NZ" sz="3400" b="1"/>
              <a:t>fitness for purpose</a:t>
            </a:r>
            <a:r>
              <a:rPr lang="en-NZ" sz="3400"/>
              <a:t>. </a:t>
            </a:r>
            <a:endParaRPr sz="3400"/>
          </a:p>
        </p:txBody>
      </p:sp>
      <p:sp>
        <p:nvSpPr>
          <p:cNvPr id="257" name="Google Shape;257;p31"/>
          <p:cNvSpPr txBox="1">
            <a:spLocks noGrp="1"/>
          </p:cNvSpPr>
          <p:nvPr>
            <p:ph type="sldNum" idx="12"/>
          </p:nvPr>
        </p:nvSpPr>
        <p:spPr>
          <a:xfrm>
            <a:off x="750793" y="0"/>
            <a:ext cx="324300" cy="2856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Z"/>
              <a:t>26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3"/>
          <p:cNvSpPr txBox="1">
            <a:spLocks noGrp="1"/>
          </p:cNvSpPr>
          <p:nvPr>
            <p:ph type="title"/>
          </p:nvPr>
        </p:nvSpPr>
        <p:spPr>
          <a:xfrm>
            <a:off x="628650" y="-15875"/>
            <a:ext cx="7886700" cy="1118100"/>
          </a:xfrm>
          <a:prstGeom prst="rect">
            <a:avLst/>
          </a:prstGeom>
        </p:spPr>
        <p:txBody>
          <a:bodyPr spcFirstLastPara="1" wrap="square" lIns="432000" tIns="45700" rIns="4320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NZ"/>
              <a:t>Extreme Programming - XP</a:t>
            </a:r>
            <a:endParaRPr/>
          </a:p>
        </p:txBody>
      </p:sp>
      <p:sp>
        <p:nvSpPr>
          <p:cNvPr id="273" name="Google Shape;273;p33"/>
          <p:cNvSpPr txBox="1">
            <a:spLocks noGrp="1"/>
          </p:cNvSpPr>
          <p:nvPr>
            <p:ph type="body" idx="1"/>
          </p:nvPr>
        </p:nvSpPr>
        <p:spPr>
          <a:xfrm>
            <a:off x="628650" y="1044100"/>
            <a:ext cx="8191800" cy="494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72440" algn="l" rtl="0">
              <a:spcBef>
                <a:spcPts val="750"/>
              </a:spcBef>
              <a:spcAft>
                <a:spcPts val="0"/>
              </a:spcAft>
              <a:buSzPts val="3840"/>
              <a:buChar char="▪"/>
            </a:pPr>
            <a:r>
              <a:rPr lang="en-NZ"/>
              <a:t>Started in 1996</a:t>
            </a:r>
            <a:endParaRPr/>
          </a:p>
          <a:p>
            <a:pPr marL="457200" lvl="0" indent="-472440" algn="l" rtl="0">
              <a:spcBef>
                <a:spcPts val="0"/>
              </a:spcBef>
              <a:spcAft>
                <a:spcPts val="0"/>
              </a:spcAft>
              <a:buSzPts val="3840"/>
              <a:buChar char="▪"/>
            </a:pPr>
            <a:r>
              <a:rPr lang="en-NZ"/>
              <a:t>Stresses customer satisfaction &amp; teamwork</a:t>
            </a:r>
            <a:endParaRPr/>
          </a:p>
          <a:p>
            <a:pPr marL="457200" lvl="0" indent="-472440" algn="l" rtl="0">
              <a:spcBef>
                <a:spcPts val="0"/>
              </a:spcBef>
              <a:spcAft>
                <a:spcPts val="0"/>
              </a:spcAft>
              <a:buSzPts val="3840"/>
              <a:buChar char="▪"/>
            </a:pPr>
            <a:r>
              <a:rPr lang="en-NZ" b="1"/>
              <a:t>Self-organises</a:t>
            </a:r>
            <a:r>
              <a:rPr lang="en-NZ"/>
              <a:t> around a problem for </a:t>
            </a:r>
            <a:r>
              <a:rPr lang="en-NZ" i="1"/>
              <a:t>efficiency</a:t>
            </a:r>
            <a:endParaRPr i="1"/>
          </a:p>
          <a:p>
            <a:pPr marL="457200" lvl="0" indent="-472440" algn="l" rtl="0">
              <a:spcBef>
                <a:spcPts val="0"/>
              </a:spcBef>
              <a:spcAft>
                <a:spcPts val="0"/>
              </a:spcAft>
              <a:buSzPts val="3840"/>
              <a:buChar char="▪"/>
            </a:pPr>
            <a:r>
              <a:rPr lang="en-NZ" b="1"/>
              <a:t>Empowers </a:t>
            </a:r>
            <a:r>
              <a:rPr lang="en-NZ"/>
              <a:t>developers to respond to changing requirements, even late in the life cycle.</a:t>
            </a:r>
            <a:endParaRPr/>
          </a:p>
          <a:p>
            <a:pPr marL="457200" lvl="0" indent="-472440" algn="l" rtl="0">
              <a:spcBef>
                <a:spcPts val="0"/>
              </a:spcBef>
              <a:spcAft>
                <a:spcPts val="0"/>
              </a:spcAft>
              <a:buSzPts val="3840"/>
              <a:buChar char="▪"/>
            </a:pPr>
            <a:r>
              <a:rPr lang="en-NZ"/>
              <a:t>Follows sets of </a:t>
            </a:r>
            <a:r>
              <a:rPr lang="en-NZ" i="1"/>
              <a:t>Values </a:t>
            </a:r>
            <a:r>
              <a:rPr lang="en-NZ"/>
              <a:t>&amp; </a:t>
            </a:r>
            <a:r>
              <a:rPr lang="en-NZ" i="1"/>
              <a:t>Rules</a:t>
            </a:r>
            <a:r>
              <a:rPr lang="en-NZ"/>
              <a:t>. </a:t>
            </a:r>
            <a:endParaRPr/>
          </a:p>
        </p:txBody>
      </p:sp>
      <p:sp>
        <p:nvSpPr>
          <p:cNvPr id="274" name="Google Shape;274;p33"/>
          <p:cNvSpPr txBox="1">
            <a:spLocks noGrp="1"/>
          </p:cNvSpPr>
          <p:nvPr>
            <p:ph type="sldNum" idx="12"/>
          </p:nvPr>
        </p:nvSpPr>
        <p:spPr>
          <a:xfrm>
            <a:off x="750793" y="0"/>
            <a:ext cx="324300" cy="2856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NZ"/>
              <a:t>27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4"/>
          <p:cNvSpPr txBox="1">
            <a:spLocks noGrp="1"/>
          </p:cNvSpPr>
          <p:nvPr>
            <p:ph type="title"/>
          </p:nvPr>
        </p:nvSpPr>
        <p:spPr>
          <a:xfrm>
            <a:off x="628650" y="-15875"/>
            <a:ext cx="7886700" cy="1118100"/>
          </a:xfrm>
          <a:prstGeom prst="rect">
            <a:avLst/>
          </a:prstGeom>
        </p:spPr>
        <p:txBody>
          <a:bodyPr spcFirstLastPara="1" wrap="square" lIns="432000" tIns="45700" rIns="4320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NZ"/>
              <a:t>XP - Values</a:t>
            </a:r>
            <a:endParaRPr/>
          </a:p>
        </p:txBody>
      </p:sp>
      <p:sp>
        <p:nvSpPr>
          <p:cNvPr id="281" name="Google Shape;281;p34"/>
          <p:cNvSpPr txBox="1">
            <a:spLocks noGrp="1"/>
          </p:cNvSpPr>
          <p:nvPr>
            <p:ph type="body" idx="1"/>
          </p:nvPr>
        </p:nvSpPr>
        <p:spPr>
          <a:xfrm>
            <a:off x="405575" y="1044100"/>
            <a:ext cx="8415000" cy="494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31800" algn="l" rtl="0">
              <a:spcBef>
                <a:spcPts val="750"/>
              </a:spcBef>
              <a:spcAft>
                <a:spcPts val="0"/>
              </a:spcAft>
              <a:buSzPts val="3200"/>
              <a:buFont typeface="Calibri"/>
              <a:buAutoNum type="arabicPeriod"/>
            </a:pPr>
            <a:r>
              <a:rPr lang="en-NZ" b="1"/>
              <a:t>Simplicity</a:t>
            </a:r>
            <a:endParaRPr b="1"/>
          </a:p>
          <a:p>
            <a:pPr marL="914400" lvl="1" indent="-434340" algn="l" rtl="0">
              <a:spcBef>
                <a:spcPts val="0"/>
              </a:spcBef>
              <a:spcAft>
                <a:spcPts val="0"/>
              </a:spcAft>
              <a:buSzPts val="3240"/>
              <a:buChar char="−"/>
            </a:pPr>
            <a:r>
              <a:rPr lang="en-NZ"/>
              <a:t>Do what is required, no more.</a:t>
            </a:r>
            <a:endParaRPr/>
          </a:p>
          <a:p>
            <a:pPr marL="457200" lvl="0" indent="-431800" algn="l" rtl="0">
              <a:spcBef>
                <a:spcPts val="0"/>
              </a:spcBef>
              <a:spcAft>
                <a:spcPts val="0"/>
              </a:spcAft>
              <a:buSzPts val="3200"/>
              <a:buFont typeface="Calibri"/>
              <a:buAutoNum type="arabicPeriod"/>
            </a:pPr>
            <a:r>
              <a:rPr lang="en-NZ" b="1"/>
              <a:t>Communication</a:t>
            </a:r>
            <a:endParaRPr b="1"/>
          </a:p>
          <a:p>
            <a:pPr marL="914400" lvl="1" indent="-434340" algn="l" rtl="0">
              <a:spcBef>
                <a:spcPts val="0"/>
              </a:spcBef>
              <a:spcAft>
                <a:spcPts val="0"/>
              </a:spcAft>
              <a:buSzPts val="3240"/>
              <a:buChar char="−"/>
            </a:pPr>
            <a:r>
              <a:rPr lang="en-NZ"/>
              <a:t>Daily, face-to-face, solutions are found as a team</a:t>
            </a:r>
            <a:endParaRPr/>
          </a:p>
          <a:p>
            <a:pPr marL="457200" lvl="0" indent="-431800" algn="l" rtl="0">
              <a:spcBef>
                <a:spcPts val="0"/>
              </a:spcBef>
              <a:spcAft>
                <a:spcPts val="0"/>
              </a:spcAft>
              <a:buSzPts val="3200"/>
              <a:buFont typeface="Calibri"/>
              <a:buAutoNum type="arabicPeriod"/>
            </a:pPr>
            <a:r>
              <a:rPr lang="en-NZ" b="1"/>
              <a:t>Feedback</a:t>
            </a:r>
            <a:endParaRPr b="1"/>
          </a:p>
          <a:p>
            <a:pPr marL="914400" lvl="1" indent="-434340" algn="l" rtl="0">
              <a:spcBef>
                <a:spcPts val="0"/>
              </a:spcBef>
              <a:spcAft>
                <a:spcPts val="0"/>
              </a:spcAft>
              <a:buSzPts val="3240"/>
              <a:buChar char="−"/>
            </a:pPr>
            <a:r>
              <a:rPr lang="en-NZ"/>
              <a:t>Taken seriously, processes are adapted to project</a:t>
            </a:r>
            <a:endParaRPr/>
          </a:p>
          <a:p>
            <a:pPr marL="457200" lvl="0" indent="-431800" algn="l" rtl="0">
              <a:spcBef>
                <a:spcPts val="0"/>
              </a:spcBef>
              <a:spcAft>
                <a:spcPts val="0"/>
              </a:spcAft>
              <a:buSzPts val="3200"/>
              <a:buFont typeface="Calibri"/>
              <a:buAutoNum type="arabicPeriod"/>
            </a:pPr>
            <a:r>
              <a:rPr lang="en-NZ" b="1"/>
              <a:t>Respect</a:t>
            </a:r>
            <a:endParaRPr b="1"/>
          </a:p>
          <a:p>
            <a:pPr marL="914400" lvl="1" indent="-434340" algn="l" rtl="0">
              <a:spcBef>
                <a:spcPts val="0"/>
              </a:spcBef>
              <a:spcAft>
                <a:spcPts val="0"/>
              </a:spcAft>
              <a:buSzPts val="3240"/>
              <a:buChar char="−"/>
            </a:pPr>
            <a:r>
              <a:rPr lang="en-NZ"/>
              <a:t>All contributions are valued, team has responsibility and authority</a:t>
            </a:r>
            <a:endParaRPr/>
          </a:p>
          <a:p>
            <a:pPr marL="457200" lvl="0" indent="-431800" algn="l" rtl="0">
              <a:spcBef>
                <a:spcPts val="0"/>
              </a:spcBef>
              <a:spcAft>
                <a:spcPts val="0"/>
              </a:spcAft>
              <a:buSzPts val="3200"/>
              <a:buFont typeface="Calibri"/>
              <a:buAutoNum type="arabicPeriod"/>
            </a:pPr>
            <a:r>
              <a:rPr lang="en-NZ" b="1"/>
              <a:t>Courage</a:t>
            </a:r>
            <a:endParaRPr b="1"/>
          </a:p>
          <a:p>
            <a:pPr marL="914400" lvl="1" indent="-434340" algn="l" rtl="0">
              <a:spcBef>
                <a:spcPts val="0"/>
              </a:spcBef>
              <a:spcAft>
                <a:spcPts val="0"/>
              </a:spcAft>
              <a:buSzPts val="3240"/>
              <a:buChar char="−"/>
            </a:pPr>
            <a:r>
              <a:rPr lang="en-NZ"/>
              <a:t>Truth about progress and estimates, adapt to change</a:t>
            </a:r>
            <a:endParaRPr/>
          </a:p>
        </p:txBody>
      </p:sp>
      <p:sp>
        <p:nvSpPr>
          <p:cNvPr id="282" name="Google Shape;282;p34"/>
          <p:cNvSpPr txBox="1">
            <a:spLocks noGrp="1"/>
          </p:cNvSpPr>
          <p:nvPr>
            <p:ph type="sldNum" idx="12"/>
          </p:nvPr>
        </p:nvSpPr>
        <p:spPr>
          <a:xfrm>
            <a:off x="750793" y="0"/>
            <a:ext cx="324300" cy="2856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NZ"/>
              <a:t>28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5"/>
          <p:cNvSpPr txBox="1">
            <a:spLocks noGrp="1"/>
          </p:cNvSpPr>
          <p:nvPr>
            <p:ph type="title"/>
          </p:nvPr>
        </p:nvSpPr>
        <p:spPr>
          <a:xfrm>
            <a:off x="628650" y="-15875"/>
            <a:ext cx="7886700" cy="1118100"/>
          </a:xfrm>
          <a:prstGeom prst="rect">
            <a:avLst/>
          </a:prstGeom>
        </p:spPr>
        <p:txBody>
          <a:bodyPr spcFirstLastPara="1" wrap="square" lIns="432000" tIns="45700" rIns="4320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NZ"/>
              <a:t>XP - Rules</a:t>
            </a:r>
            <a:endParaRPr/>
          </a:p>
        </p:txBody>
      </p:sp>
      <p:sp>
        <p:nvSpPr>
          <p:cNvPr id="289" name="Google Shape;289;p35"/>
          <p:cNvSpPr txBox="1">
            <a:spLocks noGrp="1"/>
          </p:cNvSpPr>
          <p:nvPr>
            <p:ph type="body" idx="1"/>
          </p:nvPr>
        </p:nvSpPr>
        <p:spPr>
          <a:xfrm>
            <a:off x="628650" y="1044100"/>
            <a:ext cx="3943500" cy="494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68300" algn="l" rtl="0">
              <a:spcBef>
                <a:spcPts val="750"/>
              </a:spcBef>
              <a:spcAft>
                <a:spcPts val="0"/>
              </a:spcAft>
              <a:buSzPts val="2200"/>
              <a:buFont typeface="Calibri"/>
              <a:buAutoNum type="arabicPeriod"/>
            </a:pPr>
            <a:r>
              <a:rPr lang="en-NZ" sz="2200" b="1"/>
              <a:t>Planning</a:t>
            </a:r>
            <a:endParaRPr sz="2200" b="1"/>
          </a:p>
          <a:p>
            <a:pPr marL="914400" lvl="1" indent="-370840" algn="l" rtl="0">
              <a:spcBef>
                <a:spcPts val="0"/>
              </a:spcBef>
              <a:spcAft>
                <a:spcPts val="0"/>
              </a:spcAft>
              <a:buSzPts val="2240"/>
              <a:buChar char="−"/>
            </a:pPr>
            <a:r>
              <a:rPr lang="en-NZ" sz="1700"/>
              <a:t>Write user </a:t>
            </a:r>
            <a:r>
              <a:rPr lang="en-NZ" sz="1700" b="1"/>
              <a:t>stories</a:t>
            </a:r>
            <a:endParaRPr sz="1700" b="1"/>
          </a:p>
          <a:p>
            <a:pPr marL="914400" lvl="1" indent="-370840" algn="l" rtl="0">
              <a:spcBef>
                <a:spcPts val="0"/>
              </a:spcBef>
              <a:spcAft>
                <a:spcPts val="0"/>
              </a:spcAft>
              <a:buSzPts val="2240"/>
              <a:buChar char="−"/>
            </a:pPr>
            <a:r>
              <a:rPr lang="en-NZ" sz="1700"/>
              <a:t>Plan </a:t>
            </a:r>
            <a:r>
              <a:rPr lang="en-NZ" sz="1700" b="1"/>
              <a:t>releases</a:t>
            </a:r>
            <a:endParaRPr sz="1700" b="1"/>
          </a:p>
          <a:p>
            <a:pPr marL="914400" lvl="1" indent="-370840" algn="l" rtl="0">
              <a:spcBef>
                <a:spcPts val="0"/>
              </a:spcBef>
              <a:spcAft>
                <a:spcPts val="0"/>
              </a:spcAft>
              <a:buSzPts val="2240"/>
              <a:buChar char="−"/>
            </a:pPr>
            <a:r>
              <a:rPr lang="en-NZ" sz="1700"/>
              <a:t>Divide into </a:t>
            </a:r>
            <a:r>
              <a:rPr lang="en-NZ" sz="1700" b="1"/>
              <a:t>iterations </a:t>
            </a:r>
            <a:r>
              <a:rPr lang="en-NZ" sz="1700"/>
              <a:t>and plan each</a:t>
            </a:r>
            <a:endParaRPr sz="170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Font typeface="Calibri"/>
              <a:buAutoNum type="arabicPeriod"/>
            </a:pPr>
            <a:r>
              <a:rPr lang="en-NZ" sz="2200" b="1"/>
              <a:t>Managing</a:t>
            </a:r>
            <a:endParaRPr sz="2200" b="1"/>
          </a:p>
          <a:p>
            <a:pPr marL="914400" lvl="1" indent="-370840" algn="l" rtl="0">
              <a:spcBef>
                <a:spcPts val="0"/>
              </a:spcBef>
              <a:spcAft>
                <a:spcPts val="0"/>
              </a:spcAft>
              <a:buSzPts val="2240"/>
              <a:buChar char="−"/>
            </a:pPr>
            <a:r>
              <a:rPr lang="en-NZ" sz="1700" b="1"/>
              <a:t>Dedicated </a:t>
            </a:r>
            <a:r>
              <a:rPr lang="en-NZ" sz="1700"/>
              <a:t>space</a:t>
            </a:r>
            <a:endParaRPr sz="1700"/>
          </a:p>
          <a:p>
            <a:pPr marL="914400" lvl="1" indent="-370840" algn="l" rtl="0">
              <a:spcBef>
                <a:spcPts val="0"/>
              </a:spcBef>
              <a:spcAft>
                <a:spcPts val="0"/>
              </a:spcAft>
              <a:buSzPts val="2240"/>
              <a:buChar char="−"/>
            </a:pPr>
            <a:r>
              <a:rPr lang="en-NZ" sz="1700" b="1"/>
              <a:t>Daily </a:t>
            </a:r>
            <a:r>
              <a:rPr lang="en-NZ" sz="1700"/>
              <a:t>stand-up meetings</a:t>
            </a:r>
            <a:endParaRPr sz="1700"/>
          </a:p>
          <a:p>
            <a:pPr marL="914400" lvl="1" indent="-370840" algn="l" rtl="0">
              <a:spcBef>
                <a:spcPts val="0"/>
              </a:spcBef>
              <a:spcAft>
                <a:spcPts val="0"/>
              </a:spcAft>
              <a:buSzPts val="2240"/>
              <a:buChar char="−"/>
            </a:pPr>
            <a:r>
              <a:rPr lang="en-NZ" sz="1700"/>
              <a:t>Measure project </a:t>
            </a:r>
            <a:r>
              <a:rPr lang="en-NZ" sz="1700" b="1"/>
              <a:t>velocity</a:t>
            </a:r>
            <a:endParaRPr sz="1700" b="1"/>
          </a:p>
          <a:p>
            <a:pPr marL="914400" lvl="1" indent="-370840" algn="l" rtl="0">
              <a:spcBef>
                <a:spcPts val="0"/>
              </a:spcBef>
              <a:spcAft>
                <a:spcPts val="0"/>
              </a:spcAft>
              <a:buSzPts val="2240"/>
              <a:buChar char="−"/>
            </a:pPr>
            <a:r>
              <a:rPr lang="en-NZ" sz="1700" b="1"/>
              <a:t>Move </a:t>
            </a:r>
            <a:r>
              <a:rPr lang="en-NZ" sz="1700"/>
              <a:t>people around</a:t>
            </a:r>
            <a:endParaRPr sz="170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Font typeface="Calibri"/>
              <a:buAutoNum type="arabicPeriod"/>
            </a:pPr>
            <a:r>
              <a:rPr lang="en-NZ" sz="2200" b="1"/>
              <a:t>Designing</a:t>
            </a:r>
            <a:endParaRPr sz="2200" b="1"/>
          </a:p>
          <a:p>
            <a:pPr marL="914400" lvl="1" indent="-370840" algn="l" rtl="0">
              <a:spcBef>
                <a:spcPts val="0"/>
              </a:spcBef>
              <a:spcAft>
                <a:spcPts val="0"/>
              </a:spcAft>
              <a:buSzPts val="2240"/>
              <a:buChar char="−"/>
            </a:pPr>
            <a:r>
              <a:rPr lang="en-NZ" sz="1700" b="1"/>
              <a:t>Simplicity</a:t>
            </a:r>
            <a:r>
              <a:rPr lang="en-NZ" sz="1700"/>
              <a:t> </a:t>
            </a:r>
            <a:endParaRPr sz="1700"/>
          </a:p>
          <a:p>
            <a:pPr marL="914400" lvl="1" indent="-370840" algn="l" rtl="0">
              <a:spcBef>
                <a:spcPts val="0"/>
              </a:spcBef>
              <a:spcAft>
                <a:spcPts val="0"/>
              </a:spcAft>
              <a:buSzPts val="2240"/>
              <a:buChar char="−"/>
            </a:pPr>
            <a:r>
              <a:rPr lang="en-NZ" sz="1700"/>
              <a:t>System </a:t>
            </a:r>
            <a:r>
              <a:rPr lang="en-NZ" sz="1700" b="1"/>
              <a:t>metaphor</a:t>
            </a:r>
            <a:endParaRPr sz="1700" b="1"/>
          </a:p>
          <a:p>
            <a:pPr marL="914400" lvl="1" indent="-370840" algn="l" rtl="0">
              <a:spcBef>
                <a:spcPts val="0"/>
              </a:spcBef>
              <a:spcAft>
                <a:spcPts val="0"/>
              </a:spcAft>
              <a:buSzPts val="2240"/>
              <a:buChar char="−"/>
            </a:pPr>
            <a:r>
              <a:rPr lang="en-NZ" sz="1700" b="1"/>
              <a:t>Spike </a:t>
            </a:r>
            <a:r>
              <a:rPr lang="en-NZ" sz="1700"/>
              <a:t>solutions</a:t>
            </a:r>
            <a:endParaRPr sz="1700"/>
          </a:p>
          <a:p>
            <a:pPr marL="914400" lvl="1" indent="-370840" algn="l" rtl="0">
              <a:spcBef>
                <a:spcPts val="0"/>
              </a:spcBef>
              <a:spcAft>
                <a:spcPts val="0"/>
              </a:spcAft>
              <a:buSzPts val="2240"/>
              <a:buChar char="−"/>
            </a:pPr>
            <a:r>
              <a:rPr lang="en-NZ" sz="1700"/>
              <a:t>No </a:t>
            </a:r>
            <a:r>
              <a:rPr lang="en-NZ" sz="1700" b="1"/>
              <a:t>pre-empted</a:t>
            </a:r>
            <a:r>
              <a:rPr lang="en-NZ" sz="1700"/>
              <a:t> functionality</a:t>
            </a:r>
            <a:endParaRPr sz="1700"/>
          </a:p>
          <a:p>
            <a:pPr marL="914400" lvl="1" indent="-370840" algn="l" rtl="0">
              <a:spcBef>
                <a:spcPts val="0"/>
              </a:spcBef>
              <a:spcAft>
                <a:spcPts val="0"/>
              </a:spcAft>
              <a:buSzPts val="2240"/>
              <a:buChar char="−"/>
            </a:pPr>
            <a:r>
              <a:rPr lang="en-NZ" sz="1700" b="1"/>
              <a:t>Refactor</a:t>
            </a:r>
            <a:r>
              <a:rPr lang="en-NZ" sz="1700"/>
              <a:t> </a:t>
            </a:r>
            <a:endParaRPr sz="1700"/>
          </a:p>
          <a:p>
            <a:pPr marL="0" lvl="0" indent="0" algn="l" rtl="0">
              <a:spcBef>
                <a:spcPts val="750"/>
              </a:spcBef>
              <a:spcAft>
                <a:spcPts val="0"/>
              </a:spcAft>
              <a:buNone/>
            </a:pPr>
            <a:endParaRPr sz="2200"/>
          </a:p>
        </p:txBody>
      </p:sp>
      <p:sp>
        <p:nvSpPr>
          <p:cNvPr id="290" name="Google Shape;290;p35"/>
          <p:cNvSpPr txBox="1">
            <a:spLocks noGrp="1"/>
          </p:cNvSpPr>
          <p:nvPr>
            <p:ph type="sldNum" idx="12"/>
          </p:nvPr>
        </p:nvSpPr>
        <p:spPr>
          <a:xfrm>
            <a:off x="750793" y="0"/>
            <a:ext cx="324300" cy="2856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Z"/>
              <a:t>29</a:t>
            </a:fld>
            <a:endParaRPr/>
          </a:p>
        </p:txBody>
      </p:sp>
      <p:sp>
        <p:nvSpPr>
          <p:cNvPr id="291" name="Google Shape;291;p35"/>
          <p:cNvSpPr txBox="1">
            <a:spLocks noGrp="1"/>
          </p:cNvSpPr>
          <p:nvPr>
            <p:ph type="body" idx="1"/>
          </p:nvPr>
        </p:nvSpPr>
        <p:spPr>
          <a:xfrm>
            <a:off x="4871725" y="1348900"/>
            <a:ext cx="3943500" cy="4546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68300" algn="l" rtl="0">
              <a:spcBef>
                <a:spcPts val="750"/>
              </a:spcBef>
              <a:spcAft>
                <a:spcPts val="0"/>
              </a:spcAft>
              <a:buSzPts val="2200"/>
              <a:buFont typeface="Calibri"/>
              <a:buAutoNum type="arabicPeriod" startAt="4"/>
            </a:pPr>
            <a:r>
              <a:rPr lang="en-NZ" sz="2200" b="1"/>
              <a:t>Coding</a:t>
            </a:r>
            <a:endParaRPr sz="2200" b="1"/>
          </a:p>
          <a:p>
            <a:pPr marL="914400" lvl="1" indent="-370840" algn="l" rtl="0">
              <a:spcBef>
                <a:spcPts val="0"/>
              </a:spcBef>
              <a:spcAft>
                <a:spcPts val="0"/>
              </a:spcAft>
              <a:buSzPts val="2240"/>
              <a:buChar char="−"/>
            </a:pPr>
            <a:r>
              <a:rPr lang="en-NZ" sz="1700"/>
              <a:t>Customer always </a:t>
            </a:r>
            <a:r>
              <a:rPr lang="en-NZ" sz="1700" b="1"/>
              <a:t>available</a:t>
            </a:r>
            <a:endParaRPr sz="1700" b="1"/>
          </a:p>
          <a:p>
            <a:pPr marL="914400" lvl="1" indent="-370840" algn="l" rtl="0">
              <a:spcBef>
                <a:spcPts val="0"/>
              </a:spcBef>
              <a:spcAft>
                <a:spcPts val="0"/>
              </a:spcAft>
              <a:buSzPts val="2240"/>
              <a:buChar char="−"/>
            </a:pPr>
            <a:r>
              <a:rPr lang="en-NZ" sz="1700"/>
              <a:t>Coding standard </a:t>
            </a:r>
            <a:r>
              <a:rPr lang="en-NZ" sz="1700" b="1"/>
              <a:t>upheld</a:t>
            </a:r>
            <a:endParaRPr sz="1700" b="1"/>
          </a:p>
          <a:p>
            <a:pPr marL="914400" lvl="1" indent="-370840" algn="l" rtl="0">
              <a:spcBef>
                <a:spcPts val="0"/>
              </a:spcBef>
              <a:spcAft>
                <a:spcPts val="0"/>
              </a:spcAft>
              <a:buSzPts val="2240"/>
              <a:buChar char="−"/>
            </a:pPr>
            <a:r>
              <a:rPr lang="en-NZ" sz="1700"/>
              <a:t>Unit test written </a:t>
            </a:r>
            <a:r>
              <a:rPr lang="en-NZ" sz="1700" b="1"/>
              <a:t>first</a:t>
            </a:r>
            <a:endParaRPr sz="1700" b="1"/>
          </a:p>
          <a:p>
            <a:pPr marL="914400" lvl="1" indent="-370840" algn="l" rtl="0">
              <a:spcBef>
                <a:spcPts val="0"/>
              </a:spcBef>
              <a:spcAft>
                <a:spcPts val="0"/>
              </a:spcAft>
              <a:buSzPts val="2240"/>
              <a:buChar char="−"/>
            </a:pPr>
            <a:r>
              <a:rPr lang="en-NZ" sz="1700" b="1"/>
              <a:t>Pair programming</a:t>
            </a:r>
            <a:r>
              <a:rPr lang="en-NZ" sz="1700"/>
              <a:t> </a:t>
            </a:r>
            <a:endParaRPr sz="1700"/>
          </a:p>
          <a:p>
            <a:pPr marL="914400" lvl="1" indent="-370840" algn="l" rtl="0">
              <a:spcBef>
                <a:spcPts val="0"/>
              </a:spcBef>
              <a:spcAft>
                <a:spcPts val="0"/>
              </a:spcAft>
              <a:buSzPts val="2240"/>
              <a:buChar char="−"/>
            </a:pPr>
            <a:r>
              <a:rPr lang="en-NZ" sz="1700" b="1"/>
              <a:t>One </a:t>
            </a:r>
            <a:r>
              <a:rPr lang="en-NZ" sz="1700"/>
              <a:t>integration at a time but </a:t>
            </a:r>
            <a:r>
              <a:rPr lang="en-NZ" sz="1700" b="1"/>
              <a:t>often </a:t>
            </a:r>
            <a:r>
              <a:rPr lang="en-NZ" sz="1700"/>
              <a:t>on</a:t>
            </a:r>
            <a:r>
              <a:rPr lang="en-NZ" sz="1700" b="1"/>
              <a:t> dedicated </a:t>
            </a:r>
            <a:r>
              <a:rPr lang="en-NZ" sz="1700"/>
              <a:t>machine</a:t>
            </a:r>
            <a:endParaRPr sz="1700"/>
          </a:p>
          <a:p>
            <a:pPr marL="914400" lvl="1" indent="-370840" algn="l" rtl="0">
              <a:spcBef>
                <a:spcPts val="0"/>
              </a:spcBef>
              <a:spcAft>
                <a:spcPts val="0"/>
              </a:spcAft>
              <a:buSzPts val="2240"/>
              <a:buChar char="−"/>
            </a:pPr>
            <a:r>
              <a:rPr lang="en-NZ" sz="1700"/>
              <a:t>Collective ownership</a:t>
            </a:r>
            <a:endParaRPr sz="170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Font typeface="Calibri"/>
              <a:buAutoNum type="arabicPeriod" startAt="4"/>
            </a:pPr>
            <a:r>
              <a:rPr lang="en-NZ" sz="2200" b="1"/>
              <a:t>Testing</a:t>
            </a:r>
            <a:endParaRPr sz="2200" b="1"/>
          </a:p>
          <a:p>
            <a:pPr marL="914400" lvl="1" indent="-370840" algn="l" rtl="0">
              <a:spcBef>
                <a:spcPts val="0"/>
              </a:spcBef>
              <a:spcAft>
                <a:spcPts val="0"/>
              </a:spcAft>
              <a:buSzPts val="2240"/>
              <a:buChar char="−"/>
            </a:pPr>
            <a:r>
              <a:rPr lang="en-NZ" sz="1700"/>
              <a:t>All code </a:t>
            </a:r>
            <a:r>
              <a:rPr lang="en-NZ" sz="1700" b="1"/>
              <a:t>must </a:t>
            </a:r>
            <a:r>
              <a:rPr lang="en-NZ" sz="1700"/>
              <a:t>have unit tests</a:t>
            </a:r>
            <a:endParaRPr sz="1700"/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−"/>
            </a:pPr>
            <a:r>
              <a:rPr lang="en-NZ" sz="1700"/>
              <a:t>All tests must </a:t>
            </a:r>
            <a:r>
              <a:rPr lang="en-NZ" sz="1700" b="1"/>
              <a:t>pass </a:t>
            </a:r>
            <a:r>
              <a:rPr lang="en-NZ" sz="1700"/>
              <a:t>before </a:t>
            </a:r>
            <a:r>
              <a:rPr lang="en-NZ" sz="1700" i="1"/>
              <a:t>release</a:t>
            </a:r>
            <a:endParaRPr sz="1700" i="1"/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−"/>
            </a:pPr>
            <a:r>
              <a:rPr lang="en-NZ" sz="1700"/>
              <a:t>Tests are created when </a:t>
            </a:r>
            <a:r>
              <a:rPr lang="en-NZ" sz="1700" b="1"/>
              <a:t>bugs </a:t>
            </a:r>
            <a:r>
              <a:rPr lang="en-NZ" sz="1700"/>
              <a:t>are found</a:t>
            </a:r>
            <a:endParaRPr sz="1700"/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−"/>
            </a:pPr>
            <a:r>
              <a:rPr lang="en-NZ" sz="1700"/>
              <a:t>Acceptance tests are run often, results are visible</a:t>
            </a:r>
            <a:endParaRPr sz="1700"/>
          </a:p>
          <a:p>
            <a:pPr marL="0" lvl="0" indent="0" algn="l" rtl="0">
              <a:spcBef>
                <a:spcPts val="750"/>
              </a:spcBef>
              <a:spcAft>
                <a:spcPts val="0"/>
              </a:spcAft>
              <a:buNone/>
            </a:pPr>
            <a:endParaRPr sz="22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6"/>
          <p:cNvSpPr txBox="1">
            <a:spLocks noGrp="1"/>
          </p:cNvSpPr>
          <p:nvPr>
            <p:ph type="title"/>
          </p:nvPr>
        </p:nvSpPr>
        <p:spPr>
          <a:xfrm>
            <a:off x="628650" y="-15875"/>
            <a:ext cx="7886700" cy="1118100"/>
          </a:xfrm>
          <a:prstGeom prst="rect">
            <a:avLst/>
          </a:prstGeom>
        </p:spPr>
        <p:txBody>
          <a:bodyPr spcFirstLastPara="1" wrap="square" lIns="432000" tIns="45700" rIns="4320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NZ"/>
              <a:t>XP Project</a:t>
            </a:r>
            <a:endParaRPr/>
          </a:p>
        </p:txBody>
      </p:sp>
      <p:sp>
        <p:nvSpPr>
          <p:cNvPr id="298" name="Google Shape;298;p36"/>
          <p:cNvSpPr txBox="1">
            <a:spLocks noGrp="1"/>
          </p:cNvSpPr>
          <p:nvPr>
            <p:ph type="body" idx="1"/>
          </p:nvPr>
        </p:nvSpPr>
        <p:spPr>
          <a:xfrm>
            <a:off x="628650" y="1044100"/>
            <a:ext cx="8191800" cy="494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750"/>
              </a:spcBef>
              <a:spcAft>
                <a:spcPts val="0"/>
              </a:spcAft>
              <a:buNone/>
            </a:pPr>
            <a:r>
              <a:rPr lang="en-NZ"/>
              <a:t> </a:t>
            </a:r>
            <a:endParaRPr/>
          </a:p>
        </p:txBody>
      </p:sp>
      <p:sp>
        <p:nvSpPr>
          <p:cNvPr id="299" name="Google Shape;299;p36"/>
          <p:cNvSpPr txBox="1">
            <a:spLocks noGrp="1"/>
          </p:cNvSpPr>
          <p:nvPr>
            <p:ph type="sldNum" idx="12"/>
          </p:nvPr>
        </p:nvSpPr>
        <p:spPr>
          <a:xfrm>
            <a:off x="750793" y="0"/>
            <a:ext cx="324300" cy="2856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Z"/>
              <a:t>30</a:t>
            </a:fld>
            <a:endParaRPr/>
          </a:p>
        </p:txBody>
      </p:sp>
      <p:sp>
        <p:nvSpPr>
          <p:cNvPr id="300" name="Google Shape;300;p36"/>
          <p:cNvSpPr txBox="1"/>
          <p:nvPr/>
        </p:nvSpPr>
        <p:spPr>
          <a:xfrm>
            <a:off x="4667250" y="5755750"/>
            <a:ext cx="4153200" cy="2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NZ" sz="1100">
                <a:latin typeface="Calibri"/>
                <a:ea typeface="Calibri"/>
                <a:cs typeface="Calibri"/>
                <a:sym typeface="Calibri"/>
              </a:rPr>
              <a:t>Source: </a:t>
            </a:r>
            <a:r>
              <a:rPr lang="en-NZ" sz="11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http://www.extremeprogramming.org/map/project.html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1" name="Google Shape;301;p36"/>
          <p:cNvPicPr preferRelativeResize="0"/>
          <p:nvPr/>
        </p:nvPicPr>
        <p:blipFill rotWithShape="1">
          <a:blip r:embed="rId4">
            <a:alphaModFix/>
          </a:blip>
          <a:srcRect t="23629"/>
          <a:stretch/>
        </p:blipFill>
        <p:spPr>
          <a:xfrm>
            <a:off x="476100" y="2007176"/>
            <a:ext cx="8191800" cy="2691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7"/>
          <p:cNvSpPr txBox="1">
            <a:spLocks noGrp="1"/>
          </p:cNvSpPr>
          <p:nvPr>
            <p:ph type="title"/>
          </p:nvPr>
        </p:nvSpPr>
        <p:spPr>
          <a:xfrm>
            <a:off x="628650" y="-15875"/>
            <a:ext cx="7886700" cy="1118100"/>
          </a:xfrm>
          <a:prstGeom prst="rect">
            <a:avLst/>
          </a:prstGeom>
        </p:spPr>
        <p:txBody>
          <a:bodyPr spcFirstLastPara="1" wrap="square" lIns="432000" tIns="45700" rIns="4320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NZ"/>
              <a:t>XP Iteration</a:t>
            </a:r>
            <a:endParaRPr/>
          </a:p>
        </p:txBody>
      </p:sp>
      <p:sp>
        <p:nvSpPr>
          <p:cNvPr id="308" name="Google Shape;308;p37"/>
          <p:cNvSpPr txBox="1">
            <a:spLocks noGrp="1"/>
          </p:cNvSpPr>
          <p:nvPr>
            <p:ph type="body" idx="1"/>
          </p:nvPr>
        </p:nvSpPr>
        <p:spPr>
          <a:xfrm>
            <a:off x="628650" y="1044100"/>
            <a:ext cx="8191800" cy="494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750"/>
              </a:spcBef>
              <a:spcAft>
                <a:spcPts val="0"/>
              </a:spcAft>
              <a:buNone/>
            </a:pPr>
            <a:r>
              <a:rPr lang="en-NZ"/>
              <a:t> </a:t>
            </a:r>
            <a:endParaRPr/>
          </a:p>
        </p:txBody>
      </p:sp>
      <p:sp>
        <p:nvSpPr>
          <p:cNvPr id="309" name="Google Shape;309;p37"/>
          <p:cNvSpPr txBox="1">
            <a:spLocks noGrp="1"/>
          </p:cNvSpPr>
          <p:nvPr>
            <p:ph type="sldNum" idx="12"/>
          </p:nvPr>
        </p:nvSpPr>
        <p:spPr>
          <a:xfrm>
            <a:off x="750793" y="0"/>
            <a:ext cx="324300" cy="2856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Z"/>
              <a:t>31</a:t>
            </a:fld>
            <a:endParaRPr/>
          </a:p>
        </p:txBody>
      </p:sp>
      <p:sp>
        <p:nvSpPr>
          <p:cNvPr id="310" name="Google Shape;310;p37"/>
          <p:cNvSpPr txBox="1"/>
          <p:nvPr/>
        </p:nvSpPr>
        <p:spPr>
          <a:xfrm>
            <a:off x="4667250" y="5739400"/>
            <a:ext cx="4153200" cy="2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NZ" sz="1100">
                <a:latin typeface="Calibri"/>
                <a:ea typeface="Calibri"/>
                <a:cs typeface="Calibri"/>
                <a:sym typeface="Calibri"/>
              </a:rPr>
              <a:t>Source: </a:t>
            </a:r>
            <a:r>
              <a:rPr lang="en-NZ" sz="11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http://www.extremeprogramming.org/map/iteration.html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1" name="Google Shape;311;p37"/>
          <p:cNvPicPr preferRelativeResize="0"/>
          <p:nvPr/>
        </p:nvPicPr>
        <p:blipFill rotWithShape="1">
          <a:blip r:embed="rId4">
            <a:alphaModFix/>
          </a:blip>
          <a:srcRect t="21054"/>
          <a:stretch/>
        </p:blipFill>
        <p:spPr>
          <a:xfrm>
            <a:off x="1008425" y="1776087"/>
            <a:ext cx="7432250" cy="2757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8"/>
          <p:cNvSpPr txBox="1">
            <a:spLocks noGrp="1"/>
          </p:cNvSpPr>
          <p:nvPr>
            <p:ph type="title"/>
          </p:nvPr>
        </p:nvSpPr>
        <p:spPr>
          <a:xfrm>
            <a:off x="628650" y="-15875"/>
            <a:ext cx="7886700" cy="1118100"/>
          </a:xfrm>
          <a:prstGeom prst="rect">
            <a:avLst/>
          </a:prstGeom>
        </p:spPr>
        <p:txBody>
          <a:bodyPr spcFirstLastPara="1" wrap="square" lIns="432000" tIns="45700" rIns="4320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NZ"/>
              <a:t>XP Development</a:t>
            </a:r>
            <a:endParaRPr/>
          </a:p>
        </p:txBody>
      </p:sp>
      <p:sp>
        <p:nvSpPr>
          <p:cNvPr id="318" name="Google Shape;318;p38"/>
          <p:cNvSpPr txBox="1">
            <a:spLocks noGrp="1"/>
          </p:cNvSpPr>
          <p:nvPr>
            <p:ph type="body" idx="1"/>
          </p:nvPr>
        </p:nvSpPr>
        <p:spPr>
          <a:xfrm>
            <a:off x="628650" y="1044100"/>
            <a:ext cx="8191800" cy="494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750"/>
              </a:spcBef>
              <a:spcAft>
                <a:spcPts val="0"/>
              </a:spcAft>
              <a:buNone/>
            </a:pPr>
            <a:r>
              <a:rPr lang="en-NZ"/>
              <a:t> </a:t>
            </a:r>
            <a:endParaRPr/>
          </a:p>
        </p:txBody>
      </p:sp>
      <p:sp>
        <p:nvSpPr>
          <p:cNvPr id="319" name="Google Shape;319;p38"/>
          <p:cNvSpPr txBox="1">
            <a:spLocks noGrp="1"/>
          </p:cNvSpPr>
          <p:nvPr>
            <p:ph type="sldNum" idx="12"/>
          </p:nvPr>
        </p:nvSpPr>
        <p:spPr>
          <a:xfrm>
            <a:off x="750793" y="0"/>
            <a:ext cx="324300" cy="2856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Z"/>
              <a:t>32</a:t>
            </a:fld>
            <a:endParaRPr/>
          </a:p>
        </p:txBody>
      </p:sp>
      <p:sp>
        <p:nvSpPr>
          <p:cNvPr id="320" name="Google Shape;320;p38"/>
          <p:cNvSpPr txBox="1"/>
          <p:nvPr/>
        </p:nvSpPr>
        <p:spPr>
          <a:xfrm>
            <a:off x="4267650" y="5589800"/>
            <a:ext cx="4552800" cy="2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NZ" sz="1100">
                <a:latin typeface="Calibri"/>
                <a:ea typeface="Calibri"/>
                <a:cs typeface="Calibri"/>
                <a:sym typeface="Calibri"/>
              </a:rPr>
              <a:t>Source: </a:t>
            </a:r>
            <a:r>
              <a:rPr lang="en-NZ" sz="11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http://www.extremeprogramming.org/map/development.html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1" name="Google Shape;321;p38"/>
          <p:cNvPicPr preferRelativeResize="0"/>
          <p:nvPr/>
        </p:nvPicPr>
        <p:blipFill rotWithShape="1">
          <a:blip r:embed="rId4">
            <a:alphaModFix/>
          </a:blip>
          <a:srcRect t="20508"/>
          <a:stretch/>
        </p:blipFill>
        <p:spPr>
          <a:xfrm>
            <a:off x="814988" y="1700326"/>
            <a:ext cx="7514026" cy="2986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9"/>
          <p:cNvSpPr txBox="1">
            <a:spLocks noGrp="1"/>
          </p:cNvSpPr>
          <p:nvPr>
            <p:ph type="title"/>
          </p:nvPr>
        </p:nvSpPr>
        <p:spPr>
          <a:xfrm>
            <a:off x="628650" y="-15875"/>
            <a:ext cx="7886700" cy="1118100"/>
          </a:xfrm>
          <a:prstGeom prst="rect">
            <a:avLst/>
          </a:prstGeom>
        </p:spPr>
        <p:txBody>
          <a:bodyPr spcFirstLastPara="1" wrap="square" lIns="432000" tIns="45700" rIns="4320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NZ"/>
              <a:t>XP Feedback Loops</a:t>
            </a:r>
            <a:endParaRPr/>
          </a:p>
        </p:txBody>
      </p:sp>
      <p:sp>
        <p:nvSpPr>
          <p:cNvPr id="328" name="Google Shape;328;p39"/>
          <p:cNvSpPr txBox="1">
            <a:spLocks noGrp="1"/>
          </p:cNvSpPr>
          <p:nvPr>
            <p:ph type="body" idx="1"/>
          </p:nvPr>
        </p:nvSpPr>
        <p:spPr>
          <a:xfrm>
            <a:off x="628650" y="1044100"/>
            <a:ext cx="8191800" cy="494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750"/>
              </a:spcBef>
              <a:spcAft>
                <a:spcPts val="0"/>
              </a:spcAft>
              <a:buNone/>
            </a:pPr>
            <a:r>
              <a:rPr lang="en-NZ"/>
              <a:t> </a:t>
            </a:r>
            <a:endParaRPr/>
          </a:p>
        </p:txBody>
      </p:sp>
      <p:sp>
        <p:nvSpPr>
          <p:cNvPr id="329" name="Google Shape;329;p39"/>
          <p:cNvSpPr txBox="1">
            <a:spLocks noGrp="1"/>
          </p:cNvSpPr>
          <p:nvPr>
            <p:ph type="sldNum" idx="12"/>
          </p:nvPr>
        </p:nvSpPr>
        <p:spPr>
          <a:xfrm>
            <a:off x="750793" y="0"/>
            <a:ext cx="324300" cy="2856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NZ"/>
              <a:t>33</a:t>
            </a:fld>
            <a:endParaRPr/>
          </a:p>
        </p:txBody>
      </p:sp>
      <p:pic>
        <p:nvPicPr>
          <p:cNvPr id="330" name="Google Shape;330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5077" y="1254625"/>
            <a:ext cx="5413850" cy="4270075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39"/>
          <p:cNvSpPr txBox="1"/>
          <p:nvPr/>
        </p:nvSpPr>
        <p:spPr>
          <a:xfrm>
            <a:off x="3909150" y="5770300"/>
            <a:ext cx="4911300" cy="3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NZ" sz="1100">
                <a:latin typeface="Calibri"/>
                <a:ea typeface="Calibri"/>
                <a:cs typeface="Calibri"/>
                <a:sym typeface="Calibri"/>
              </a:rPr>
              <a:t>Source: </a:t>
            </a:r>
            <a:r>
              <a:rPr lang="en-NZ" sz="11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http://www.extremeprogramming.org/map/loops.html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0"/>
          <p:cNvSpPr txBox="1">
            <a:spLocks noGrp="1"/>
          </p:cNvSpPr>
          <p:nvPr>
            <p:ph type="title"/>
          </p:nvPr>
        </p:nvSpPr>
        <p:spPr>
          <a:xfrm>
            <a:off x="628650" y="-15875"/>
            <a:ext cx="7886700" cy="1118100"/>
          </a:xfrm>
          <a:prstGeom prst="rect">
            <a:avLst/>
          </a:prstGeom>
        </p:spPr>
        <p:txBody>
          <a:bodyPr spcFirstLastPara="1" wrap="square" lIns="432000" tIns="45700" rIns="4320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NZ"/>
              <a:t>DevOps</a:t>
            </a:r>
            <a:endParaRPr/>
          </a:p>
        </p:txBody>
      </p:sp>
      <p:sp>
        <p:nvSpPr>
          <p:cNvPr id="338" name="Google Shape;338;p40"/>
          <p:cNvSpPr txBox="1">
            <a:spLocks noGrp="1"/>
          </p:cNvSpPr>
          <p:nvPr>
            <p:ph type="body" idx="1"/>
          </p:nvPr>
        </p:nvSpPr>
        <p:spPr>
          <a:xfrm>
            <a:off x="628650" y="1044100"/>
            <a:ext cx="8191800" cy="494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72440" algn="l" rtl="0">
              <a:spcBef>
                <a:spcPts val="750"/>
              </a:spcBef>
              <a:spcAft>
                <a:spcPts val="0"/>
              </a:spcAft>
              <a:buSzPts val="3840"/>
              <a:buChar char="▪"/>
            </a:pPr>
            <a:r>
              <a:rPr lang="en-NZ"/>
              <a:t>Not </a:t>
            </a:r>
            <a:r>
              <a:rPr lang="en-NZ" i="1"/>
              <a:t>quite </a:t>
            </a:r>
            <a:r>
              <a:rPr lang="en-NZ"/>
              <a:t>under the Agile banner</a:t>
            </a:r>
            <a:endParaRPr/>
          </a:p>
          <a:p>
            <a:pPr marL="457200" lvl="0" indent="-472440" algn="l" rtl="0">
              <a:spcBef>
                <a:spcPts val="0"/>
              </a:spcBef>
              <a:spcAft>
                <a:spcPts val="0"/>
              </a:spcAft>
              <a:buSzPts val="3840"/>
              <a:buChar char="▪"/>
            </a:pPr>
            <a:r>
              <a:rPr lang="en-NZ"/>
              <a:t>Combines </a:t>
            </a:r>
            <a:r>
              <a:rPr lang="en-NZ" i="1"/>
              <a:t>software </a:t>
            </a:r>
            <a:r>
              <a:rPr lang="en-NZ" b="1" i="1"/>
              <a:t>dev</a:t>
            </a:r>
            <a:r>
              <a:rPr lang="en-NZ" i="1"/>
              <a:t>elopment</a:t>
            </a:r>
            <a:r>
              <a:rPr lang="en-NZ"/>
              <a:t> and i</a:t>
            </a:r>
            <a:r>
              <a:rPr lang="en-NZ" i="1"/>
              <a:t>nformation-technology</a:t>
            </a:r>
            <a:r>
              <a:rPr lang="en-NZ"/>
              <a:t> </a:t>
            </a:r>
            <a:r>
              <a:rPr lang="en-NZ" b="1" i="1"/>
              <a:t>op</a:t>
            </a:r>
            <a:r>
              <a:rPr lang="en-NZ" i="1"/>
              <a:t>eration</a:t>
            </a:r>
            <a:r>
              <a:rPr lang="en-NZ" b="1" i="1"/>
              <a:t>s</a:t>
            </a:r>
            <a:endParaRPr b="1" i="1"/>
          </a:p>
          <a:p>
            <a:pPr marL="457200" lvl="0" indent="-472440" algn="l" rtl="0">
              <a:spcBef>
                <a:spcPts val="0"/>
              </a:spcBef>
              <a:spcAft>
                <a:spcPts val="0"/>
              </a:spcAft>
              <a:buSzPts val="3840"/>
              <a:buChar char="▪"/>
            </a:pPr>
            <a:r>
              <a:rPr lang="en-NZ"/>
              <a:t>Development and operations teams are </a:t>
            </a:r>
            <a:r>
              <a:rPr lang="en-NZ" b="1"/>
              <a:t>not “siloed”</a:t>
            </a:r>
            <a:endParaRPr b="1"/>
          </a:p>
          <a:p>
            <a:pPr marL="457200" lvl="0" indent="-472440" algn="l" rtl="0">
              <a:spcBef>
                <a:spcPts val="0"/>
              </a:spcBef>
              <a:spcAft>
                <a:spcPts val="0"/>
              </a:spcAft>
              <a:buSzPts val="3840"/>
              <a:buChar char="▪"/>
            </a:pPr>
            <a:r>
              <a:rPr lang="en-NZ"/>
              <a:t>More focussed on improving interactions </a:t>
            </a:r>
            <a:r>
              <a:rPr lang="en-NZ" b="1"/>
              <a:t>between these functions</a:t>
            </a:r>
            <a:r>
              <a:rPr lang="en-NZ"/>
              <a:t> to increase value to customers.</a:t>
            </a:r>
            <a:endParaRPr/>
          </a:p>
        </p:txBody>
      </p:sp>
      <p:sp>
        <p:nvSpPr>
          <p:cNvPr id="339" name="Google Shape;339;p40"/>
          <p:cNvSpPr txBox="1">
            <a:spLocks noGrp="1"/>
          </p:cNvSpPr>
          <p:nvPr>
            <p:ph type="sldNum" idx="12"/>
          </p:nvPr>
        </p:nvSpPr>
        <p:spPr>
          <a:xfrm>
            <a:off x="750793" y="0"/>
            <a:ext cx="324300" cy="2856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NZ"/>
              <a:t>34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1"/>
          <p:cNvSpPr txBox="1">
            <a:spLocks noGrp="1"/>
          </p:cNvSpPr>
          <p:nvPr>
            <p:ph type="title"/>
          </p:nvPr>
        </p:nvSpPr>
        <p:spPr>
          <a:xfrm>
            <a:off x="628650" y="-15875"/>
            <a:ext cx="7886700" cy="1118100"/>
          </a:xfrm>
          <a:prstGeom prst="rect">
            <a:avLst/>
          </a:prstGeom>
        </p:spPr>
        <p:txBody>
          <a:bodyPr spcFirstLastPara="1" wrap="square" lIns="432000" tIns="45700" rIns="4320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NZ"/>
              <a:t>DevOps - CALMS Framework</a:t>
            </a:r>
            <a:endParaRPr/>
          </a:p>
        </p:txBody>
      </p:sp>
      <p:sp>
        <p:nvSpPr>
          <p:cNvPr id="346" name="Google Shape;346;p41"/>
          <p:cNvSpPr txBox="1">
            <a:spLocks noGrp="1"/>
          </p:cNvSpPr>
          <p:nvPr>
            <p:ph type="body" idx="1"/>
          </p:nvPr>
        </p:nvSpPr>
        <p:spPr>
          <a:xfrm>
            <a:off x="342450" y="1044100"/>
            <a:ext cx="8631900" cy="494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72440" algn="l" rtl="0">
              <a:spcBef>
                <a:spcPts val="750"/>
              </a:spcBef>
              <a:spcAft>
                <a:spcPts val="0"/>
              </a:spcAft>
              <a:buSzPts val="3840"/>
              <a:buChar char="▪"/>
            </a:pPr>
            <a:r>
              <a:rPr lang="en-NZ"/>
              <a:t>Culture</a:t>
            </a:r>
            <a:endParaRPr/>
          </a:p>
          <a:p>
            <a:pPr marL="914400" lvl="1" indent="-434340" algn="l" rtl="0">
              <a:spcBef>
                <a:spcPts val="0"/>
              </a:spcBef>
              <a:spcAft>
                <a:spcPts val="0"/>
              </a:spcAft>
              <a:buSzPts val="3240"/>
              <a:buChar char="−"/>
            </a:pPr>
            <a:r>
              <a:rPr lang="en-NZ"/>
              <a:t>Cross-functional Collaboration</a:t>
            </a:r>
            <a:endParaRPr/>
          </a:p>
          <a:p>
            <a:pPr marL="457200" lvl="0" indent="-472440" algn="l" rtl="0">
              <a:spcBef>
                <a:spcPts val="0"/>
              </a:spcBef>
              <a:spcAft>
                <a:spcPts val="0"/>
              </a:spcAft>
              <a:buSzPts val="3840"/>
              <a:buChar char="▪"/>
            </a:pPr>
            <a:r>
              <a:rPr lang="en-NZ"/>
              <a:t>Automation</a:t>
            </a:r>
            <a:endParaRPr/>
          </a:p>
          <a:p>
            <a:pPr marL="914400" lvl="1" indent="-434340" algn="l" rtl="0">
              <a:spcBef>
                <a:spcPts val="0"/>
              </a:spcBef>
              <a:spcAft>
                <a:spcPts val="0"/>
              </a:spcAft>
              <a:buSzPts val="3240"/>
              <a:buChar char="−"/>
            </a:pPr>
            <a:r>
              <a:rPr lang="en-NZ"/>
              <a:t>Building, Testing, Deployment, “configuration-as-code”</a:t>
            </a:r>
            <a:endParaRPr/>
          </a:p>
          <a:p>
            <a:pPr marL="457200" lvl="0" indent="-472440" algn="l" rtl="0">
              <a:spcBef>
                <a:spcPts val="0"/>
              </a:spcBef>
              <a:spcAft>
                <a:spcPts val="0"/>
              </a:spcAft>
              <a:buSzPts val="3840"/>
              <a:buChar char="▪"/>
            </a:pPr>
            <a:r>
              <a:rPr lang="en-NZ"/>
              <a:t>Lean</a:t>
            </a:r>
            <a:endParaRPr/>
          </a:p>
          <a:p>
            <a:pPr marL="914400" lvl="1" indent="-434340" algn="l" rtl="0">
              <a:spcBef>
                <a:spcPts val="0"/>
              </a:spcBef>
              <a:spcAft>
                <a:spcPts val="0"/>
              </a:spcAft>
              <a:buSzPts val="3240"/>
              <a:buChar char="−"/>
            </a:pPr>
            <a:r>
              <a:rPr lang="en-NZ"/>
              <a:t>Continuous Improvement, Embracing Failure</a:t>
            </a:r>
            <a:endParaRPr/>
          </a:p>
          <a:p>
            <a:pPr marL="457200" lvl="0" indent="-472440" algn="l" rtl="0">
              <a:spcBef>
                <a:spcPts val="0"/>
              </a:spcBef>
              <a:spcAft>
                <a:spcPts val="0"/>
              </a:spcAft>
              <a:buSzPts val="3840"/>
              <a:buChar char="▪"/>
            </a:pPr>
            <a:r>
              <a:rPr lang="en-NZ"/>
              <a:t>Measurement</a:t>
            </a:r>
            <a:endParaRPr/>
          </a:p>
          <a:p>
            <a:pPr marL="914400" lvl="1" indent="-434340" algn="l" rtl="0">
              <a:spcBef>
                <a:spcPts val="0"/>
              </a:spcBef>
              <a:spcAft>
                <a:spcPts val="0"/>
              </a:spcAft>
              <a:buSzPts val="3240"/>
              <a:buChar char="−"/>
            </a:pPr>
            <a:r>
              <a:rPr lang="en-NZ"/>
              <a:t>feature cycle time, bug frequency, recovery turnaround</a:t>
            </a:r>
            <a:endParaRPr/>
          </a:p>
          <a:p>
            <a:pPr marL="457200" lvl="0" indent="-472440" algn="l" rtl="0">
              <a:spcBef>
                <a:spcPts val="0"/>
              </a:spcBef>
              <a:spcAft>
                <a:spcPts val="0"/>
              </a:spcAft>
              <a:buSzPts val="3840"/>
              <a:buChar char="▪"/>
            </a:pPr>
            <a:r>
              <a:rPr lang="en-NZ"/>
              <a:t>Sharing</a:t>
            </a:r>
            <a:endParaRPr/>
          </a:p>
          <a:p>
            <a:pPr marL="914400" lvl="1" indent="-434340" algn="l" rtl="0">
              <a:spcBef>
                <a:spcPts val="0"/>
              </a:spcBef>
              <a:spcAft>
                <a:spcPts val="0"/>
              </a:spcAft>
              <a:buSzPts val="3240"/>
              <a:buChar char="−"/>
            </a:pPr>
            <a:r>
              <a:rPr lang="en-NZ"/>
              <a:t>same people build, ship and support the product</a:t>
            </a:r>
            <a:endParaRPr/>
          </a:p>
        </p:txBody>
      </p:sp>
      <p:sp>
        <p:nvSpPr>
          <p:cNvPr id="347" name="Google Shape;347;p41"/>
          <p:cNvSpPr txBox="1">
            <a:spLocks noGrp="1"/>
          </p:cNvSpPr>
          <p:nvPr>
            <p:ph type="sldNum" idx="12"/>
          </p:nvPr>
        </p:nvSpPr>
        <p:spPr>
          <a:xfrm>
            <a:off x="750793" y="0"/>
            <a:ext cx="324300" cy="2856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Z"/>
              <a:t>35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42"/>
          <p:cNvSpPr txBox="1">
            <a:spLocks noGrp="1"/>
          </p:cNvSpPr>
          <p:nvPr>
            <p:ph type="title"/>
          </p:nvPr>
        </p:nvSpPr>
        <p:spPr>
          <a:xfrm>
            <a:off x="628650" y="-15875"/>
            <a:ext cx="7886700" cy="1118100"/>
          </a:xfrm>
          <a:prstGeom prst="rect">
            <a:avLst/>
          </a:prstGeom>
        </p:spPr>
        <p:txBody>
          <a:bodyPr spcFirstLastPara="1" wrap="square" lIns="432000" tIns="45700" rIns="4320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NZ"/>
              <a:t>DevOps Cycle</a:t>
            </a:r>
            <a:endParaRPr/>
          </a:p>
        </p:txBody>
      </p:sp>
      <p:sp>
        <p:nvSpPr>
          <p:cNvPr id="354" name="Google Shape;354;p42"/>
          <p:cNvSpPr txBox="1">
            <a:spLocks noGrp="1"/>
          </p:cNvSpPr>
          <p:nvPr>
            <p:ph type="body" idx="1"/>
          </p:nvPr>
        </p:nvSpPr>
        <p:spPr>
          <a:xfrm>
            <a:off x="628650" y="1044100"/>
            <a:ext cx="8191800" cy="494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750"/>
              </a:spcBef>
              <a:spcAft>
                <a:spcPts val="0"/>
              </a:spcAft>
              <a:buNone/>
            </a:pPr>
            <a:r>
              <a:rPr lang="en-NZ"/>
              <a:t> </a:t>
            </a:r>
            <a:endParaRPr/>
          </a:p>
        </p:txBody>
      </p:sp>
      <p:sp>
        <p:nvSpPr>
          <p:cNvPr id="355" name="Google Shape;355;p42"/>
          <p:cNvSpPr txBox="1">
            <a:spLocks noGrp="1"/>
          </p:cNvSpPr>
          <p:nvPr>
            <p:ph type="sldNum" idx="12"/>
          </p:nvPr>
        </p:nvSpPr>
        <p:spPr>
          <a:xfrm>
            <a:off x="750793" y="0"/>
            <a:ext cx="324300" cy="2856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NZ"/>
              <a:t>36</a:t>
            </a:fld>
            <a:endParaRPr/>
          </a:p>
        </p:txBody>
      </p:sp>
      <p:pic>
        <p:nvPicPr>
          <p:cNvPr id="356" name="Google Shape;356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2225" y="1155125"/>
            <a:ext cx="8447373" cy="4347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52"/>
          <p:cNvSpPr txBox="1">
            <a:spLocks noGrp="1"/>
          </p:cNvSpPr>
          <p:nvPr>
            <p:ph type="title"/>
          </p:nvPr>
        </p:nvSpPr>
        <p:spPr>
          <a:xfrm>
            <a:off x="628650" y="-15875"/>
            <a:ext cx="7886700" cy="1118100"/>
          </a:xfrm>
          <a:prstGeom prst="rect">
            <a:avLst/>
          </a:prstGeom>
        </p:spPr>
        <p:txBody>
          <a:bodyPr spcFirstLastPara="1" wrap="square" lIns="432000" tIns="45700" rIns="4320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NZ"/>
              <a:t>Scrum</a:t>
            </a:r>
            <a:endParaRPr/>
          </a:p>
        </p:txBody>
      </p:sp>
      <p:sp>
        <p:nvSpPr>
          <p:cNvPr id="441" name="Google Shape;441;p52"/>
          <p:cNvSpPr txBox="1">
            <a:spLocks noGrp="1"/>
          </p:cNvSpPr>
          <p:nvPr>
            <p:ph type="body" idx="1"/>
          </p:nvPr>
        </p:nvSpPr>
        <p:spPr>
          <a:xfrm>
            <a:off x="628650" y="891700"/>
            <a:ext cx="8191800" cy="494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72440" algn="l" rtl="0">
              <a:spcBef>
                <a:spcPts val="750"/>
              </a:spcBef>
              <a:spcAft>
                <a:spcPts val="0"/>
              </a:spcAft>
              <a:buSzPts val="3840"/>
              <a:buChar char="▪"/>
            </a:pPr>
            <a:r>
              <a:rPr lang="en-NZ"/>
              <a:t>A framework for developing, delivering, and sustaining complex products.</a:t>
            </a:r>
            <a:endParaRPr/>
          </a:p>
          <a:p>
            <a:pPr marL="457200" lvl="0" indent="-472440" algn="l" rtl="0">
              <a:spcBef>
                <a:spcPts val="0"/>
              </a:spcBef>
              <a:spcAft>
                <a:spcPts val="0"/>
              </a:spcAft>
              <a:buSzPts val="3840"/>
              <a:buChar char="▪"/>
            </a:pPr>
            <a:r>
              <a:rPr lang="en-NZ"/>
              <a:t>Term for </a:t>
            </a:r>
            <a:r>
              <a:rPr lang="en-NZ" b="1"/>
              <a:t>organizational knowledge creation</a:t>
            </a:r>
            <a:r>
              <a:rPr lang="en-NZ"/>
              <a:t> first used in 1986.</a:t>
            </a:r>
            <a:endParaRPr/>
          </a:p>
          <a:p>
            <a:pPr marL="457200" lvl="0" indent="-472440" algn="l" rtl="0">
              <a:spcBef>
                <a:spcPts val="0"/>
              </a:spcBef>
              <a:spcAft>
                <a:spcPts val="0"/>
              </a:spcAft>
              <a:buSzPts val="3840"/>
              <a:buChar char="▪"/>
            </a:pPr>
            <a:r>
              <a:rPr lang="en-NZ"/>
              <a:t>Processes performed by small </a:t>
            </a:r>
            <a:r>
              <a:rPr lang="en-NZ" b="1"/>
              <a:t>cross-functional</a:t>
            </a:r>
            <a:r>
              <a:rPr lang="en-NZ"/>
              <a:t> teams which try to move some distance </a:t>
            </a:r>
            <a:r>
              <a:rPr lang="en-NZ" b="1"/>
              <a:t>as a unit</a:t>
            </a:r>
            <a:r>
              <a:rPr lang="en-NZ"/>
              <a:t>.</a:t>
            </a:r>
            <a:endParaRPr/>
          </a:p>
          <a:p>
            <a:pPr marL="457200" lvl="0" indent="-472440" algn="l" rtl="0">
              <a:spcBef>
                <a:spcPts val="0"/>
              </a:spcBef>
              <a:spcAft>
                <a:spcPts val="0"/>
              </a:spcAft>
              <a:buSzPts val="3840"/>
              <a:buChar char="▪"/>
            </a:pPr>
            <a:r>
              <a:rPr lang="en-NZ"/>
              <a:t>Formalised as a framework by </a:t>
            </a:r>
            <a:r>
              <a:rPr lang="en-NZ" i="1"/>
              <a:t>Ken Schwabe</a:t>
            </a:r>
            <a:r>
              <a:rPr lang="en-NZ"/>
              <a:t>r and </a:t>
            </a:r>
            <a:r>
              <a:rPr lang="en-NZ" i="1"/>
              <a:t>Jeff Sutherland</a:t>
            </a:r>
            <a:r>
              <a:rPr lang="en-NZ"/>
              <a:t> (who both later contributed to the Agile Manifesto).</a:t>
            </a:r>
            <a:endParaRPr/>
          </a:p>
        </p:txBody>
      </p:sp>
      <p:sp>
        <p:nvSpPr>
          <p:cNvPr id="442" name="Google Shape;442;p52"/>
          <p:cNvSpPr txBox="1">
            <a:spLocks noGrp="1"/>
          </p:cNvSpPr>
          <p:nvPr>
            <p:ph type="sldNum" idx="12"/>
          </p:nvPr>
        </p:nvSpPr>
        <p:spPr>
          <a:xfrm>
            <a:off x="750793" y="0"/>
            <a:ext cx="324300" cy="2856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NZ"/>
              <a:t>37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53"/>
          <p:cNvSpPr txBox="1">
            <a:spLocks noGrp="1"/>
          </p:cNvSpPr>
          <p:nvPr>
            <p:ph type="title"/>
          </p:nvPr>
        </p:nvSpPr>
        <p:spPr>
          <a:xfrm>
            <a:off x="628650" y="-15875"/>
            <a:ext cx="7886700" cy="1118100"/>
          </a:xfrm>
          <a:prstGeom prst="rect">
            <a:avLst/>
          </a:prstGeom>
        </p:spPr>
        <p:txBody>
          <a:bodyPr spcFirstLastPara="1" wrap="square" lIns="432000" tIns="45700" rIns="4320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NZ"/>
              <a:t>Scrum Principles </a:t>
            </a:r>
            <a:endParaRPr/>
          </a:p>
        </p:txBody>
      </p:sp>
      <p:sp>
        <p:nvSpPr>
          <p:cNvPr id="449" name="Google Shape;449;p53"/>
          <p:cNvSpPr txBox="1">
            <a:spLocks noGrp="1"/>
          </p:cNvSpPr>
          <p:nvPr>
            <p:ph type="body" idx="1"/>
          </p:nvPr>
        </p:nvSpPr>
        <p:spPr>
          <a:xfrm>
            <a:off x="628650" y="1044100"/>
            <a:ext cx="8191800" cy="494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72440" algn="l" rtl="0">
              <a:spcBef>
                <a:spcPts val="750"/>
              </a:spcBef>
              <a:spcAft>
                <a:spcPts val="0"/>
              </a:spcAft>
              <a:buSzPts val="3840"/>
              <a:buChar char="▪"/>
            </a:pPr>
            <a:r>
              <a:rPr lang="en-NZ"/>
              <a:t>Transparency</a:t>
            </a:r>
            <a:endParaRPr/>
          </a:p>
          <a:p>
            <a:pPr marL="914400" lvl="1" indent="-434340" algn="l" rtl="0">
              <a:spcBef>
                <a:spcPts val="0"/>
              </a:spcBef>
              <a:spcAft>
                <a:spcPts val="0"/>
              </a:spcAft>
              <a:buSzPts val="3240"/>
              <a:buChar char="−"/>
            </a:pPr>
            <a:r>
              <a:rPr lang="en-NZ"/>
              <a:t>Significant aspects of a process must be visible to those responsible for the outcome.</a:t>
            </a:r>
            <a:endParaRPr/>
          </a:p>
          <a:p>
            <a:pPr marL="457200" lvl="0" indent="-472440" algn="l" rtl="0">
              <a:spcBef>
                <a:spcPts val="0"/>
              </a:spcBef>
              <a:spcAft>
                <a:spcPts val="0"/>
              </a:spcAft>
              <a:buSzPts val="3840"/>
              <a:buChar char="▪"/>
            </a:pPr>
            <a:r>
              <a:rPr lang="en-NZ"/>
              <a:t>Inspection</a:t>
            </a:r>
            <a:endParaRPr/>
          </a:p>
          <a:p>
            <a:pPr marL="914400" lvl="1" indent="-434340" algn="l" rtl="0">
              <a:spcBef>
                <a:spcPts val="0"/>
              </a:spcBef>
              <a:spcAft>
                <a:spcPts val="0"/>
              </a:spcAft>
              <a:buSzPts val="3240"/>
              <a:buChar char="−"/>
            </a:pPr>
            <a:r>
              <a:rPr lang="en-NZ"/>
              <a:t>Artifacts must be frequently inspected to monitor progress toward a goal and detect unwanted variances.</a:t>
            </a:r>
            <a:endParaRPr/>
          </a:p>
          <a:p>
            <a:pPr marL="457200" lvl="0" indent="-472440" algn="l" rtl="0">
              <a:spcBef>
                <a:spcPts val="0"/>
              </a:spcBef>
              <a:spcAft>
                <a:spcPts val="0"/>
              </a:spcAft>
              <a:buSzPts val="3840"/>
              <a:buChar char="▪"/>
            </a:pPr>
            <a:r>
              <a:rPr lang="en-NZ"/>
              <a:t>Adaptation</a:t>
            </a:r>
            <a:endParaRPr/>
          </a:p>
          <a:p>
            <a:pPr marL="914400" lvl="1" indent="-434340" algn="l" rtl="0">
              <a:spcBef>
                <a:spcPts val="0"/>
              </a:spcBef>
              <a:spcAft>
                <a:spcPts val="0"/>
              </a:spcAft>
              <a:buSzPts val="3240"/>
              <a:buChar char="−"/>
            </a:pPr>
            <a:r>
              <a:rPr lang="en-NZ"/>
              <a:t>If a process or outcome is outside of acceptable limits, it must be adjusted as soon as possible to minimize further deviation.</a:t>
            </a:r>
            <a:endParaRPr/>
          </a:p>
          <a:p>
            <a:pPr marL="0" lvl="0" indent="0" algn="l" rtl="0">
              <a:spcBef>
                <a:spcPts val="75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0" name="Google Shape;450;p53"/>
          <p:cNvSpPr txBox="1">
            <a:spLocks noGrp="1"/>
          </p:cNvSpPr>
          <p:nvPr>
            <p:ph type="sldNum" idx="12"/>
          </p:nvPr>
        </p:nvSpPr>
        <p:spPr>
          <a:xfrm>
            <a:off x="750793" y="0"/>
            <a:ext cx="324300" cy="2856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NZ"/>
              <a:t>38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54"/>
          <p:cNvSpPr txBox="1">
            <a:spLocks noGrp="1"/>
          </p:cNvSpPr>
          <p:nvPr>
            <p:ph type="title"/>
          </p:nvPr>
        </p:nvSpPr>
        <p:spPr>
          <a:xfrm>
            <a:off x="628650" y="-15875"/>
            <a:ext cx="7886700" cy="1118100"/>
          </a:xfrm>
          <a:prstGeom prst="rect">
            <a:avLst/>
          </a:prstGeom>
        </p:spPr>
        <p:txBody>
          <a:bodyPr spcFirstLastPara="1" wrap="square" lIns="432000" tIns="45700" rIns="4320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NZ"/>
              <a:t>Scrum Values</a:t>
            </a:r>
            <a:endParaRPr/>
          </a:p>
        </p:txBody>
      </p:sp>
      <p:sp>
        <p:nvSpPr>
          <p:cNvPr id="457" name="Google Shape;457;p54"/>
          <p:cNvSpPr txBox="1">
            <a:spLocks noGrp="1"/>
          </p:cNvSpPr>
          <p:nvPr>
            <p:ph type="body" idx="1"/>
          </p:nvPr>
        </p:nvSpPr>
        <p:spPr>
          <a:xfrm>
            <a:off x="628650" y="891700"/>
            <a:ext cx="8191800" cy="494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72440" algn="l" rtl="0">
              <a:spcBef>
                <a:spcPts val="750"/>
              </a:spcBef>
              <a:spcAft>
                <a:spcPts val="0"/>
              </a:spcAft>
              <a:buSzPts val="3840"/>
              <a:buChar char="▪"/>
            </a:pPr>
            <a:r>
              <a:rPr lang="en-NZ"/>
              <a:t>Commitment</a:t>
            </a:r>
            <a:endParaRPr/>
          </a:p>
          <a:p>
            <a:pPr marL="914400" lvl="1" indent="-434340" algn="l" rtl="0">
              <a:spcBef>
                <a:spcPts val="0"/>
              </a:spcBef>
              <a:spcAft>
                <a:spcPts val="0"/>
              </a:spcAft>
              <a:buSzPts val="3240"/>
              <a:buChar char="−"/>
            </a:pPr>
            <a:r>
              <a:rPr lang="en-NZ"/>
              <a:t>Team members </a:t>
            </a:r>
            <a:r>
              <a:rPr lang="en-NZ" b="1"/>
              <a:t>personally </a:t>
            </a:r>
            <a:r>
              <a:rPr lang="en-NZ"/>
              <a:t>commit to goals </a:t>
            </a:r>
            <a:endParaRPr/>
          </a:p>
          <a:p>
            <a:pPr marL="457200" lvl="0" indent="-472440" algn="l" rtl="0">
              <a:spcBef>
                <a:spcPts val="0"/>
              </a:spcBef>
              <a:spcAft>
                <a:spcPts val="0"/>
              </a:spcAft>
              <a:buSzPts val="3840"/>
              <a:buChar char="▪"/>
            </a:pPr>
            <a:r>
              <a:rPr lang="en-NZ"/>
              <a:t>Courage </a:t>
            </a:r>
            <a:endParaRPr/>
          </a:p>
          <a:p>
            <a:pPr marL="914400" lvl="1" indent="-434340" algn="l" rtl="0">
              <a:spcBef>
                <a:spcPts val="0"/>
              </a:spcBef>
              <a:spcAft>
                <a:spcPts val="0"/>
              </a:spcAft>
              <a:buSzPts val="3240"/>
              <a:buChar char="−"/>
            </a:pPr>
            <a:r>
              <a:rPr lang="en-NZ"/>
              <a:t>positively overcome conflicts &amp; challenges </a:t>
            </a:r>
            <a:r>
              <a:rPr lang="en-NZ" b="1"/>
              <a:t>together</a:t>
            </a:r>
            <a:endParaRPr b="1"/>
          </a:p>
          <a:p>
            <a:pPr marL="457200" lvl="0" indent="-472440" algn="l" rtl="0">
              <a:spcBef>
                <a:spcPts val="0"/>
              </a:spcBef>
              <a:spcAft>
                <a:spcPts val="0"/>
              </a:spcAft>
              <a:buSzPts val="3840"/>
              <a:buChar char="▪"/>
            </a:pPr>
            <a:r>
              <a:rPr lang="en-NZ"/>
              <a:t>Focus </a:t>
            </a:r>
            <a:endParaRPr/>
          </a:p>
          <a:p>
            <a:pPr marL="914400" lvl="1" indent="-434340" algn="l" rtl="0">
              <a:spcBef>
                <a:spcPts val="0"/>
              </a:spcBef>
              <a:spcAft>
                <a:spcPts val="0"/>
              </a:spcAft>
              <a:buSzPts val="3240"/>
              <a:buChar char="−"/>
            </a:pPr>
            <a:r>
              <a:rPr lang="en-NZ"/>
              <a:t>no work other than what has been </a:t>
            </a:r>
            <a:r>
              <a:rPr lang="en-NZ" b="1"/>
              <a:t>agreed </a:t>
            </a:r>
            <a:r>
              <a:rPr lang="en-NZ"/>
              <a:t>upon</a:t>
            </a:r>
            <a:endParaRPr/>
          </a:p>
          <a:p>
            <a:pPr marL="457200" lvl="0" indent="-472440" algn="l" rtl="0">
              <a:spcBef>
                <a:spcPts val="0"/>
              </a:spcBef>
              <a:spcAft>
                <a:spcPts val="0"/>
              </a:spcAft>
              <a:buSzPts val="3840"/>
              <a:buChar char="▪"/>
            </a:pPr>
            <a:r>
              <a:rPr lang="en-NZ"/>
              <a:t>Openness</a:t>
            </a:r>
            <a:endParaRPr/>
          </a:p>
          <a:p>
            <a:pPr marL="914400" lvl="1" indent="-434340" algn="l" rtl="0">
              <a:spcBef>
                <a:spcPts val="0"/>
              </a:spcBef>
              <a:spcAft>
                <a:spcPts val="0"/>
              </a:spcAft>
              <a:buSzPts val="3240"/>
              <a:buChar char="−"/>
            </a:pPr>
            <a:r>
              <a:rPr lang="en-NZ"/>
              <a:t>All stakeholders are </a:t>
            </a:r>
            <a:r>
              <a:rPr lang="en-NZ" b="1"/>
              <a:t>transparent </a:t>
            </a:r>
            <a:endParaRPr b="1"/>
          </a:p>
          <a:p>
            <a:pPr marL="457200" lvl="0" indent="-472440" algn="l" rtl="0">
              <a:spcBef>
                <a:spcPts val="0"/>
              </a:spcBef>
              <a:spcAft>
                <a:spcPts val="0"/>
              </a:spcAft>
              <a:buSzPts val="3840"/>
              <a:buChar char="▪"/>
            </a:pPr>
            <a:r>
              <a:rPr lang="en-NZ"/>
              <a:t>Respect</a:t>
            </a:r>
            <a:endParaRPr/>
          </a:p>
          <a:p>
            <a:pPr marL="914400" lvl="1" indent="-434340" algn="l" rtl="0">
              <a:spcBef>
                <a:spcPts val="0"/>
              </a:spcBef>
              <a:spcAft>
                <a:spcPts val="0"/>
              </a:spcAft>
              <a:buSzPts val="3240"/>
              <a:buChar char="−"/>
            </a:pPr>
            <a:r>
              <a:rPr lang="en-NZ" i="1"/>
              <a:t>technical capability</a:t>
            </a:r>
            <a:r>
              <a:rPr lang="en-NZ"/>
              <a:t> and </a:t>
            </a:r>
            <a:r>
              <a:rPr lang="en-NZ" i="1"/>
              <a:t>intent </a:t>
            </a:r>
            <a:r>
              <a:rPr lang="en-NZ"/>
              <a:t>is </a:t>
            </a:r>
            <a:r>
              <a:rPr lang="en-NZ" b="1"/>
              <a:t>not in question</a:t>
            </a:r>
            <a:endParaRPr b="1"/>
          </a:p>
        </p:txBody>
      </p:sp>
      <p:sp>
        <p:nvSpPr>
          <p:cNvPr id="458" name="Google Shape;458;p54"/>
          <p:cNvSpPr txBox="1">
            <a:spLocks noGrp="1"/>
          </p:cNvSpPr>
          <p:nvPr>
            <p:ph type="sldNum" idx="12"/>
          </p:nvPr>
        </p:nvSpPr>
        <p:spPr>
          <a:xfrm>
            <a:off x="750793" y="0"/>
            <a:ext cx="324300" cy="2856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Z"/>
              <a:t>39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55"/>
          <p:cNvSpPr txBox="1">
            <a:spLocks noGrp="1"/>
          </p:cNvSpPr>
          <p:nvPr>
            <p:ph type="title"/>
          </p:nvPr>
        </p:nvSpPr>
        <p:spPr>
          <a:xfrm>
            <a:off x="628650" y="-15875"/>
            <a:ext cx="7886700" cy="1118100"/>
          </a:xfrm>
          <a:prstGeom prst="rect">
            <a:avLst/>
          </a:prstGeom>
        </p:spPr>
        <p:txBody>
          <a:bodyPr spcFirstLastPara="1" wrap="square" lIns="432000" tIns="45700" rIns="4320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NZ"/>
              <a:t>Scrum Artifacts - Product Backlog</a:t>
            </a:r>
            <a:endParaRPr/>
          </a:p>
        </p:txBody>
      </p:sp>
      <p:sp>
        <p:nvSpPr>
          <p:cNvPr id="465" name="Google Shape;465;p55"/>
          <p:cNvSpPr txBox="1">
            <a:spLocks noGrp="1"/>
          </p:cNvSpPr>
          <p:nvPr>
            <p:ph type="body" idx="1"/>
          </p:nvPr>
        </p:nvSpPr>
        <p:spPr>
          <a:xfrm>
            <a:off x="447825" y="1044100"/>
            <a:ext cx="8372700" cy="494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72440" algn="l" rtl="0">
              <a:spcBef>
                <a:spcPts val="750"/>
              </a:spcBef>
              <a:spcAft>
                <a:spcPts val="0"/>
              </a:spcAft>
              <a:buSzPts val="3840"/>
              <a:buChar char="▪"/>
            </a:pPr>
            <a:r>
              <a:rPr lang="en-NZ" b="1"/>
              <a:t>Single source </a:t>
            </a:r>
            <a:r>
              <a:rPr lang="en-NZ"/>
              <a:t>of </a:t>
            </a:r>
            <a:r>
              <a:rPr lang="en-NZ" i="1"/>
              <a:t>Requirements</a:t>
            </a:r>
            <a:endParaRPr i="1"/>
          </a:p>
          <a:p>
            <a:pPr marL="457200" lvl="0" indent="-472440" algn="l" rtl="0">
              <a:spcBef>
                <a:spcPts val="0"/>
              </a:spcBef>
              <a:spcAft>
                <a:spcPts val="0"/>
              </a:spcAft>
              <a:buSzPts val="3840"/>
              <a:buChar char="▪"/>
            </a:pPr>
            <a:r>
              <a:rPr lang="en-NZ"/>
              <a:t>Ordered (prioritised) list</a:t>
            </a:r>
            <a:endParaRPr/>
          </a:p>
          <a:p>
            <a:pPr marL="457200" lvl="0" indent="-472440" algn="l" rtl="0">
              <a:spcBef>
                <a:spcPts val="0"/>
              </a:spcBef>
              <a:spcAft>
                <a:spcPts val="0"/>
              </a:spcAft>
              <a:buSzPts val="3840"/>
              <a:buChar char="▪"/>
            </a:pPr>
            <a:r>
              <a:rPr lang="en-NZ"/>
              <a:t>Constantly </a:t>
            </a:r>
            <a:r>
              <a:rPr lang="en-NZ" b="1"/>
              <a:t>Evolving</a:t>
            </a:r>
            <a:endParaRPr b="1"/>
          </a:p>
          <a:p>
            <a:pPr marL="457200" lvl="0" indent="-472440" algn="l" rtl="0">
              <a:spcBef>
                <a:spcPts val="0"/>
              </a:spcBef>
              <a:spcAft>
                <a:spcPts val="0"/>
              </a:spcAft>
              <a:buSzPts val="3840"/>
              <a:buChar char="▪"/>
            </a:pPr>
            <a:r>
              <a:rPr lang="en-NZ"/>
              <a:t>Items typically include:</a:t>
            </a:r>
            <a:endParaRPr/>
          </a:p>
          <a:p>
            <a:pPr marL="914400" lvl="1" indent="-434340" algn="l" rtl="0">
              <a:spcBef>
                <a:spcPts val="0"/>
              </a:spcBef>
              <a:spcAft>
                <a:spcPts val="0"/>
              </a:spcAft>
              <a:buSzPts val="3240"/>
              <a:buChar char="−"/>
            </a:pPr>
            <a:r>
              <a:rPr lang="en-NZ" b="1"/>
              <a:t>Clear </a:t>
            </a:r>
            <a:r>
              <a:rPr lang="en-NZ"/>
              <a:t>description </a:t>
            </a:r>
            <a:endParaRPr/>
          </a:p>
          <a:p>
            <a:pPr marL="914400" lvl="1" indent="-434340" algn="l" rtl="0">
              <a:spcBef>
                <a:spcPts val="0"/>
              </a:spcBef>
              <a:spcAft>
                <a:spcPts val="0"/>
              </a:spcAft>
              <a:buSzPts val="3240"/>
              <a:buChar char="−"/>
            </a:pPr>
            <a:r>
              <a:rPr lang="en-NZ"/>
              <a:t>Time </a:t>
            </a:r>
            <a:r>
              <a:rPr lang="en-NZ" b="1"/>
              <a:t>estimate</a:t>
            </a:r>
            <a:endParaRPr b="1"/>
          </a:p>
          <a:p>
            <a:pPr marL="914400" lvl="1" indent="-434340" algn="l" rtl="0">
              <a:spcBef>
                <a:spcPts val="0"/>
              </a:spcBef>
              <a:spcAft>
                <a:spcPts val="0"/>
              </a:spcAft>
              <a:buSzPts val="3240"/>
              <a:buChar char="−"/>
            </a:pPr>
            <a:r>
              <a:rPr lang="en-NZ" b="1"/>
              <a:t>Value</a:t>
            </a:r>
            <a:endParaRPr b="1"/>
          </a:p>
          <a:p>
            <a:pPr marL="914400" lvl="1" indent="-434340" algn="l" rtl="0">
              <a:spcBef>
                <a:spcPts val="0"/>
              </a:spcBef>
              <a:spcAft>
                <a:spcPts val="0"/>
              </a:spcAft>
              <a:buSzPts val="3240"/>
              <a:buChar char="−"/>
            </a:pPr>
            <a:r>
              <a:rPr lang="en-NZ" b="1"/>
              <a:t>Test </a:t>
            </a:r>
            <a:r>
              <a:rPr lang="en-NZ"/>
              <a:t>descriptions to assist with verification/validation</a:t>
            </a:r>
            <a:endParaRPr/>
          </a:p>
        </p:txBody>
      </p:sp>
      <p:sp>
        <p:nvSpPr>
          <p:cNvPr id="466" name="Google Shape;466;p55"/>
          <p:cNvSpPr txBox="1">
            <a:spLocks noGrp="1"/>
          </p:cNvSpPr>
          <p:nvPr>
            <p:ph type="sldNum" idx="12"/>
          </p:nvPr>
        </p:nvSpPr>
        <p:spPr>
          <a:xfrm>
            <a:off x="750793" y="0"/>
            <a:ext cx="324300" cy="2856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NZ"/>
              <a:t>40</a:t>
            </a:fld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56"/>
          <p:cNvSpPr txBox="1">
            <a:spLocks noGrp="1"/>
          </p:cNvSpPr>
          <p:nvPr>
            <p:ph type="title"/>
          </p:nvPr>
        </p:nvSpPr>
        <p:spPr>
          <a:xfrm>
            <a:off x="628650" y="-15875"/>
            <a:ext cx="7886700" cy="1118100"/>
          </a:xfrm>
          <a:prstGeom prst="rect">
            <a:avLst/>
          </a:prstGeom>
        </p:spPr>
        <p:txBody>
          <a:bodyPr spcFirstLastPara="1" wrap="square" lIns="432000" tIns="45700" rIns="4320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NZ"/>
              <a:t>Scrum Artifacts - Sprint Backlog</a:t>
            </a:r>
            <a:endParaRPr/>
          </a:p>
        </p:txBody>
      </p:sp>
      <p:sp>
        <p:nvSpPr>
          <p:cNvPr id="473" name="Google Shape;473;p56"/>
          <p:cNvSpPr txBox="1">
            <a:spLocks noGrp="1"/>
          </p:cNvSpPr>
          <p:nvPr>
            <p:ph type="body" idx="1"/>
          </p:nvPr>
        </p:nvSpPr>
        <p:spPr>
          <a:xfrm>
            <a:off x="628650" y="1044100"/>
            <a:ext cx="8191800" cy="494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72440" algn="l" rtl="0">
              <a:spcBef>
                <a:spcPts val="750"/>
              </a:spcBef>
              <a:spcAft>
                <a:spcPts val="0"/>
              </a:spcAft>
              <a:buSzPts val="3840"/>
              <a:buChar char="▪"/>
            </a:pPr>
            <a:r>
              <a:rPr lang="en-NZ" b="1"/>
              <a:t>Subset </a:t>
            </a:r>
            <a:r>
              <a:rPr lang="en-NZ"/>
              <a:t>of items from the </a:t>
            </a:r>
            <a:r>
              <a:rPr lang="en-NZ" b="1"/>
              <a:t>Product Backlog</a:t>
            </a:r>
            <a:r>
              <a:rPr lang="en-NZ"/>
              <a:t> selected for a </a:t>
            </a:r>
            <a:r>
              <a:rPr lang="en-NZ" b="1"/>
              <a:t>Sprint</a:t>
            </a:r>
            <a:endParaRPr b="1"/>
          </a:p>
          <a:p>
            <a:pPr marL="457200" lvl="0" indent="-472440" algn="l" rtl="0">
              <a:spcBef>
                <a:spcPts val="0"/>
              </a:spcBef>
              <a:spcAft>
                <a:spcPts val="0"/>
              </a:spcAft>
              <a:buSzPts val="3840"/>
              <a:buChar char="▪"/>
            </a:pPr>
            <a:r>
              <a:rPr lang="en-NZ" i="1"/>
              <a:t>Forecasted </a:t>
            </a:r>
            <a:r>
              <a:rPr lang="en-NZ"/>
              <a:t>by the </a:t>
            </a:r>
            <a:r>
              <a:rPr lang="en-NZ" b="1"/>
              <a:t>Development Team</a:t>
            </a:r>
            <a:endParaRPr b="1"/>
          </a:p>
          <a:p>
            <a:pPr marL="457200" lvl="0" indent="-472440" algn="l" rtl="0">
              <a:spcBef>
                <a:spcPts val="0"/>
              </a:spcBef>
              <a:spcAft>
                <a:spcPts val="0"/>
              </a:spcAft>
              <a:buSzPts val="3840"/>
              <a:buChar char="▪"/>
            </a:pPr>
            <a:r>
              <a:rPr lang="en-NZ"/>
              <a:t>Serves as a </a:t>
            </a:r>
            <a:r>
              <a:rPr lang="en-NZ" b="1"/>
              <a:t>real-time picture</a:t>
            </a:r>
            <a:r>
              <a:rPr lang="en-NZ"/>
              <a:t> of Sprint progress</a:t>
            </a:r>
            <a:endParaRPr/>
          </a:p>
          <a:p>
            <a:pPr marL="457200" lvl="0" indent="-472440" algn="l" rtl="0">
              <a:spcBef>
                <a:spcPts val="0"/>
              </a:spcBef>
              <a:spcAft>
                <a:spcPts val="0"/>
              </a:spcAft>
              <a:buSzPts val="3840"/>
              <a:buChar char="▪"/>
            </a:pPr>
            <a:r>
              <a:rPr lang="en-NZ"/>
              <a:t>Updated at least </a:t>
            </a:r>
            <a:r>
              <a:rPr lang="en-NZ" b="1"/>
              <a:t>daily</a:t>
            </a:r>
            <a:endParaRPr b="1"/>
          </a:p>
          <a:p>
            <a:pPr marL="457200" lvl="0" indent="-472440" algn="l" rtl="0">
              <a:spcBef>
                <a:spcPts val="0"/>
              </a:spcBef>
              <a:spcAft>
                <a:spcPts val="0"/>
              </a:spcAft>
              <a:buSzPts val="3840"/>
              <a:buChar char="▪"/>
            </a:pPr>
            <a:r>
              <a:rPr lang="en-NZ"/>
              <a:t>Can only be </a:t>
            </a:r>
            <a:r>
              <a:rPr lang="en-NZ" i="1"/>
              <a:t>changed </a:t>
            </a:r>
            <a:r>
              <a:rPr lang="en-NZ"/>
              <a:t>by the </a:t>
            </a:r>
            <a:r>
              <a:rPr lang="en-NZ" i="1"/>
              <a:t>Development Team</a:t>
            </a:r>
            <a:r>
              <a:rPr lang="en-NZ"/>
              <a:t> </a:t>
            </a:r>
            <a:r>
              <a:rPr lang="en-NZ" b="1"/>
              <a:t>during a Sprint</a:t>
            </a:r>
            <a:endParaRPr b="1"/>
          </a:p>
          <a:p>
            <a:pPr marL="457200" lvl="0" indent="-472440" algn="l" rtl="0">
              <a:spcBef>
                <a:spcPts val="0"/>
              </a:spcBef>
              <a:spcAft>
                <a:spcPts val="0"/>
              </a:spcAft>
              <a:buSzPts val="3840"/>
              <a:buChar char="▪"/>
            </a:pPr>
            <a:r>
              <a:rPr lang="en-NZ"/>
              <a:t>Includes </a:t>
            </a:r>
            <a:r>
              <a:rPr lang="en-NZ" i="1"/>
              <a:t>at least one</a:t>
            </a:r>
            <a:r>
              <a:rPr lang="en-NZ"/>
              <a:t> high priority </a:t>
            </a:r>
            <a:r>
              <a:rPr lang="en-NZ" b="1"/>
              <a:t>process improvement</a:t>
            </a:r>
            <a:r>
              <a:rPr lang="en-NZ"/>
              <a:t> item</a:t>
            </a:r>
            <a:endParaRPr/>
          </a:p>
          <a:p>
            <a:pPr marL="0" lvl="0" indent="0" algn="l" rtl="0">
              <a:spcBef>
                <a:spcPts val="75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4" name="Google Shape;474;p56"/>
          <p:cNvSpPr txBox="1">
            <a:spLocks noGrp="1"/>
          </p:cNvSpPr>
          <p:nvPr>
            <p:ph type="sldNum" idx="12"/>
          </p:nvPr>
        </p:nvSpPr>
        <p:spPr>
          <a:xfrm>
            <a:off x="750793" y="0"/>
            <a:ext cx="324300" cy="2856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Z"/>
              <a:t>41</a:t>
            </a:fld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57"/>
          <p:cNvSpPr txBox="1">
            <a:spLocks noGrp="1"/>
          </p:cNvSpPr>
          <p:nvPr>
            <p:ph type="title"/>
          </p:nvPr>
        </p:nvSpPr>
        <p:spPr>
          <a:xfrm>
            <a:off x="628650" y="-15875"/>
            <a:ext cx="7886700" cy="1118100"/>
          </a:xfrm>
          <a:prstGeom prst="rect">
            <a:avLst/>
          </a:prstGeom>
        </p:spPr>
        <p:txBody>
          <a:bodyPr spcFirstLastPara="1" wrap="square" lIns="432000" tIns="45700" rIns="4320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NZ"/>
              <a:t>Scrum Artifacts - Increment</a:t>
            </a:r>
            <a:endParaRPr/>
          </a:p>
        </p:txBody>
      </p:sp>
      <p:sp>
        <p:nvSpPr>
          <p:cNvPr id="481" name="Google Shape;481;p57"/>
          <p:cNvSpPr txBox="1">
            <a:spLocks noGrp="1"/>
          </p:cNvSpPr>
          <p:nvPr>
            <p:ph type="body" idx="1"/>
          </p:nvPr>
        </p:nvSpPr>
        <p:spPr>
          <a:xfrm>
            <a:off x="628650" y="1044100"/>
            <a:ext cx="8191800" cy="494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72440" algn="l" rtl="0">
              <a:spcBef>
                <a:spcPts val="750"/>
              </a:spcBef>
              <a:spcAft>
                <a:spcPts val="0"/>
              </a:spcAft>
              <a:buSzPts val="3840"/>
              <a:buChar char="▪"/>
            </a:pPr>
            <a:r>
              <a:rPr lang="en-NZ"/>
              <a:t>Sum of all Product Backlog items </a:t>
            </a:r>
            <a:r>
              <a:rPr lang="en-NZ" b="1"/>
              <a:t>completed </a:t>
            </a:r>
            <a:r>
              <a:rPr lang="en-NZ"/>
              <a:t>during a Sprint which </a:t>
            </a:r>
            <a:r>
              <a:rPr lang="en-NZ" b="1"/>
              <a:t>meets </a:t>
            </a:r>
            <a:r>
              <a:rPr lang="en-NZ"/>
              <a:t>the Sprint Goal</a:t>
            </a:r>
            <a:endParaRPr/>
          </a:p>
          <a:p>
            <a:pPr marL="457200" lvl="0" indent="-472440" algn="l" rtl="0">
              <a:spcBef>
                <a:spcPts val="0"/>
              </a:spcBef>
              <a:spcAft>
                <a:spcPts val="0"/>
              </a:spcAft>
              <a:buSzPts val="3840"/>
              <a:buChar char="▪"/>
            </a:pPr>
            <a:r>
              <a:rPr lang="en-NZ" b="1"/>
              <a:t>Builds </a:t>
            </a:r>
            <a:r>
              <a:rPr lang="en-NZ"/>
              <a:t>upon previous increments and must be tested as a whole</a:t>
            </a:r>
            <a:endParaRPr/>
          </a:p>
          <a:p>
            <a:pPr marL="457200" lvl="0" indent="-472440" algn="l" rtl="0">
              <a:spcBef>
                <a:spcPts val="0"/>
              </a:spcBef>
              <a:spcAft>
                <a:spcPts val="0"/>
              </a:spcAft>
              <a:buSzPts val="3840"/>
              <a:buChar char="▪"/>
            </a:pPr>
            <a:r>
              <a:rPr lang="en-NZ"/>
              <a:t>Must be </a:t>
            </a:r>
            <a:r>
              <a:rPr lang="en-NZ" b="1"/>
              <a:t>complete</a:t>
            </a:r>
            <a:r>
              <a:rPr lang="en-NZ"/>
              <a:t> and in a </a:t>
            </a:r>
            <a:r>
              <a:rPr lang="en-NZ" b="1"/>
              <a:t>useable condition</a:t>
            </a:r>
            <a:r>
              <a:rPr lang="en-NZ"/>
              <a:t>, i.e. it must meet the team’s </a:t>
            </a:r>
            <a:r>
              <a:rPr lang="en-NZ" b="1"/>
              <a:t>“Definition of Done”</a:t>
            </a:r>
            <a:r>
              <a:rPr lang="en-NZ"/>
              <a:t>:</a:t>
            </a:r>
            <a:endParaRPr/>
          </a:p>
          <a:p>
            <a:pPr marL="914400" lvl="1" indent="-434340" algn="l" rtl="0">
              <a:spcBef>
                <a:spcPts val="0"/>
              </a:spcBef>
              <a:spcAft>
                <a:spcPts val="0"/>
              </a:spcAft>
              <a:buSzPts val="3240"/>
              <a:buChar char="−"/>
            </a:pPr>
            <a:r>
              <a:rPr lang="en-NZ" b="1"/>
              <a:t>Everyone </a:t>
            </a:r>
            <a:r>
              <a:rPr lang="en-NZ"/>
              <a:t>must understand what “Done” means</a:t>
            </a:r>
            <a:endParaRPr/>
          </a:p>
          <a:p>
            <a:pPr marL="914400" lvl="1" indent="-434340" algn="l" rtl="0">
              <a:spcBef>
                <a:spcPts val="0"/>
              </a:spcBef>
              <a:spcAft>
                <a:spcPts val="0"/>
              </a:spcAft>
              <a:buSzPts val="3240"/>
              <a:buChar char="−"/>
            </a:pPr>
            <a:r>
              <a:rPr lang="en-NZ"/>
              <a:t>Used to assess whether work is </a:t>
            </a:r>
            <a:r>
              <a:rPr lang="en-NZ" b="1"/>
              <a:t>complete</a:t>
            </a:r>
            <a:endParaRPr b="1"/>
          </a:p>
          <a:p>
            <a:pPr marL="914400" lvl="1" indent="-434340" algn="l" rtl="0">
              <a:spcBef>
                <a:spcPts val="0"/>
              </a:spcBef>
              <a:spcAft>
                <a:spcPts val="0"/>
              </a:spcAft>
              <a:buSzPts val="3240"/>
              <a:buChar char="−"/>
            </a:pPr>
            <a:r>
              <a:rPr lang="en-NZ" b="1"/>
              <a:t>Evolves </a:t>
            </a:r>
            <a:r>
              <a:rPr lang="en-NZ"/>
              <a:t>&amp; may </a:t>
            </a:r>
            <a:r>
              <a:rPr lang="en-NZ" b="1"/>
              <a:t>vary </a:t>
            </a:r>
            <a:r>
              <a:rPr lang="en-NZ"/>
              <a:t>between teams / organisations</a:t>
            </a:r>
            <a:endParaRPr/>
          </a:p>
        </p:txBody>
      </p:sp>
      <p:sp>
        <p:nvSpPr>
          <p:cNvPr id="482" name="Google Shape;482;p57"/>
          <p:cNvSpPr txBox="1">
            <a:spLocks noGrp="1"/>
          </p:cNvSpPr>
          <p:nvPr>
            <p:ph type="sldNum" idx="12"/>
          </p:nvPr>
        </p:nvSpPr>
        <p:spPr>
          <a:xfrm>
            <a:off x="750793" y="0"/>
            <a:ext cx="324300" cy="2856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Z"/>
              <a:t>42</a:t>
            </a:fld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58"/>
          <p:cNvSpPr txBox="1">
            <a:spLocks noGrp="1"/>
          </p:cNvSpPr>
          <p:nvPr>
            <p:ph type="title"/>
          </p:nvPr>
        </p:nvSpPr>
        <p:spPr>
          <a:xfrm>
            <a:off x="628650" y="-15875"/>
            <a:ext cx="7886700" cy="1118100"/>
          </a:xfrm>
          <a:prstGeom prst="rect">
            <a:avLst/>
          </a:prstGeom>
        </p:spPr>
        <p:txBody>
          <a:bodyPr spcFirstLastPara="1" wrap="square" lIns="432000" tIns="45700" rIns="4320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NZ"/>
              <a:t>Scrum Roles - Product Owner</a:t>
            </a:r>
            <a:endParaRPr/>
          </a:p>
        </p:txBody>
      </p:sp>
      <p:sp>
        <p:nvSpPr>
          <p:cNvPr id="489" name="Google Shape;489;p58"/>
          <p:cNvSpPr txBox="1">
            <a:spLocks noGrp="1"/>
          </p:cNvSpPr>
          <p:nvPr>
            <p:ph type="body" idx="1"/>
          </p:nvPr>
        </p:nvSpPr>
        <p:spPr>
          <a:xfrm>
            <a:off x="333675" y="1044100"/>
            <a:ext cx="8486700" cy="494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72440" algn="l" rtl="0">
              <a:spcBef>
                <a:spcPts val="750"/>
              </a:spcBef>
              <a:spcAft>
                <a:spcPts val="0"/>
              </a:spcAft>
              <a:buSzPts val="3840"/>
              <a:buChar char="▪"/>
            </a:pPr>
            <a:r>
              <a:rPr lang="en-NZ"/>
              <a:t>One person who is accountable for the work, can be part of the Development Team</a:t>
            </a:r>
            <a:endParaRPr/>
          </a:p>
          <a:p>
            <a:pPr marL="457200" lvl="0" indent="-472440" algn="l" rtl="0">
              <a:spcBef>
                <a:spcPts val="0"/>
              </a:spcBef>
              <a:spcAft>
                <a:spcPts val="0"/>
              </a:spcAft>
              <a:buSzPts val="3840"/>
              <a:buChar char="▪"/>
            </a:pPr>
            <a:r>
              <a:rPr lang="en-NZ"/>
              <a:t>Manages the Product Backlog</a:t>
            </a:r>
            <a:endParaRPr/>
          </a:p>
          <a:p>
            <a:pPr marL="914400" lvl="1" indent="-434340" algn="l" rtl="0">
              <a:spcBef>
                <a:spcPts val="0"/>
              </a:spcBef>
              <a:spcAft>
                <a:spcPts val="0"/>
              </a:spcAft>
              <a:buSzPts val="3240"/>
              <a:buChar char="−"/>
            </a:pPr>
            <a:r>
              <a:rPr lang="en-NZ"/>
              <a:t>Clarification</a:t>
            </a:r>
            <a:endParaRPr/>
          </a:p>
          <a:p>
            <a:pPr marL="914400" lvl="1" indent="-434340" algn="l" rtl="0">
              <a:spcBef>
                <a:spcPts val="0"/>
              </a:spcBef>
              <a:spcAft>
                <a:spcPts val="0"/>
              </a:spcAft>
              <a:buSzPts val="3240"/>
              <a:buChar char="−"/>
            </a:pPr>
            <a:r>
              <a:rPr lang="en-NZ"/>
              <a:t>Prioritisation</a:t>
            </a:r>
            <a:endParaRPr/>
          </a:p>
          <a:p>
            <a:pPr marL="914400" lvl="1" indent="-434340" algn="l" rtl="0">
              <a:spcBef>
                <a:spcPts val="0"/>
              </a:spcBef>
              <a:spcAft>
                <a:spcPts val="0"/>
              </a:spcAft>
              <a:buSzPts val="3240"/>
              <a:buChar char="−"/>
            </a:pPr>
            <a:r>
              <a:rPr lang="en-NZ"/>
              <a:t>Optimisation</a:t>
            </a:r>
            <a:endParaRPr/>
          </a:p>
          <a:p>
            <a:pPr marL="914400" lvl="1" indent="-434340" algn="l" rtl="0">
              <a:spcBef>
                <a:spcPts val="0"/>
              </a:spcBef>
              <a:spcAft>
                <a:spcPts val="0"/>
              </a:spcAft>
              <a:buSzPts val="3240"/>
              <a:buChar char="−"/>
            </a:pPr>
            <a:r>
              <a:rPr lang="en-NZ"/>
              <a:t>Transparency</a:t>
            </a:r>
            <a:endParaRPr/>
          </a:p>
          <a:p>
            <a:pPr marL="914400" lvl="1" indent="-434340" algn="l" rtl="0">
              <a:spcBef>
                <a:spcPts val="0"/>
              </a:spcBef>
              <a:spcAft>
                <a:spcPts val="0"/>
              </a:spcAft>
              <a:buSzPts val="3240"/>
              <a:buChar char="−"/>
            </a:pPr>
            <a:r>
              <a:rPr lang="en-NZ"/>
              <a:t>Detailing</a:t>
            </a:r>
            <a:endParaRPr/>
          </a:p>
          <a:p>
            <a:pPr marL="457200" lvl="0" indent="-472440" algn="l" rtl="0">
              <a:spcBef>
                <a:spcPts val="0"/>
              </a:spcBef>
              <a:spcAft>
                <a:spcPts val="0"/>
              </a:spcAft>
              <a:buSzPts val="3840"/>
              <a:buChar char="▪"/>
            </a:pPr>
            <a:r>
              <a:rPr lang="en-NZ"/>
              <a:t>Buffer between dev team and higher level stakeholders</a:t>
            </a:r>
            <a:endParaRPr/>
          </a:p>
        </p:txBody>
      </p:sp>
      <p:sp>
        <p:nvSpPr>
          <p:cNvPr id="490" name="Google Shape;490;p58"/>
          <p:cNvSpPr txBox="1">
            <a:spLocks noGrp="1"/>
          </p:cNvSpPr>
          <p:nvPr>
            <p:ph type="sldNum" idx="12"/>
          </p:nvPr>
        </p:nvSpPr>
        <p:spPr>
          <a:xfrm>
            <a:off x="750793" y="0"/>
            <a:ext cx="324300" cy="2856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NZ"/>
              <a:t>43</a:t>
            </a:fld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59"/>
          <p:cNvSpPr txBox="1">
            <a:spLocks noGrp="1"/>
          </p:cNvSpPr>
          <p:nvPr>
            <p:ph type="title"/>
          </p:nvPr>
        </p:nvSpPr>
        <p:spPr>
          <a:xfrm>
            <a:off x="628650" y="-15875"/>
            <a:ext cx="7886700" cy="1118100"/>
          </a:xfrm>
          <a:prstGeom prst="rect">
            <a:avLst/>
          </a:prstGeom>
        </p:spPr>
        <p:txBody>
          <a:bodyPr spcFirstLastPara="1" wrap="square" lIns="432000" tIns="45700" rIns="4320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NZ"/>
              <a:t>Scrum Roles - Development Team</a:t>
            </a:r>
            <a:endParaRPr/>
          </a:p>
        </p:txBody>
      </p:sp>
      <p:sp>
        <p:nvSpPr>
          <p:cNvPr id="497" name="Google Shape;497;p59"/>
          <p:cNvSpPr txBox="1">
            <a:spLocks noGrp="1"/>
          </p:cNvSpPr>
          <p:nvPr>
            <p:ph type="body" idx="1"/>
          </p:nvPr>
        </p:nvSpPr>
        <p:spPr>
          <a:xfrm>
            <a:off x="628650" y="1044100"/>
            <a:ext cx="8191800" cy="494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72440" algn="l" rtl="0">
              <a:spcBef>
                <a:spcPts val="750"/>
              </a:spcBef>
              <a:spcAft>
                <a:spcPts val="0"/>
              </a:spcAft>
              <a:buSzPts val="3840"/>
              <a:buChar char="▪"/>
            </a:pPr>
            <a:r>
              <a:rPr lang="en-NZ"/>
              <a:t>Responsible for </a:t>
            </a:r>
            <a:r>
              <a:rPr lang="en-NZ" b="1"/>
              <a:t>doing </a:t>
            </a:r>
            <a:r>
              <a:rPr lang="en-NZ"/>
              <a:t>the work</a:t>
            </a:r>
            <a:endParaRPr/>
          </a:p>
          <a:p>
            <a:pPr marL="457200" lvl="0" indent="-472440" algn="l" rtl="0">
              <a:spcBef>
                <a:spcPts val="0"/>
              </a:spcBef>
              <a:spcAft>
                <a:spcPts val="0"/>
              </a:spcAft>
              <a:buSzPts val="3840"/>
              <a:buChar char="▪"/>
            </a:pPr>
            <a:r>
              <a:rPr lang="en-NZ" b="1"/>
              <a:t>Empowered </a:t>
            </a:r>
            <a:r>
              <a:rPr lang="en-NZ"/>
              <a:t>to manage their own work</a:t>
            </a:r>
            <a:endParaRPr/>
          </a:p>
          <a:p>
            <a:pPr marL="457200" lvl="0" indent="-472440" algn="l" rtl="0">
              <a:spcBef>
                <a:spcPts val="0"/>
              </a:spcBef>
              <a:spcAft>
                <a:spcPts val="0"/>
              </a:spcAft>
              <a:buSzPts val="3840"/>
              <a:buChar char="▪"/>
            </a:pPr>
            <a:r>
              <a:rPr lang="en-NZ" b="1"/>
              <a:t>Self-organising</a:t>
            </a:r>
            <a:endParaRPr b="1"/>
          </a:p>
          <a:p>
            <a:pPr marL="457200" lvl="0" indent="-472440" algn="l" rtl="0">
              <a:spcBef>
                <a:spcPts val="0"/>
              </a:spcBef>
              <a:spcAft>
                <a:spcPts val="0"/>
              </a:spcAft>
              <a:buSzPts val="3840"/>
              <a:buChar char="▪"/>
            </a:pPr>
            <a:r>
              <a:rPr lang="en-NZ" b="1"/>
              <a:t>Cross-functional</a:t>
            </a:r>
            <a:endParaRPr b="1"/>
          </a:p>
          <a:p>
            <a:pPr marL="457200" lvl="0" indent="-472440" algn="l" rtl="0">
              <a:spcBef>
                <a:spcPts val="0"/>
              </a:spcBef>
              <a:spcAft>
                <a:spcPts val="0"/>
              </a:spcAft>
              <a:buSzPts val="3840"/>
              <a:buChar char="▪"/>
            </a:pPr>
            <a:r>
              <a:rPr lang="en-NZ"/>
              <a:t>Can have specialists but accountability rests with the </a:t>
            </a:r>
            <a:r>
              <a:rPr lang="en-NZ" b="1"/>
              <a:t>entire team</a:t>
            </a:r>
            <a:r>
              <a:rPr lang="en-NZ"/>
              <a:t>.</a:t>
            </a:r>
            <a:endParaRPr/>
          </a:p>
          <a:p>
            <a:pPr marL="457200" lvl="0" indent="-472440" algn="l" rtl="0">
              <a:spcBef>
                <a:spcPts val="0"/>
              </a:spcBef>
              <a:spcAft>
                <a:spcPts val="0"/>
              </a:spcAft>
              <a:buSzPts val="3840"/>
              <a:buChar char="▪"/>
            </a:pPr>
            <a:r>
              <a:rPr lang="en-NZ"/>
              <a:t>No </a:t>
            </a:r>
            <a:r>
              <a:rPr lang="en-NZ" b="1"/>
              <a:t>titles </a:t>
            </a:r>
            <a:r>
              <a:rPr lang="en-NZ"/>
              <a:t>or </a:t>
            </a:r>
            <a:r>
              <a:rPr lang="en-NZ" b="1"/>
              <a:t>sub</a:t>
            </a:r>
            <a:r>
              <a:rPr lang="en-NZ"/>
              <a:t>-teams</a:t>
            </a:r>
            <a:endParaRPr/>
          </a:p>
          <a:p>
            <a:pPr marL="457200" lvl="0" indent="-472440" algn="l" rtl="0">
              <a:spcBef>
                <a:spcPts val="0"/>
              </a:spcBef>
              <a:spcAft>
                <a:spcPts val="0"/>
              </a:spcAft>
              <a:buSzPts val="3840"/>
              <a:buChar char="▪"/>
            </a:pPr>
            <a:r>
              <a:rPr lang="en-NZ"/>
              <a:t>Should have between </a:t>
            </a:r>
            <a:r>
              <a:rPr lang="en-NZ" b="1"/>
              <a:t>3</a:t>
            </a:r>
            <a:r>
              <a:rPr lang="en-NZ"/>
              <a:t> and </a:t>
            </a:r>
            <a:r>
              <a:rPr lang="en-NZ" b="1"/>
              <a:t>9</a:t>
            </a:r>
            <a:r>
              <a:rPr lang="en-NZ"/>
              <a:t> members</a:t>
            </a:r>
            <a:endParaRPr/>
          </a:p>
          <a:p>
            <a:pPr marL="0" lvl="0" indent="0" algn="l" rtl="0">
              <a:spcBef>
                <a:spcPts val="75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8" name="Google Shape;498;p59"/>
          <p:cNvSpPr txBox="1">
            <a:spLocks noGrp="1"/>
          </p:cNvSpPr>
          <p:nvPr>
            <p:ph type="sldNum" idx="12"/>
          </p:nvPr>
        </p:nvSpPr>
        <p:spPr>
          <a:xfrm>
            <a:off x="750793" y="0"/>
            <a:ext cx="324300" cy="2856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Z"/>
              <a:t>44</a:t>
            </a:fld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60"/>
          <p:cNvSpPr txBox="1">
            <a:spLocks noGrp="1"/>
          </p:cNvSpPr>
          <p:nvPr>
            <p:ph type="title"/>
          </p:nvPr>
        </p:nvSpPr>
        <p:spPr>
          <a:xfrm>
            <a:off x="628650" y="-15875"/>
            <a:ext cx="7886700" cy="1118100"/>
          </a:xfrm>
          <a:prstGeom prst="rect">
            <a:avLst/>
          </a:prstGeom>
        </p:spPr>
        <p:txBody>
          <a:bodyPr spcFirstLastPara="1" wrap="square" lIns="432000" tIns="45700" rIns="4320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NZ"/>
              <a:t>Scrum Roles - Scrum Master</a:t>
            </a:r>
            <a:endParaRPr/>
          </a:p>
        </p:txBody>
      </p:sp>
      <p:sp>
        <p:nvSpPr>
          <p:cNvPr id="505" name="Google Shape;505;p60"/>
          <p:cNvSpPr txBox="1">
            <a:spLocks noGrp="1"/>
          </p:cNvSpPr>
          <p:nvPr>
            <p:ph type="body" idx="1"/>
          </p:nvPr>
        </p:nvSpPr>
        <p:spPr>
          <a:xfrm>
            <a:off x="628650" y="693700"/>
            <a:ext cx="8191800" cy="5426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27990" algn="l" rtl="0">
              <a:spcBef>
                <a:spcPts val="750"/>
              </a:spcBef>
              <a:spcAft>
                <a:spcPts val="0"/>
              </a:spcAft>
              <a:buSzPts val="3140"/>
              <a:buChar char="▪"/>
            </a:pPr>
            <a:r>
              <a:rPr lang="en-NZ" sz="2500"/>
              <a:t>Promotes and supports Scrum practices</a:t>
            </a:r>
            <a:endParaRPr sz="2500"/>
          </a:p>
          <a:p>
            <a:pPr marL="457200" lvl="0" indent="-427990" algn="l" rtl="0">
              <a:spcBef>
                <a:spcPts val="0"/>
              </a:spcBef>
              <a:spcAft>
                <a:spcPts val="0"/>
              </a:spcAft>
              <a:buSzPts val="3140"/>
              <a:buChar char="▪"/>
            </a:pPr>
            <a:r>
              <a:rPr lang="en-NZ" sz="2500"/>
              <a:t>Servant-Leader</a:t>
            </a:r>
            <a:endParaRPr sz="2500"/>
          </a:p>
          <a:p>
            <a:pPr marL="457200" lvl="0" indent="-427990" algn="l" rtl="0">
              <a:spcBef>
                <a:spcPts val="0"/>
              </a:spcBef>
              <a:spcAft>
                <a:spcPts val="0"/>
              </a:spcAft>
              <a:buSzPts val="3140"/>
              <a:buChar char="▪"/>
            </a:pPr>
            <a:r>
              <a:rPr lang="en-NZ" sz="2500"/>
              <a:t>Serves Product Owner by:</a:t>
            </a:r>
            <a:endParaRPr sz="2500"/>
          </a:p>
          <a:p>
            <a:pPr marL="914400" lvl="1" indent="-389890" algn="l" rtl="0">
              <a:spcBef>
                <a:spcPts val="0"/>
              </a:spcBef>
              <a:spcAft>
                <a:spcPts val="0"/>
              </a:spcAft>
              <a:buSzPts val="2540"/>
              <a:buChar char="−"/>
            </a:pPr>
            <a:r>
              <a:rPr lang="en-NZ" sz="2000"/>
              <a:t>Finding effective techniques</a:t>
            </a:r>
            <a:endParaRPr sz="2000"/>
          </a:p>
          <a:p>
            <a:pPr marL="914400" lvl="1" indent="-389890" algn="l" rtl="0">
              <a:spcBef>
                <a:spcPts val="0"/>
              </a:spcBef>
              <a:spcAft>
                <a:spcPts val="0"/>
              </a:spcAft>
              <a:buSzPts val="2540"/>
              <a:buChar char="−"/>
            </a:pPr>
            <a:r>
              <a:rPr lang="en-NZ" sz="2000"/>
              <a:t>Maximising value in product backlog</a:t>
            </a:r>
            <a:endParaRPr sz="2000"/>
          </a:p>
          <a:p>
            <a:pPr marL="914400" lvl="1" indent="-389890" algn="l" rtl="0">
              <a:spcBef>
                <a:spcPts val="0"/>
              </a:spcBef>
              <a:spcAft>
                <a:spcPts val="0"/>
              </a:spcAft>
              <a:buSzPts val="2540"/>
              <a:buChar char="−"/>
            </a:pPr>
            <a:r>
              <a:rPr lang="en-NZ" sz="2000"/>
              <a:t>Embracing  and agile mindset and facilitating</a:t>
            </a:r>
            <a:endParaRPr sz="2000"/>
          </a:p>
          <a:p>
            <a:pPr marL="457200" lvl="0" indent="-427990" algn="l" rtl="0">
              <a:spcBef>
                <a:spcPts val="0"/>
              </a:spcBef>
              <a:spcAft>
                <a:spcPts val="0"/>
              </a:spcAft>
              <a:buSzPts val="3140"/>
              <a:buChar char="▪"/>
            </a:pPr>
            <a:r>
              <a:rPr lang="en-NZ" sz="2500"/>
              <a:t>Serves Development Team by:</a:t>
            </a:r>
            <a:endParaRPr sz="2500"/>
          </a:p>
          <a:p>
            <a:pPr marL="914400" lvl="1" indent="-389890" algn="l" rtl="0">
              <a:spcBef>
                <a:spcPts val="0"/>
              </a:spcBef>
              <a:spcAft>
                <a:spcPts val="0"/>
              </a:spcAft>
              <a:buSzPts val="2540"/>
              <a:buChar char="−"/>
            </a:pPr>
            <a:r>
              <a:rPr lang="en-NZ" sz="2000"/>
              <a:t>Coaching</a:t>
            </a:r>
            <a:endParaRPr sz="2000"/>
          </a:p>
          <a:p>
            <a:pPr marL="914400" lvl="1" indent="-389890" algn="l" rtl="0">
              <a:spcBef>
                <a:spcPts val="0"/>
              </a:spcBef>
              <a:spcAft>
                <a:spcPts val="0"/>
              </a:spcAft>
              <a:buSzPts val="2540"/>
              <a:buChar char="−"/>
            </a:pPr>
            <a:r>
              <a:rPr lang="en-NZ" sz="2000"/>
              <a:t>Removing impediments to progress</a:t>
            </a:r>
            <a:endParaRPr sz="2000"/>
          </a:p>
          <a:p>
            <a:pPr marL="457200" lvl="0" indent="-427990" algn="l" rtl="0">
              <a:spcBef>
                <a:spcPts val="0"/>
              </a:spcBef>
              <a:spcAft>
                <a:spcPts val="0"/>
              </a:spcAft>
              <a:buSzPts val="3140"/>
              <a:buChar char="▪"/>
            </a:pPr>
            <a:r>
              <a:rPr lang="en-NZ" sz="2500"/>
              <a:t>Serves Organisation by:</a:t>
            </a:r>
            <a:endParaRPr sz="2500"/>
          </a:p>
          <a:p>
            <a:pPr marL="914400" lvl="1" indent="-389890" algn="l" rtl="0">
              <a:spcBef>
                <a:spcPts val="0"/>
              </a:spcBef>
              <a:spcAft>
                <a:spcPts val="0"/>
              </a:spcAft>
              <a:buSzPts val="2540"/>
              <a:buChar char="−"/>
            </a:pPr>
            <a:r>
              <a:rPr lang="en-NZ" sz="2000"/>
              <a:t>Helping to adopt Scrum</a:t>
            </a:r>
            <a:endParaRPr sz="2000"/>
          </a:p>
          <a:p>
            <a:pPr marL="914400" lvl="1" indent="-389890" algn="l" rtl="0">
              <a:spcBef>
                <a:spcPts val="0"/>
              </a:spcBef>
              <a:spcAft>
                <a:spcPts val="0"/>
              </a:spcAft>
              <a:buSzPts val="2540"/>
              <a:buChar char="−"/>
            </a:pPr>
            <a:r>
              <a:rPr lang="en-NZ" sz="2000"/>
              <a:t>Planning implementation of Scrum</a:t>
            </a:r>
            <a:endParaRPr sz="2000"/>
          </a:p>
          <a:p>
            <a:pPr marL="914400" lvl="1" indent="-389890" algn="l" rtl="0">
              <a:spcBef>
                <a:spcPts val="0"/>
              </a:spcBef>
              <a:spcAft>
                <a:spcPts val="0"/>
              </a:spcAft>
              <a:buSzPts val="2540"/>
              <a:buChar char="−"/>
            </a:pPr>
            <a:r>
              <a:rPr lang="en-NZ" sz="2000"/>
              <a:t>Clarifying Scrum to stakeholders</a:t>
            </a:r>
            <a:endParaRPr sz="2000"/>
          </a:p>
          <a:p>
            <a:pPr marL="914400" lvl="1" indent="-389890" algn="l" rtl="0">
              <a:spcBef>
                <a:spcPts val="0"/>
              </a:spcBef>
              <a:spcAft>
                <a:spcPts val="0"/>
              </a:spcAft>
              <a:buSzPts val="2540"/>
              <a:buChar char="−"/>
            </a:pPr>
            <a:r>
              <a:rPr lang="en-NZ" sz="2000"/>
              <a:t>Collaborating with other Scrum Masters</a:t>
            </a:r>
            <a:endParaRPr sz="2500"/>
          </a:p>
        </p:txBody>
      </p:sp>
      <p:sp>
        <p:nvSpPr>
          <p:cNvPr id="506" name="Google Shape;506;p60"/>
          <p:cNvSpPr txBox="1">
            <a:spLocks noGrp="1"/>
          </p:cNvSpPr>
          <p:nvPr>
            <p:ph type="sldNum" idx="12"/>
          </p:nvPr>
        </p:nvSpPr>
        <p:spPr>
          <a:xfrm>
            <a:off x="750793" y="0"/>
            <a:ext cx="324300" cy="2856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Z"/>
              <a:t>45</a:t>
            </a:fld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61"/>
          <p:cNvSpPr txBox="1">
            <a:spLocks noGrp="1"/>
          </p:cNvSpPr>
          <p:nvPr>
            <p:ph type="title"/>
          </p:nvPr>
        </p:nvSpPr>
        <p:spPr>
          <a:xfrm>
            <a:off x="628650" y="-15875"/>
            <a:ext cx="7886700" cy="1118100"/>
          </a:xfrm>
          <a:prstGeom prst="rect">
            <a:avLst/>
          </a:prstGeom>
        </p:spPr>
        <p:txBody>
          <a:bodyPr spcFirstLastPara="1" wrap="square" lIns="432000" tIns="45700" rIns="4320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NZ"/>
              <a:t>Scrum Workflow</a:t>
            </a:r>
            <a:endParaRPr/>
          </a:p>
        </p:txBody>
      </p:sp>
      <p:sp>
        <p:nvSpPr>
          <p:cNvPr id="513" name="Google Shape;513;p61"/>
          <p:cNvSpPr txBox="1">
            <a:spLocks noGrp="1"/>
          </p:cNvSpPr>
          <p:nvPr>
            <p:ph type="body" idx="1"/>
          </p:nvPr>
        </p:nvSpPr>
        <p:spPr>
          <a:xfrm>
            <a:off x="628650" y="1044100"/>
            <a:ext cx="8191800" cy="494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72440" algn="l" rtl="0">
              <a:spcBef>
                <a:spcPts val="750"/>
              </a:spcBef>
              <a:spcAft>
                <a:spcPts val="0"/>
              </a:spcAft>
              <a:buSzPts val="3840"/>
              <a:buChar char="▪"/>
            </a:pPr>
            <a:r>
              <a:rPr lang="en-NZ"/>
              <a:t>Sprint:</a:t>
            </a:r>
            <a:endParaRPr/>
          </a:p>
          <a:p>
            <a:pPr marL="914400" lvl="1" indent="-434340" algn="l" rtl="0">
              <a:spcBef>
                <a:spcPts val="0"/>
              </a:spcBef>
              <a:spcAft>
                <a:spcPts val="0"/>
              </a:spcAft>
              <a:buSzPts val="3240"/>
              <a:buChar char="−"/>
            </a:pPr>
            <a:r>
              <a:rPr lang="en-NZ"/>
              <a:t>Timeboxed - fixed duration ~1 month or less</a:t>
            </a:r>
            <a:endParaRPr/>
          </a:p>
          <a:p>
            <a:pPr marL="914400" lvl="1" indent="-434340" algn="l" rtl="0">
              <a:spcBef>
                <a:spcPts val="0"/>
              </a:spcBef>
              <a:spcAft>
                <a:spcPts val="0"/>
              </a:spcAft>
              <a:buSzPts val="3240"/>
              <a:buChar char="−"/>
            </a:pPr>
            <a:r>
              <a:rPr lang="en-NZ"/>
              <a:t>No changes which threaten the sprint goal</a:t>
            </a:r>
            <a:endParaRPr/>
          </a:p>
          <a:p>
            <a:pPr marL="914400" lvl="1" indent="-434340" algn="l" rtl="0">
              <a:spcBef>
                <a:spcPts val="0"/>
              </a:spcBef>
              <a:spcAft>
                <a:spcPts val="0"/>
              </a:spcAft>
              <a:buSzPts val="3240"/>
              <a:buChar char="−"/>
            </a:pPr>
            <a:r>
              <a:rPr lang="en-NZ"/>
              <a:t>No quality changes</a:t>
            </a:r>
            <a:endParaRPr/>
          </a:p>
          <a:p>
            <a:pPr marL="914400" lvl="1" indent="-434340" algn="l" rtl="0">
              <a:spcBef>
                <a:spcPts val="0"/>
              </a:spcBef>
              <a:spcAft>
                <a:spcPts val="0"/>
              </a:spcAft>
              <a:buSzPts val="3240"/>
              <a:buChar char="−"/>
            </a:pPr>
            <a:r>
              <a:rPr lang="en-NZ"/>
              <a:t>Scope may change as new information arises</a:t>
            </a:r>
            <a:endParaRPr/>
          </a:p>
          <a:p>
            <a:pPr marL="457200" lvl="0" indent="-472440" algn="l" rtl="0">
              <a:spcBef>
                <a:spcPts val="0"/>
              </a:spcBef>
              <a:spcAft>
                <a:spcPts val="0"/>
              </a:spcAft>
              <a:buSzPts val="3840"/>
              <a:buChar char="▪"/>
            </a:pPr>
            <a:r>
              <a:rPr lang="en-NZ"/>
              <a:t>Contains:</a:t>
            </a:r>
            <a:endParaRPr/>
          </a:p>
          <a:p>
            <a:pPr marL="914400" lvl="1" indent="-434340" algn="l" rtl="0">
              <a:spcBef>
                <a:spcPts val="0"/>
              </a:spcBef>
              <a:spcAft>
                <a:spcPts val="0"/>
              </a:spcAft>
              <a:buSzPts val="3240"/>
              <a:buChar char="−"/>
            </a:pPr>
            <a:r>
              <a:rPr lang="en-NZ"/>
              <a:t>Sprint Planning</a:t>
            </a:r>
            <a:endParaRPr/>
          </a:p>
          <a:p>
            <a:pPr marL="914400" lvl="1" indent="-434340" algn="l" rtl="0">
              <a:spcBef>
                <a:spcPts val="0"/>
              </a:spcBef>
              <a:spcAft>
                <a:spcPts val="0"/>
              </a:spcAft>
              <a:buSzPts val="3240"/>
              <a:buChar char="−"/>
            </a:pPr>
            <a:r>
              <a:rPr lang="en-NZ"/>
              <a:t>Daily Scrum</a:t>
            </a:r>
            <a:endParaRPr/>
          </a:p>
          <a:p>
            <a:pPr marL="914400" lvl="1" indent="-434340" algn="l" rtl="0">
              <a:spcBef>
                <a:spcPts val="0"/>
              </a:spcBef>
              <a:spcAft>
                <a:spcPts val="0"/>
              </a:spcAft>
              <a:buSzPts val="3240"/>
              <a:buChar char="−"/>
            </a:pPr>
            <a:r>
              <a:rPr lang="en-NZ"/>
              <a:t>Sprint Review</a:t>
            </a:r>
            <a:endParaRPr/>
          </a:p>
          <a:p>
            <a:pPr marL="914400" lvl="1" indent="-434340" algn="l" rtl="0">
              <a:spcBef>
                <a:spcPts val="0"/>
              </a:spcBef>
              <a:spcAft>
                <a:spcPts val="0"/>
              </a:spcAft>
              <a:buSzPts val="3240"/>
              <a:buChar char="−"/>
            </a:pPr>
            <a:r>
              <a:rPr lang="en-NZ"/>
              <a:t>Sprint Retrospective</a:t>
            </a:r>
            <a:endParaRPr/>
          </a:p>
        </p:txBody>
      </p:sp>
      <p:sp>
        <p:nvSpPr>
          <p:cNvPr id="514" name="Google Shape;514;p61"/>
          <p:cNvSpPr txBox="1">
            <a:spLocks noGrp="1"/>
          </p:cNvSpPr>
          <p:nvPr>
            <p:ph type="sldNum" idx="12"/>
          </p:nvPr>
        </p:nvSpPr>
        <p:spPr>
          <a:xfrm>
            <a:off x="750793" y="0"/>
            <a:ext cx="324300" cy="2856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NZ"/>
              <a:t>46</a:t>
            </a:fld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62"/>
          <p:cNvSpPr txBox="1">
            <a:spLocks noGrp="1"/>
          </p:cNvSpPr>
          <p:nvPr>
            <p:ph type="title"/>
          </p:nvPr>
        </p:nvSpPr>
        <p:spPr>
          <a:xfrm>
            <a:off x="628650" y="-15875"/>
            <a:ext cx="7886700" cy="1118100"/>
          </a:xfrm>
          <a:prstGeom prst="rect">
            <a:avLst/>
          </a:prstGeom>
        </p:spPr>
        <p:txBody>
          <a:bodyPr spcFirstLastPara="1" wrap="square" lIns="432000" tIns="45700" rIns="4320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NZ"/>
              <a:t>Sprint Planning</a:t>
            </a:r>
            <a:endParaRPr/>
          </a:p>
        </p:txBody>
      </p:sp>
      <p:sp>
        <p:nvSpPr>
          <p:cNvPr id="521" name="Google Shape;521;p62"/>
          <p:cNvSpPr txBox="1">
            <a:spLocks noGrp="1"/>
          </p:cNvSpPr>
          <p:nvPr>
            <p:ph type="body" idx="1"/>
          </p:nvPr>
        </p:nvSpPr>
        <p:spPr>
          <a:xfrm>
            <a:off x="628650" y="1044100"/>
            <a:ext cx="8191800" cy="494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72440" algn="l" rtl="0">
              <a:spcBef>
                <a:spcPts val="750"/>
              </a:spcBef>
              <a:spcAft>
                <a:spcPts val="0"/>
              </a:spcAft>
              <a:buSzPts val="3840"/>
              <a:buChar char="▪"/>
            </a:pPr>
            <a:r>
              <a:rPr lang="en-NZ"/>
              <a:t>Collaborative agreement of what </a:t>
            </a:r>
            <a:r>
              <a:rPr lang="en-NZ" b="1"/>
              <a:t>sprint goal</a:t>
            </a:r>
            <a:r>
              <a:rPr lang="en-NZ"/>
              <a:t> is</a:t>
            </a:r>
            <a:endParaRPr/>
          </a:p>
          <a:p>
            <a:pPr marL="457200" lvl="0" indent="-472440" algn="l" rtl="0">
              <a:spcBef>
                <a:spcPts val="0"/>
              </a:spcBef>
              <a:spcAft>
                <a:spcPts val="0"/>
              </a:spcAft>
              <a:buSzPts val="3840"/>
              <a:buChar char="▪"/>
            </a:pPr>
            <a:r>
              <a:rPr lang="en-NZ"/>
              <a:t>Time-boxed: </a:t>
            </a:r>
            <a:endParaRPr/>
          </a:p>
          <a:p>
            <a:pPr marL="914400" lvl="1" indent="-434340" algn="l" rtl="0">
              <a:spcBef>
                <a:spcPts val="0"/>
              </a:spcBef>
              <a:spcAft>
                <a:spcPts val="0"/>
              </a:spcAft>
              <a:buSzPts val="3240"/>
              <a:buChar char="−"/>
            </a:pPr>
            <a:r>
              <a:rPr lang="en-NZ"/>
              <a:t>Max. 8 hours for one month sprint</a:t>
            </a:r>
            <a:endParaRPr/>
          </a:p>
          <a:p>
            <a:pPr marL="457200" lvl="0" indent="-472440" algn="l" rtl="0">
              <a:spcBef>
                <a:spcPts val="0"/>
              </a:spcBef>
              <a:spcAft>
                <a:spcPts val="0"/>
              </a:spcAft>
              <a:buSzPts val="3840"/>
              <a:buChar char="▪"/>
            </a:pPr>
            <a:r>
              <a:rPr lang="en-NZ"/>
              <a:t>Answers: </a:t>
            </a:r>
            <a:endParaRPr/>
          </a:p>
          <a:p>
            <a:pPr marL="914400" lvl="1" indent="-434340" algn="l" rtl="0">
              <a:spcBef>
                <a:spcPts val="0"/>
              </a:spcBef>
              <a:spcAft>
                <a:spcPts val="0"/>
              </a:spcAft>
              <a:buSzPts val="3240"/>
              <a:buChar char="−"/>
            </a:pPr>
            <a:r>
              <a:rPr lang="en-NZ" b="1"/>
              <a:t>What </a:t>
            </a:r>
            <a:r>
              <a:rPr lang="en-NZ"/>
              <a:t>can be done this Sprint and </a:t>
            </a:r>
            <a:r>
              <a:rPr lang="en-NZ" b="1"/>
              <a:t>how</a:t>
            </a:r>
            <a:r>
              <a:rPr lang="en-NZ"/>
              <a:t>?</a:t>
            </a:r>
            <a:endParaRPr/>
          </a:p>
          <a:p>
            <a:pPr marL="457200" lvl="0" indent="-472440" algn="l" rtl="0">
              <a:spcBef>
                <a:spcPts val="0"/>
              </a:spcBef>
              <a:spcAft>
                <a:spcPts val="0"/>
              </a:spcAft>
              <a:buSzPts val="3840"/>
              <a:buChar char="▪"/>
            </a:pPr>
            <a:r>
              <a:rPr lang="en-NZ"/>
              <a:t>Sprint Goal</a:t>
            </a:r>
            <a:endParaRPr/>
          </a:p>
          <a:p>
            <a:pPr marL="914400" lvl="1" indent="-434340" algn="l" rtl="0">
              <a:spcBef>
                <a:spcPts val="0"/>
              </a:spcBef>
              <a:spcAft>
                <a:spcPts val="0"/>
              </a:spcAft>
              <a:buSzPts val="3240"/>
              <a:buChar char="−"/>
            </a:pPr>
            <a:r>
              <a:rPr lang="en-NZ"/>
              <a:t>typically a set of </a:t>
            </a:r>
            <a:r>
              <a:rPr lang="en-NZ" b="1"/>
              <a:t>Product Backlog items</a:t>
            </a:r>
            <a:r>
              <a:rPr lang="en-NZ"/>
              <a:t> which deliver </a:t>
            </a:r>
            <a:r>
              <a:rPr lang="en-NZ" b="1"/>
              <a:t>one</a:t>
            </a:r>
            <a:r>
              <a:rPr lang="en-NZ"/>
              <a:t> </a:t>
            </a:r>
            <a:r>
              <a:rPr lang="en-NZ" i="1"/>
              <a:t>coherent </a:t>
            </a:r>
            <a:r>
              <a:rPr lang="en-NZ"/>
              <a:t>function</a:t>
            </a:r>
            <a:endParaRPr/>
          </a:p>
        </p:txBody>
      </p:sp>
      <p:sp>
        <p:nvSpPr>
          <p:cNvPr id="522" name="Google Shape;522;p62"/>
          <p:cNvSpPr txBox="1">
            <a:spLocks noGrp="1"/>
          </p:cNvSpPr>
          <p:nvPr>
            <p:ph type="sldNum" idx="12"/>
          </p:nvPr>
        </p:nvSpPr>
        <p:spPr>
          <a:xfrm>
            <a:off x="750793" y="0"/>
            <a:ext cx="324300" cy="2856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NZ"/>
              <a:t>47</a:t>
            </a:fld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63"/>
          <p:cNvSpPr txBox="1">
            <a:spLocks noGrp="1"/>
          </p:cNvSpPr>
          <p:nvPr>
            <p:ph type="title"/>
          </p:nvPr>
        </p:nvSpPr>
        <p:spPr>
          <a:xfrm>
            <a:off x="628650" y="-15875"/>
            <a:ext cx="7886700" cy="1118100"/>
          </a:xfrm>
          <a:prstGeom prst="rect">
            <a:avLst/>
          </a:prstGeom>
        </p:spPr>
        <p:txBody>
          <a:bodyPr spcFirstLastPara="1" wrap="square" lIns="432000" tIns="45700" rIns="4320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NZ"/>
              <a:t>Daily Scrum</a:t>
            </a:r>
            <a:endParaRPr/>
          </a:p>
        </p:txBody>
      </p:sp>
      <p:sp>
        <p:nvSpPr>
          <p:cNvPr id="529" name="Google Shape;529;p63"/>
          <p:cNvSpPr txBox="1">
            <a:spLocks noGrp="1"/>
          </p:cNvSpPr>
          <p:nvPr>
            <p:ph type="body" idx="1"/>
          </p:nvPr>
        </p:nvSpPr>
        <p:spPr>
          <a:xfrm>
            <a:off x="628650" y="1044100"/>
            <a:ext cx="8191800" cy="494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72440" algn="l" rtl="0">
              <a:spcBef>
                <a:spcPts val="750"/>
              </a:spcBef>
              <a:spcAft>
                <a:spcPts val="0"/>
              </a:spcAft>
              <a:buSzPts val="3840"/>
              <a:buChar char="▪"/>
            </a:pPr>
            <a:r>
              <a:rPr lang="en-NZ"/>
              <a:t>15-minute time-boxed event for the </a:t>
            </a:r>
            <a:r>
              <a:rPr lang="en-NZ" i="1"/>
              <a:t>Development Team</a:t>
            </a:r>
            <a:r>
              <a:rPr lang="en-NZ"/>
              <a:t> held </a:t>
            </a:r>
            <a:r>
              <a:rPr lang="en-NZ" b="1"/>
              <a:t>daily</a:t>
            </a:r>
            <a:r>
              <a:rPr lang="en-NZ"/>
              <a:t>.</a:t>
            </a:r>
            <a:endParaRPr/>
          </a:p>
          <a:p>
            <a:pPr marL="457200" lvl="0" indent="-472440" algn="l" rtl="0">
              <a:spcBef>
                <a:spcPts val="0"/>
              </a:spcBef>
              <a:spcAft>
                <a:spcPts val="0"/>
              </a:spcAft>
              <a:buSzPts val="3840"/>
              <a:buChar char="▪"/>
            </a:pPr>
            <a:r>
              <a:rPr lang="en-NZ"/>
              <a:t>In relation to the </a:t>
            </a:r>
            <a:r>
              <a:rPr lang="en-NZ" b="1"/>
              <a:t>Sprint Goal </a:t>
            </a:r>
            <a:r>
              <a:rPr lang="en-NZ"/>
              <a:t>it answers:</a:t>
            </a:r>
            <a:endParaRPr/>
          </a:p>
          <a:p>
            <a:pPr marL="914400" lvl="1" indent="-434340" algn="l" rtl="0">
              <a:spcBef>
                <a:spcPts val="0"/>
              </a:spcBef>
              <a:spcAft>
                <a:spcPts val="0"/>
              </a:spcAft>
              <a:buSzPts val="3240"/>
              <a:buChar char="−"/>
            </a:pPr>
            <a:r>
              <a:rPr lang="en-NZ"/>
              <a:t>What did I do yesterday?</a:t>
            </a:r>
            <a:endParaRPr/>
          </a:p>
          <a:p>
            <a:pPr marL="914400" lvl="1" indent="-434340" algn="l" rtl="0">
              <a:spcBef>
                <a:spcPts val="0"/>
              </a:spcBef>
              <a:spcAft>
                <a:spcPts val="0"/>
              </a:spcAft>
              <a:buSzPts val="3240"/>
              <a:buChar char="−"/>
            </a:pPr>
            <a:r>
              <a:rPr lang="en-NZ"/>
              <a:t>What will I do today?</a:t>
            </a:r>
            <a:endParaRPr/>
          </a:p>
          <a:p>
            <a:pPr marL="914400" lvl="1" indent="-434340" algn="l" rtl="0">
              <a:spcBef>
                <a:spcPts val="0"/>
              </a:spcBef>
              <a:spcAft>
                <a:spcPts val="0"/>
              </a:spcAft>
              <a:buSzPts val="3240"/>
              <a:buChar char="−"/>
            </a:pPr>
            <a:r>
              <a:rPr lang="en-NZ"/>
              <a:t>Do I have, or foresee, any impediments?</a:t>
            </a:r>
            <a:endParaRPr/>
          </a:p>
          <a:p>
            <a:pPr marL="457200" lvl="0" indent="-472440" algn="l" rtl="0">
              <a:spcBef>
                <a:spcPts val="0"/>
              </a:spcBef>
              <a:spcAft>
                <a:spcPts val="0"/>
              </a:spcAft>
              <a:buSzPts val="3840"/>
              <a:buChar char="▪"/>
            </a:pPr>
            <a:r>
              <a:rPr lang="en-NZ"/>
              <a:t>Can be followed up with other meetings or discussions between team members or others </a:t>
            </a:r>
            <a:r>
              <a:rPr lang="en-NZ" b="1"/>
              <a:t>as appropriate</a:t>
            </a:r>
            <a:r>
              <a:rPr lang="en-NZ"/>
              <a:t>.</a:t>
            </a:r>
            <a:endParaRPr/>
          </a:p>
        </p:txBody>
      </p:sp>
      <p:sp>
        <p:nvSpPr>
          <p:cNvPr id="530" name="Google Shape;530;p63"/>
          <p:cNvSpPr txBox="1">
            <a:spLocks noGrp="1"/>
          </p:cNvSpPr>
          <p:nvPr>
            <p:ph type="sldNum" idx="12"/>
          </p:nvPr>
        </p:nvSpPr>
        <p:spPr>
          <a:xfrm>
            <a:off x="750793" y="0"/>
            <a:ext cx="324300" cy="2856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NZ"/>
              <a:t>48</a:t>
            </a:fld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64"/>
          <p:cNvSpPr txBox="1">
            <a:spLocks noGrp="1"/>
          </p:cNvSpPr>
          <p:nvPr>
            <p:ph type="title"/>
          </p:nvPr>
        </p:nvSpPr>
        <p:spPr>
          <a:xfrm>
            <a:off x="628650" y="-15875"/>
            <a:ext cx="7886700" cy="1118100"/>
          </a:xfrm>
          <a:prstGeom prst="rect">
            <a:avLst/>
          </a:prstGeom>
        </p:spPr>
        <p:txBody>
          <a:bodyPr spcFirstLastPara="1" wrap="square" lIns="432000" tIns="45700" rIns="4320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NZ"/>
              <a:t>Sprint Review</a:t>
            </a:r>
            <a:endParaRPr/>
          </a:p>
        </p:txBody>
      </p:sp>
      <p:sp>
        <p:nvSpPr>
          <p:cNvPr id="537" name="Google Shape;537;p64"/>
          <p:cNvSpPr txBox="1">
            <a:spLocks noGrp="1"/>
          </p:cNvSpPr>
          <p:nvPr>
            <p:ph type="body" idx="1"/>
          </p:nvPr>
        </p:nvSpPr>
        <p:spPr>
          <a:xfrm>
            <a:off x="628650" y="1044100"/>
            <a:ext cx="8191800" cy="494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66090" algn="l" rtl="0">
              <a:spcBef>
                <a:spcPts val="750"/>
              </a:spcBef>
              <a:spcAft>
                <a:spcPts val="0"/>
              </a:spcAft>
              <a:buSzPts val="3740"/>
              <a:buChar char="▪"/>
            </a:pPr>
            <a:r>
              <a:rPr lang="en-NZ" sz="3100" b="1"/>
              <a:t>Informal </a:t>
            </a:r>
            <a:r>
              <a:rPr lang="en-NZ" sz="3100"/>
              <a:t>meeting held at the end of each Sprint</a:t>
            </a:r>
            <a:endParaRPr sz="3100"/>
          </a:p>
          <a:p>
            <a:pPr marL="457200" lvl="0" indent="-466090" algn="l" rtl="0">
              <a:spcBef>
                <a:spcPts val="0"/>
              </a:spcBef>
              <a:spcAft>
                <a:spcPts val="0"/>
              </a:spcAft>
              <a:buSzPts val="3740"/>
              <a:buChar char="▪"/>
            </a:pPr>
            <a:r>
              <a:rPr lang="en-NZ" sz="3100"/>
              <a:t>Stakeholders collaborate to </a:t>
            </a:r>
            <a:r>
              <a:rPr lang="en-NZ" sz="3100" b="1"/>
              <a:t>inspect </a:t>
            </a:r>
            <a:r>
              <a:rPr lang="en-NZ" sz="3100"/>
              <a:t>and </a:t>
            </a:r>
            <a:r>
              <a:rPr lang="en-NZ" sz="3100" b="1"/>
              <a:t>adapt </a:t>
            </a:r>
            <a:r>
              <a:rPr lang="en-NZ" sz="3100"/>
              <a:t>the </a:t>
            </a:r>
            <a:r>
              <a:rPr lang="en-NZ" sz="3100" i="1"/>
              <a:t>Product Backlog</a:t>
            </a:r>
            <a:endParaRPr sz="3100" i="1"/>
          </a:p>
          <a:p>
            <a:pPr marL="457200" lvl="0" indent="-466090" algn="l" rtl="0">
              <a:spcBef>
                <a:spcPts val="0"/>
              </a:spcBef>
              <a:spcAft>
                <a:spcPts val="0"/>
              </a:spcAft>
              <a:buSzPts val="3740"/>
              <a:buChar char="▪"/>
            </a:pPr>
            <a:r>
              <a:rPr lang="en-NZ" sz="3100"/>
              <a:t>Time-boxed to max. </a:t>
            </a:r>
            <a:r>
              <a:rPr lang="en-NZ" sz="3100" b="1"/>
              <a:t>4 hours</a:t>
            </a:r>
            <a:endParaRPr sz="3100" b="1"/>
          </a:p>
          <a:p>
            <a:pPr marL="457200" lvl="0" indent="-466090" algn="l" rtl="0">
              <a:spcBef>
                <a:spcPts val="0"/>
              </a:spcBef>
              <a:spcAft>
                <a:spcPts val="0"/>
              </a:spcAft>
              <a:buSzPts val="3740"/>
              <a:buChar char="▪"/>
            </a:pPr>
            <a:r>
              <a:rPr lang="en-NZ" sz="3100"/>
              <a:t>Includes:</a:t>
            </a:r>
            <a:endParaRPr sz="3100"/>
          </a:p>
          <a:p>
            <a:pPr marL="914400" lvl="1" indent="-427990" algn="l" rtl="0">
              <a:spcBef>
                <a:spcPts val="0"/>
              </a:spcBef>
              <a:spcAft>
                <a:spcPts val="0"/>
              </a:spcAft>
              <a:buSzPts val="3140"/>
              <a:buChar char="−"/>
            </a:pPr>
            <a:r>
              <a:rPr lang="en-NZ" sz="2600"/>
              <a:t>What is “Done” or not</a:t>
            </a:r>
            <a:endParaRPr sz="2600"/>
          </a:p>
          <a:p>
            <a:pPr marL="914400" lvl="1" indent="-427990" algn="l" rtl="0">
              <a:spcBef>
                <a:spcPts val="0"/>
              </a:spcBef>
              <a:spcAft>
                <a:spcPts val="0"/>
              </a:spcAft>
              <a:buSzPts val="3140"/>
              <a:buChar char="−"/>
            </a:pPr>
            <a:r>
              <a:rPr lang="en-NZ" sz="2600"/>
              <a:t>What went well, what problems arose, solutions</a:t>
            </a:r>
            <a:endParaRPr sz="2600"/>
          </a:p>
          <a:p>
            <a:pPr marL="914400" lvl="1" indent="-427990" algn="l" rtl="0">
              <a:spcBef>
                <a:spcPts val="0"/>
              </a:spcBef>
              <a:spcAft>
                <a:spcPts val="0"/>
              </a:spcAft>
              <a:buSzPts val="3140"/>
              <a:buChar char="−"/>
            </a:pPr>
            <a:r>
              <a:rPr lang="en-NZ" sz="2600"/>
              <a:t>Adjust expectations based on progress</a:t>
            </a:r>
            <a:endParaRPr sz="2600"/>
          </a:p>
          <a:p>
            <a:pPr marL="914400" lvl="1" indent="-427990" algn="l" rtl="0">
              <a:spcBef>
                <a:spcPts val="0"/>
              </a:spcBef>
              <a:spcAft>
                <a:spcPts val="0"/>
              </a:spcAft>
              <a:buSzPts val="3140"/>
              <a:buChar char="−"/>
            </a:pPr>
            <a:r>
              <a:rPr lang="en-NZ" sz="2600"/>
              <a:t>Decide on priorities going forward</a:t>
            </a:r>
            <a:endParaRPr sz="2600"/>
          </a:p>
          <a:p>
            <a:pPr marL="914400" lvl="1" indent="-427990" algn="l" rtl="0">
              <a:spcBef>
                <a:spcPts val="0"/>
              </a:spcBef>
              <a:spcAft>
                <a:spcPts val="0"/>
              </a:spcAft>
              <a:buSzPts val="3140"/>
              <a:buChar char="−"/>
            </a:pPr>
            <a:r>
              <a:rPr lang="en-NZ" sz="2600"/>
              <a:t>Review market, timeline, budgets, etc.</a:t>
            </a:r>
            <a:endParaRPr sz="2600"/>
          </a:p>
        </p:txBody>
      </p:sp>
      <p:sp>
        <p:nvSpPr>
          <p:cNvPr id="538" name="Google Shape;538;p64"/>
          <p:cNvSpPr txBox="1">
            <a:spLocks noGrp="1"/>
          </p:cNvSpPr>
          <p:nvPr>
            <p:ph type="sldNum" idx="12"/>
          </p:nvPr>
        </p:nvSpPr>
        <p:spPr>
          <a:xfrm>
            <a:off x="750793" y="0"/>
            <a:ext cx="324300" cy="2856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NZ"/>
              <a:t>49</a:t>
            </a:fld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65"/>
          <p:cNvSpPr txBox="1">
            <a:spLocks noGrp="1"/>
          </p:cNvSpPr>
          <p:nvPr>
            <p:ph type="title"/>
          </p:nvPr>
        </p:nvSpPr>
        <p:spPr>
          <a:xfrm>
            <a:off x="628650" y="-15875"/>
            <a:ext cx="7886700" cy="1118100"/>
          </a:xfrm>
          <a:prstGeom prst="rect">
            <a:avLst/>
          </a:prstGeom>
        </p:spPr>
        <p:txBody>
          <a:bodyPr spcFirstLastPara="1" wrap="square" lIns="432000" tIns="45700" rIns="4320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NZ"/>
              <a:t>Sprint Retrospective</a:t>
            </a:r>
            <a:endParaRPr/>
          </a:p>
        </p:txBody>
      </p:sp>
      <p:sp>
        <p:nvSpPr>
          <p:cNvPr id="545" name="Google Shape;545;p65"/>
          <p:cNvSpPr txBox="1">
            <a:spLocks noGrp="1"/>
          </p:cNvSpPr>
          <p:nvPr>
            <p:ph type="body" idx="1"/>
          </p:nvPr>
        </p:nvSpPr>
        <p:spPr>
          <a:xfrm>
            <a:off x="628650" y="1044100"/>
            <a:ext cx="8191800" cy="494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72440" algn="l" rtl="0">
              <a:spcBef>
                <a:spcPts val="750"/>
              </a:spcBef>
              <a:spcAft>
                <a:spcPts val="0"/>
              </a:spcAft>
              <a:buSzPts val="3840"/>
              <a:buChar char="▪"/>
            </a:pPr>
            <a:r>
              <a:rPr lang="en-NZ" dirty="0"/>
              <a:t>After </a:t>
            </a:r>
            <a:r>
              <a:rPr lang="en-NZ" i="1" dirty="0"/>
              <a:t>Review </a:t>
            </a:r>
            <a:r>
              <a:rPr lang="en-NZ" dirty="0"/>
              <a:t>and </a:t>
            </a:r>
            <a:r>
              <a:rPr lang="en-NZ" b="1" dirty="0"/>
              <a:t>before </a:t>
            </a:r>
            <a:r>
              <a:rPr lang="en-NZ" dirty="0"/>
              <a:t>next </a:t>
            </a:r>
            <a:r>
              <a:rPr lang="en-NZ" i="1" dirty="0"/>
              <a:t>Planning </a:t>
            </a:r>
            <a:r>
              <a:rPr lang="en-NZ" dirty="0"/>
              <a:t>session</a:t>
            </a:r>
            <a:endParaRPr dirty="0"/>
          </a:p>
          <a:p>
            <a:pPr marL="457200" lvl="0" indent="-472440" algn="l" rtl="0">
              <a:spcBef>
                <a:spcPts val="0"/>
              </a:spcBef>
              <a:spcAft>
                <a:spcPts val="0"/>
              </a:spcAft>
              <a:buSzPts val="3840"/>
              <a:buChar char="▪"/>
            </a:pPr>
            <a:r>
              <a:rPr lang="en-NZ" dirty="0"/>
              <a:t>Time-boxed to max. </a:t>
            </a:r>
            <a:r>
              <a:rPr lang="en-NZ" b="1" dirty="0"/>
              <a:t>3 hours</a:t>
            </a:r>
            <a:endParaRPr b="1" dirty="0"/>
          </a:p>
          <a:p>
            <a:pPr marL="457200" lvl="0" indent="-472440" algn="l" rtl="0">
              <a:spcBef>
                <a:spcPts val="0"/>
              </a:spcBef>
              <a:spcAft>
                <a:spcPts val="0"/>
              </a:spcAft>
              <a:buSzPts val="3840"/>
              <a:buChar char="▪"/>
            </a:pPr>
            <a:r>
              <a:rPr lang="en-NZ" dirty="0"/>
              <a:t>Team inspects itself and create a plan for </a:t>
            </a:r>
            <a:r>
              <a:rPr lang="en-NZ" b="1" dirty="0"/>
              <a:t>improvement:</a:t>
            </a:r>
            <a:endParaRPr b="1" dirty="0"/>
          </a:p>
          <a:p>
            <a:pPr marL="914400" lvl="1" indent="-434340" algn="l" rtl="0">
              <a:spcBef>
                <a:spcPts val="0"/>
              </a:spcBef>
              <a:spcAft>
                <a:spcPts val="0"/>
              </a:spcAft>
              <a:buSzPts val="3240"/>
              <a:buChar char="−"/>
            </a:pPr>
            <a:r>
              <a:rPr lang="en-NZ" dirty="0"/>
              <a:t>e.g. people, relationships, processes and tools.</a:t>
            </a:r>
            <a:endParaRPr dirty="0"/>
          </a:p>
          <a:p>
            <a:pPr marL="914400" lvl="1" indent="-434340" algn="l" rtl="0">
              <a:spcBef>
                <a:spcPts val="0"/>
              </a:spcBef>
              <a:spcAft>
                <a:spcPts val="0"/>
              </a:spcAft>
              <a:buSzPts val="3240"/>
              <a:buChar char="−"/>
            </a:pPr>
            <a:r>
              <a:rPr lang="en-NZ" dirty="0"/>
              <a:t>Identify and order the major items that went well.</a:t>
            </a:r>
            <a:endParaRPr dirty="0"/>
          </a:p>
          <a:p>
            <a:pPr marL="914400" lvl="1" indent="-434340" algn="l" rtl="0">
              <a:spcBef>
                <a:spcPts val="0"/>
              </a:spcBef>
              <a:spcAft>
                <a:spcPts val="0"/>
              </a:spcAft>
              <a:buSzPts val="3240"/>
              <a:buChar char="−"/>
            </a:pPr>
            <a:r>
              <a:rPr lang="en-NZ" dirty="0"/>
              <a:t>Plan for implementing improvements.</a:t>
            </a:r>
          </a:p>
          <a:p>
            <a:pPr marL="914400" lvl="1" indent="-434340" algn="l" rtl="0">
              <a:spcBef>
                <a:spcPts val="0"/>
              </a:spcBef>
              <a:spcAft>
                <a:spcPts val="0"/>
              </a:spcAft>
              <a:buSzPts val="3240"/>
              <a:buChar char="−"/>
            </a:pPr>
            <a:r>
              <a:rPr lang="en-NZ" dirty="0"/>
              <a:t>Review the resource list. </a:t>
            </a:r>
          </a:p>
        </p:txBody>
      </p:sp>
      <p:sp>
        <p:nvSpPr>
          <p:cNvPr id="546" name="Google Shape;546;p65"/>
          <p:cNvSpPr txBox="1">
            <a:spLocks noGrp="1"/>
          </p:cNvSpPr>
          <p:nvPr>
            <p:ph type="sldNum" idx="12"/>
          </p:nvPr>
        </p:nvSpPr>
        <p:spPr>
          <a:xfrm>
            <a:off x="750793" y="0"/>
            <a:ext cx="324300" cy="2856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NZ"/>
              <a:t>50</a:t>
            </a:fld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66"/>
          <p:cNvSpPr txBox="1">
            <a:spLocks noGrp="1"/>
          </p:cNvSpPr>
          <p:nvPr>
            <p:ph type="body" idx="1"/>
          </p:nvPr>
        </p:nvSpPr>
        <p:spPr>
          <a:xfrm>
            <a:off x="628650" y="1044100"/>
            <a:ext cx="8191800" cy="494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750"/>
              </a:spcBef>
              <a:spcAft>
                <a:spcPts val="0"/>
              </a:spcAft>
              <a:buNone/>
            </a:pPr>
            <a:r>
              <a:rPr lang="en-NZ"/>
              <a:t> </a:t>
            </a:r>
            <a:endParaRPr/>
          </a:p>
        </p:txBody>
      </p:sp>
      <p:pic>
        <p:nvPicPr>
          <p:cNvPr id="553" name="Google Shape;553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986" y="361800"/>
            <a:ext cx="8790265" cy="5699800"/>
          </a:xfrm>
          <a:prstGeom prst="rect">
            <a:avLst/>
          </a:prstGeom>
          <a:noFill/>
          <a:ln>
            <a:noFill/>
          </a:ln>
        </p:spPr>
      </p:pic>
      <p:sp>
        <p:nvSpPr>
          <p:cNvPr id="554" name="Google Shape;554;p66"/>
          <p:cNvSpPr txBox="1">
            <a:spLocks noGrp="1"/>
          </p:cNvSpPr>
          <p:nvPr>
            <p:ph type="title"/>
          </p:nvPr>
        </p:nvSpPr>
        <p:spPr>
          <a:xfrm>
            <a:off x="781200" y="-74000"/>
            <a:ext cx="7886700" cy="1118100"/>
          </a:xfrm>
          <a:prstGeom prst="rect">
            <a:avLst/>
          </a:prstGeom>
        </p:spPr>
        <p:txBody>
          <a:bodyPr spcFirstLastPara="1" wrap="square" lIns="432000" tIns="45700" rIns="4320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NZ"/>
              <a:t>Scrum Workflow</a:t>
            </a:r>
            <a:endParaRPr/>
          </a:p>
        </p:txBody>
      </p:sp>
      <p:sp>
        <p:nvSpPr>
          <p:cNvPr id="555" name="Google Shape;555;p66"/>
          <p:cNvSpPr txBox="1">
            <a:spLocks noGrp="1"/>
          </p:cNvSpPr>
          <p:nvPr>
            <p:ph type="sldNum" idx="12"/>
          </p:nvPr>
        </p:nvSpPr>
        <p:spPr>
          <a:xfrm>
            <a:off x="750793" y="0"/>
            <a:ext cx="324300" cy="2856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Z"/>
              <a:t>51</a:t>
            </a:fld>
            <a:endParaRPr/>
          </a:p>
        </p:txBody>
      </p:sp>
      <p:sp>
        <p:nvSpPr>
          <p:cNvPr id="556" name="Google Shape;556;p66"/>
          <p:cNvSpPr txBox="1"/>
          <p:nvPr/>
        </p:nvSpPr>
        <p:spPr>
          <a:xfrm>
            <a:off x="5268450" y="5795500"/>
            <a:ext cx="3552000" cy="3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NZ" sz="1100">
                <a:latin typeface="Calibri"/>
                <a:ea typeface="Calibri"/>
                <a:cs typeface="Calibri"/>
                <a:sym typeface="Calibri"/>
              </a:rPr>
              <a:t>Source: </a:t>
            </a:r>
            <a:r>
              <a:rPr lang="en-NZ" sz="11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VectorStock.com/22575698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2B7B7-C82A-420B-A2ED-6580FE22B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Example of resource list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DFD67B-D48B-444D-9AA7-15ED0CCB976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Z" smtClean="0"/>
              <a:t>52</a:t>
            </a:fld>
            <a:endParaRPr lang="en-NZ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0BC81B-1924-4B4F-85A4-46C03A2A7A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787" y="1597169"/>
            <a:ext cx="7210425" cy="2943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09284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8CACD-CCBA-4E78-911A-2802FEE03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Q &amp; 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CD0A1A-FBEA-4408-8DA6-DBE8A6C31F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2D3959-54D5-46F2-9E55-28B2745D56F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NZ" smtClean="0"/>
              <a:t>53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8581628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EIT">
      <a:dk1>
        <a:srgbClr val="000000"/>
      </a:dk1>
      <a:lt1>
        <a:srgbClr val="FFFFFF"/>
      </a:lt1>
      <a:dk2>
        <a:srgbClr val="666666"/>
      </a:dk2>
      <a:lt2>
        <a:srgbClr val="E7E6E6"/>
      </a:lt2>
      <a:accent1>
        <a:srgbClr val="005FA5"/>
      </a:accent1>
      <a:accent2>
        <a:srgbClr val="002F5F"/>
      </a:accent2>
      <a:accent3>
        <a:srgbClr val="005697"/>
      </a:accent3>
      <a:accent4>
        <a:srgbClr val="DEE3F1"/>
      </a:accent4>
      <a:accent5>
        <a:srgbClr val="009FDA"/>
      </a:accent5>
      <a:accent6>
        <a:srgbClr val="C3E6F8"/>
      </a:accent6>
      <a:hlink>
        <a:srgbClr val="005FA5"/>
      </a:hlink>
      <a:folHlink>
        <a:srgbClr val="002F5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2613</Words>
  <Application>Microsoft Office PowerPoint</Application>
  <PresentationFormat>On-screen Show (4:3)</PresentationFormat>
  <Paragraphs>532</Paragraphs>
  <Slides>53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7" baseType="lpstr">
      <vt:lpstr>Arial</vt:lpstr>
      <vt:lpstr>Calibri</vt:lpstr>
      <vt:lpstr>Noto Sans Symbols</vt:lpstr>
      <vt:lpstr>Office Theme</vt:lpstr>
      <vt:lpstr>03 - Agile Methodologies</vt:lpstr>
      <vt:lpstr>The importance of requirements</vt:lpstr>
      <vt:lpstr>Overview </vt:lpstr>
      <vt:lpstr>Agile Methodology</vt:lpstr>
      <vt:lpstr>4 Values</vt:lpstr>
      <vt:lpstr>12 Agile principles</vt:lpstr>
      <vt:lpstr>Agile methods</vt:lpstr>
      <vt:lpstr>Agile vs Traditional Methodologies</vt:lpstr>
      <vt:lpstr>Lean Software Development</vt:lpstr>
      <vt:lpstr>LeanSD Principles</vt:lpstr>
      <vt:lpstr>1. Eliminate Waste</vt:lpstr>
      <vt:lpstr>2. Build Quality In</vt:lpstr>
      <vt:lpstr>3. Create Knowledge</vt:lpstr>
      <vt:lpstr>4. Defer Commitment</vt:lpstr>
      <vt:lpstr>5. Deliver Fast</vt:lpstr>
      <vt:lpstr>6. Respect People</vt:lpstr>
      <vt:lpstr>7. Optimise the Whole</vt:lpstr>
      <vt:lpstr>Kanban</vt:lpstr>
      <vt:lpstr>Foundational Kanban Principles</vt:lpstr>
      <vt:lpstr>Practices of Kanban 1: Visualise</vt:lpstr>
      <vt:lpstr>Practices of Kanban 1: Visualise</vt:lpstr>
      <vt:lpstr>Practices of Kanban 2: Limit WiP</vt:lpstr>
      <vt:lpstr>Practices of Kanban 3: Manage Flow</vt:lpstr>
      <vt:lpstr>Practices of Kanban 4: Policies</vt:lpstr>
      <vt:lpstr>Practices of Kanban 5: Feed Back</vt:lpstr>
      <vt:lpstr>Practices of Kanban 6: Improve/Evolve</vt:lpstr>
      <vt:lpstr>Extreme Programming - XP</vt:lpstr>
      <vt:lpstr>XP - Values</vt:lpstr>
      <vt:lpstr>XP - Rules</vt:lpstr>
      <vt:lpstr>XP Project</vt:lpstr>
      <vt:lpstr>XP Iteration</vt:lpstr>
      <vt:lpstr>XP Development</vt:lpstr>
      <vt:lpstr>XP Feedback Loops</vt:lpstr>
      <vt:lpstr>DevOps</vt:lpstr>
      <vt:lpstr>DevOps - CALMS Framework</vt:lpstr>
      <vt:lpstr>DevOps Cycle</vt:lpstr>
      <vt:lpstr>Scrum</vt:lpstr>
      <vt:lpstr>Scrum Principles </vt:lpstr>
      <vt:lpstr>Scrum Values</vt:lpstr>
      <vt:lpstr>Scrum Artifacts - Product Backlog</vt:lpstr>
      <vt:lpstr>Scrum Artifacts - Sprint Backlog</vt:lpstr>
      <vt:lpstr>Scrum Artifacts - Increment</vt:lpstr>
      <vt:lpstr>Scrum Roles - Product Owner</vt:lpstr>
      <vt:lpstr>Scrum Roles - Development Team</vt:lpstr>
      <vt:lpstr>Scrum Roles - Scrum Master</vt:lpstr>
      <vt:lpstr>Scrum Workflow</vt:lpstr>
      <vt:lpstr>Sprint Planning</vt:lpstr>
      <vt:lpstr>Daily Scrum</vt:lpstr>
      <vt:lpstr>Sprint Review</vt:lpstr>
      <vt:lpstr>Sprint Retrospective</vt:lpstr>
      <vt:lpstr>Scrum Workflow</vt:lpstr>
      <vt:lpstr>Example of resource list</vt:lpstr>
      <vt:lpstr>Q &amp; 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06 - Agile Methodologies</dc:title>
  <cp:lastModifiedBy>John Jamieson</cp:lastModifiedBy>
  <cp:revision>20</cp:revision>
  <dcterms:modified xsi:type="dcterms:W3CDTF">2026-03-16T19:49:30Z</dcterms:modified>
</cp:coreProperties>
</file>